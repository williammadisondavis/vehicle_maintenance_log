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808"/>
    <p:restoredTop sz="94689"/>
  </p:normalViewPr>
  <p:slideViewPr>
    <p:cSldViewPr snapToGrid="0" snapToObjects="1">
      <p:cViewPr varScale="1">
        <p:scale>
          <a:sx n="136" d="100"/>
          <a:sy n="136" d="100"/>
        </p:scale>
        <p:origin x="920"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528255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[0:00–0:35] Introduce the team, the app, and the purpose. Every teammate needs a speaking part. Confirm team name and presenters before recording.</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[0:35–1:05] Explain the order. This is one recorded team presentation with Q&amp;A included, not a separate question video.</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[1:05–1:55] Tie the topic to an everyday problem. Mention that no account or cloud database is required.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[1:55–2:45] Explain validations: blank vehicle fields, negative mileage, and negative cost are not allowed. Inputs are saved locally.</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[2:45–3:35] Explain the five roles. Bottom NavigationBar changes screens; the screens are separate widgets. These are actual emulator screenshots.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[3:35–4:20] Show the add form and the list. Open the menu and explain editing. Screenshot T3 confirms the updated mileage and feedback.</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[4:20–5:05] T2 shows specific error messages. T4 screenshot shows the confirmation dialog; cancel behavior was separately reported in the test checklist.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[5:05–5:55] Service history is the second CRUD entity. Demonstrate editing one service while preserving the vehicle relationship.</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[5:55–6:50] Explain the parent and child entities. The foreign key is vehicle_id and ON DELETE CASCADE deletes a vehicle’s related services. This is the core diagram; demonstrate the actual classes in VS Code.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[6:50–7:45] Explain SQLite because vehicle and service records are structured and related. New database version 2 adds services without dropping saved vehicles.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[7:45–8:30] Show the parameterized WHERE clause. It targets one record and avoids mixing SQL with values. Discuss what happens if update returns zero rows.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[8:30–9:18] Cover stateful versus stateless, which widget owns selectedIndex, and why controllers are disposed. The app intentionally separates screen code into files.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[9:18–10:00] Explain the state change and UI rebuild. Point to the actual main.dart in VS Code when recording.</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[10:00–10:55] Example: an oil change recorded at 50,000 with a 5,000 mile interval is due at 55,000. At 52,000 it has 3,000 remaining; at 56,000 it is 1,000 overdue.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[10:55–11:40] Show the two outcomes. Note the no-data states are different from overdue; the app does not invent service dates when no record exists.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[11:40–12:35] Explain why simple rules fit this task: no training dataset, predictable behavior, easy to explain and test. The term “smart helper” here means rules, not generative AI.</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[12:35–13:20] Explain that the helper sorts records that have known milesLeft, chooses the earliest, then assigns a priority. All outputs are deterministic.</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[13:20–14:12] This is the counterexample scenario required by the rubric. Discuss why a fixed 500 mile threshold and a 1,200 mile user preference have different labels for the same mileage. User reports passing T16; screenshot of both labels would improve evidence.</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[14:12–14:58] The screenshot shows the helper card, explanation and temporary slider. Dismissing and restoring behavior is reported passed by the user.</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[14:58–15:53] T17: dark mode. T18: dashboard hides costs when showCosts is turned off. SharedPreferences is used for simple key/value preferences, while SQLite handles related records.</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[15:53–16:45] Explain manual testing categories and how expected and actual results were recorded. Each of the 20 tests was reported passed by the student; screenshots document selected screen states.</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[16:45–17:30] Walk through invalid inputs. The screenshots show red validation messages, no accepted record, and the user still has the chance to correct their values.</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[17:30–18:20] Explain the observed post-restart and post-delete states. The photos were taken after the actions, not during. The app uses SQLite with foreign key cascade enabled.</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[18:20–19:10] Be candid about limits. The automated checks may be completed later; this deck does not claim results without logs. A peer usability observation and a documented revision should be added if completed.</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[19:10–19:55] Demonstrate real ClickUp work and a code/test trace; the example commit 5102b94 for navigation was confirmed in chat. Do not invent missing historical snapshots or teammate contributions. Each member must participate.</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[19:55–21:05] Integrate questions and show proof in the live app/VS Code. The exact words from the curated question bank were inaccessible while drafting. Replace with the selected full questions before recording and include all 10–15 selected questions.</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[21:05–22:05] These are practice prompts; choose IDs and exact text from the official curated bank before presentation. The bank calls for 10–15 questions total and at least two per category. Do not treat these eight suggestions as already selected bank questions.</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[22:05–23:00] Show the final submission checklist and end. Record with Zoom/Teams/Discord, include everyone, upload to YouTube, and make sure both links open.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10/31/26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10/31/26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10/31/26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10/31/26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10/31/26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10/31/26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10/31/26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BFC"/>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1A30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68680" y="1024128"/>
            <a:ext cx="6949440" cy="548640"/>
          </a:xfrm>
          <a:prstGeom prst="rect">
            <a:avLst/>
          </a:prstGeom>
          <a:noFill/>
        </p:spPr>
        <p:txBody>
          <a:bodyPr wrap="square" lIns="36576" tIns="27432" rIns="36576" bIns="27432" anchor="ctr">
            <a:spAutoFit/>
          </a:bodyPr>
          <a:lstStyle/>
          <a:p>
            <a:pPr>
              <a:lnSpc>
                <a:spcPct val="112000"/>
              </a:lnSpc>
              <a:spcBef>
                <a:spcPts val="0"/>
              </a:spcBef>
              <a:spcAft>
                <a:spcPts val="0"/>
              </a:spcAft>
              <a:defRPr sz="1800" b="1">
                <a:solidFill>
                  <a:srgbClr val="355B87"/>
                </a:solidFill>
                <a:latin typeface="Arial"/>
              </a:defRPr>
            </a:pPr>
            <a:r>
              <a:t>PROJECT ONE</a:t>
            </a:r>
          </a:p>
        </p:txBody>
      </p:sp>
      <p:sp>
        <p:nvSpPr>
          <p:cNvPr id="4" name="TextBox 3"/>
          <p:cNvSpPr txBox="1"/>
          <p:nvPr/>
        </p:nvSpPr>
        <p:spPr>
          <a:xfrm>
            <a:off x="850392" y="1737360"/>
            <a:ext cx="7223760" cy="1097280"/>
          </a:xfrm>
          <a:prstGeom prst="rect">
            <a:avLst/>
          </a:prstGeom>
          <a:noFill/>
        </p:spPr>
        <p:txBody>
          <a:bodyPr wrap="square" lIns="36576" tIns="27432" rIns="36576" bIns="27432" anchor="ctr">
            <a:spAutoFit/>
          </a:bodyPr>
          <a:lstStyle/>
          <a:p>
            <a:pPr>
              <a:lnSpc>
                <a:spcPct val="112000"/>
              </a:lnSpc>
              <a:spcBef>
                <a:spcPts val="0"/>
              </a:spcBef>
              <a:spcAft>
                <a:spcPts val="0"/>
              </a:spcAft>
              <a:defRPr sz="3700" b="1">
                <a:solidFill>
                  <a:srgbClr val="1A3048"/>
                </a:solidFill>
                <a:latin typeface="Arial"/>
              </a:defRPr>
            </a:pPr>
            <a:r>
              <a:t>Vehicle Maintenance Log</a:t>
            </a:r>
          </a:p>
        </p:txBody>
      </p:sp>
      <p:sp>
        <p:nvSpPr>
          <p:cNvPr id="5" name="TextBox 4"/>
          <p:cNvSpPr txBox="1"/>
          <p:nvPr/>
        </p:nvSpPr>
        <p:spPr>
          <a:xfrm>
            <a:off x="868680" y="2926080"/>
            <a:ext cx="6766560" cy="777240"/>
          </a:xfrm>
          <a:prstGeom prst="rect">
            <a:avLst/>
          </a:prstGeom>
          <a:noFill/>
        </p:spPr>
        <p:txBody>
          <a:bodyPr wrap="square" lIns="36576" tIns="27432" rIns="36576" bIns="27432" anchor="ctr">
            <a:spAutoFit/>
          </a:bodyPr>
          <a:lstStyle/>
          <a:p>
            <a:pPr>
              <a:lnSpc>
                <a:spcPct val="112000"/>
              </a:lnSpc>
              <a:spcBef>
                <a:spcPts val="0"/>
              </a:spcBef>
              <a:spcAft>
                <a:spcPts val="0"/>
              </a:spcAft>
              <a:defRPr sz="2300" b="0">
                <a:solidFill>
                  <a:srgbClr val="22272D"/>
                </a:solidFill>
                <a:latin typeface="Arial"/>
              </a:defRPr>
            </a:pPr>
            <a:r>
              <a:t>A Flutter app for tracking vehicle service history and upcoming maintenance.</a:t>
            </a:r>
          </a:p>
        </p:txBody>
      </p:sp>
      <p:sp>
        <p:nvSpPr>
          <p:cNvPr id="6" name="TextBox 5"/>
          <p:cNvSpPr txBox="1"/>
          <p:nvPr/>
        </p:nvSpPr>
        <p:spPr>
          <a:xfrm>
            <a:off x="868680" y="4937517"/>
            <a:ext cx="6400800" cy="293094"/>
          </a:xfrm>
          <a:prstGeom prst="rect">
            <a:avLst/>
          </a:prstGeom>
          <a:noFill/>
        </p:spPr>
        <p:txBody>
          <a:bodyPr wrap="square" lIns="36576" tIns="27432" rIns="36576" bIns="27432" anchor="ctr">
            <a:spAutoFit/>
          </a:bodyPr>
          <a:lstStyle/>
          <a:p>
            <a:pPr>
              <a:lnSpc>
                <a:spcPct val="112000"/>
              </a:lnSpc>
              <a:spcBef>
                <a:spcPts val="0"/>
              </a:spcBef>
              <a:spcAft>
                <a:spcPts val="0"/>
              </a:spcAft>
              <a:defRPr sz="1500" b="0">
                <a:solidFill>
                  <a:srgbClr val="5C646E"/>
                </a:solidFill>
                <a:latin typeface="Arial"/>
              </a:defRPr>
            </a:pPr>
            <a:r>
              <a:rPr dirty="0"/>
              <a:t>Presenters: </a:t>
            </a:r>
            <a:r>
              <a:rPr lang="en-US" dirty="0"/>
              <a:t>Will Davis</a:t>
            </a:r>
            <a:endParaRPr dirty="0"/>
          </a:p>
        </p:txBody>
      </p:sp>
      <p:pic>
        <p:nvPicPr>
          <p:cNvPr id="7" name="Picture 6" descr="T12_helper_normal.png"/>
          <p:cNvPicPr>
            <a:picLocks noChangeAspect="1"/>
          </p:cNvPicPr>
          <p:nvPr/>
        </p:nvPicPr>
        <p:blipFill>
          <a:blip r:embed="rId3"/>
          <a:stretch>
            <a:fillRect/>
          </a:stretch>
        </p:blipFill>
        <p:spPr>
          <a:xfrm>
            <a:off x="8446172" y="438912"/>
            <a:ext cx="2721534" cy="5897879"/>
          </a:xfrm>
          <a:prstGeom prst="rect">
            <a:avLst/>
          </a:prstGeom>
        </p:spPr>
      </p:pic>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BFC"/>
        </a:solidFill>
        <a:effectLst/>
      </p:bgPr>
    </p:bg>
    <p:spTree>
      <p:nvGrpSpPr>
        <p:cNvPr id="1" name=""/>
        <p:cNvGrpSpPr/>
        <p:nvPr/>
      </p:nvGrpSpPr>
      <p:grpSpPr>
        <a:xfrm>
          <a:off x="0" y="0"/>
          <a:ext cx="0" cy="0"/>
          <a:chOff x="0" y="0"/>
          <a:chExt cx="0" cy="0"/>
        </a:xfrm>
      </p:grpSpPr>
      <p:sp>
        <p:nvSpPr>
          <p:cNvPr id="2" name="TextBox 1"/>
          <p:cNvSpPr txBox="1"/>
          <p:nvPr/>
        </p:nvSpPr>
        <p:spPr>
          <a:xfrm>
            <a:off x="667512" y="365760"/>
            <a:ext cx="10972800" cy="548640"/>
          </a:xfrm>
          <a:prstGeom prst="rect">
            <a:avLst/>
          </a:prstGeom>
          <a:noFill/>
        </p:spPr>
        <p:txBody>
          <a:bodyPr wrap="square" lIns="36576" tIns="27432" rIns="36576" bIns="27432" anchor="ctr">
            <a:spAutoFit/>
          </a:bodyPr>
          <a:lstStyle/>
          <a:p>
            <a:pPr>
              <a:lnSpc>
                <a:spcPct val="112000"/>
              </a:lnSpc>
              <a:spcBef>
                <a:spcPts val="0"/>
              </a:spcBef>
              <a:spcAft>
                <a:spcPts val="0"/>
              </a:spcAft>
              <a:defRPr sz="3000" b="1">
                <a:solidFill>
                  <a:srgbClr val="1A3048"/>
                </a:solidFill>
                <a:latin typeface="Arial"/>
              </a:defRPr>
            </a:pPr>
            <a:r>
              <a:t>What we will cover</a:t>
            </a:r>
          </a:p>
        </p:txBody>
      </p:sp>
      <p:cxnSp>
        <p:nvCxnSpPr>
          <p:cNvPr id="3" name="Connector 2"/>
          <p:cNvCxnSpPr/>
          <p:nvPr/>
        </p:nvCxnSpPr>
        <p:spPr>
          <a:xfrm>
            <a:off x="694944" y="1069848"/>
            <a:ext cx="10799064" cy="0"/>
          </a:xfrm>
          <a:prstGeom prst="line">
            <a:avLst/>
          </a:prstGeom>
          <a:ln w="12700">
            <a:solidFill>
              <a:srgbClr val="D5DDE6"/>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804672" y="1399032"/>
            <a:ext cx="10561320" cy="713232"/>
          </a:xfrm>
          <a:prstGeom prst="roundRect">
            <a:avLst>
              <a:gd name="adj" fmla="val 9000"/>
            </a:avLst>
          </a:prstGeom>
          <a:solidFill>
            <a:srgbClr val="FFFFFF"/>
          </a:solidFill>
          <a:ln w="10160">
            <a:solidFill>
              <a:srgbClr val="D5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87552" y="1463040"/>
            <a:ext cx="2743200" cy="502920"/>
          </a:xfrm>
          <a:prstGeom prst="rect">
            <a:avLst/>
          </a:prstGeom>
          <a:noFill/>
        </p:spPr>
        <p:txBody>
          <a:bodyPr wrap="square" lIns="36576" tIns="27432" rIns="36576" bIns="27432" anchor="ctr">
            <a:spAutoFit/>
          </a:bodyPr>
          <a:lstStyle/>
          <a:p>
            <a:pPr>
              <a:lnSpc>
                <a:spcPct val="112000"/>
              </a:lnSpc>
              <a:spcBef>
                <a:spcPts val="0"/>
              </a:spcBef>
              <a:spcAft>
                <a:spcPts val="0"/>
              </a:spcAft>
              <a:defRPr sz="2000" b="1">
                <a:solidFill>
                  <a:srgbClr val="1A3048"/>
                </a:solidFill>
                <a:latin typeface="Arial"/>
              </a:defRPr>
            </a:pPr>
            <a:r>
              <a:t>The problem</a:t>
            </a:r>
          </a:p>
        </p:txBody>
      </p:sp>
      <p:sp>
        <p:nvSpPr>
          <p:cNvPr id="6" name="TextBox 5"/>
          <p:cNvSpPr txBox="1"/>
          <p:nvPr/>
        </p:nvSpPr>
        <p:spPr>
          <a:xfrm>
            <a:off x="3749039" y="1472184"/>
            <a:ext cx="7132320" cy="475488"/>
          </a:xfrm>
          <a:prstGeom prst="rect">
            <a:avLst/>
          </a:prstGeom>
          <a:noFill/>
        </p:spPr>
        <p:txBody>
          <a:bodyPr wrap="square" lIns="36576" tIns="27432" rIns="36576" bIns="27432" anchor="ctr">
            <a:spAutoFit/>
          </a:bodyPr>
          <a:lstStyle/>
          <a:p>
            <a:pPr>
              <a:lnSpc>
                <a:spcPct val="112000"/>
              </a:lnSpc>
              <a:spcBef>
                <a:spcPts val="0"/>
              </a:spcBef>
              <a:spcAft>
                <a:spcPts val="0"/>
              </a:spcAft>
              <a:defRPr sz="1900" b="0">
                <a:solidFill>
                  <a:srgbClr val="22272D"/>
                </a:solidFill>
                <a:latin typeface="Arial"/>
              </a:defRPr>
            </a:pPr>
            <a:r>
              <a:t>What users enter and what the app shows</a:t>
            </a:r>
          </a:p>
        </p:txBody>
      </p:sp>
      <p:sp>
        <p:nvSpPr>
          <p:cNvPr id="7" name="Rounded Rectangle 6"/>
          <p:cNvSpPr/>
          <p:nvPr/>
        </p:nvSpPr>
        <p:spPr>
          <a:xfrm>
            <a:off x="804672" y="2286000"/>
            <a:ext cx="10561320" cy="713232"/>
          </a:xfrm>
          <a:prstGeom prst="roundRect">
            <a:avLst>
              <a:gd name="adj" fmla="val 9000"/>
            </a:avLst>
          </a:prstGeom>
          <a:solidFill>
            <a:srgbClr val="FFFFFF"/>
          </a:solidFill>
          <a:ln w="10160">
            <a:solidFill>
              <a:srgbClr val="D5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87552" y="2350008"/>
            <a:ext cx="2743200" cy="502920"/>
          </a:xfrm>
          <a:prstGeom prst="rect">
            <a:avLst/>
          </a:prstGeom>
          <a:noFill/>
        </p:spPr>
        <p:txBody>
          <a:bodyPr wrap="square" lIns="36576" tIns="27432" rIns="36576" bIns="27432" anchor="ctr">
            <a:spAutoFit/>
          </a:bodyPr>
          <a:lstStyle/>
          <a:p>
            <a:pPr>
              <a:lnSpc>
                <a:spcPct val="112000"/>
              </a:lnSpc>
              <a:spcBef>
                <a:spcPts val="0"/>
              </a:spcBef>
              <a:spcAft>
                <a:spcPts val="0"/>
              </a:spcAft>
              <a:defRPr sz="2000" b="1">
                <a:solidFill>
                  <a:srgbClr val="1A3048"/>
                </a:solidFill>
                <a:latin typeface="Arial"/>
              </a:defRPr>
            </a:pPr>
            <a:r>
              <a:t>How we built it</a:t>
            </a:r>
          </a:p>
        </p:txBody>
      </p:sp>
      <p:sp>
        <p:nvSpPr>
          <p:cNvPr id="9" name="TextBox 8"/>
          <p:cNvSpPr txBox="1"/>
          <p:nvPr/>
        </p:nvSpPr>
        <p:spPr>
          <a:xfrm>
            <a:off x="3749039" y="2359152"/>
            <a:ext cx="7132320" cy="475488"/>
          </a:xfrm>
          <a:prstGeom prst="rect">
            <a:avLst/>
          </a:prstGeom>
          <a:noFill/>
        </p:spPr>
        <p:txBody>
          <a:bodyPr wrap="square" lIns="36576" tIns="27432" rIns="36576" bIns="27432" anchor="ctr">
            <a:spAutoFit/>
          </a:bodyPr>
          <a:lstStyle/>
          <a:p>
            <a:pPr>
              <a:lnSpc>
                <a:spcPct val="112000"/>
              </a:lnSpc>
              <a:spcBef>
                <a:spcPts val="0"/>
              </a:spcBef>
              <a:spcAft>
                <a:spcPts val="0"/>
              </a:spcAft>
              <a:defRPr sz="1900" b="0">
                <a:solidFill>
                  <a:srgbClr val="22272D"/>
                </a:solidFill>
                <a:latin typeface="Arial"/>
              </a:defRPr>
            </a:pPr>
            <a:r>
              <a:t>Flutter screens, state, SQLite and SharedPreferences</a:t>
            </a:r>
          </a:p>
        </p:txBody>
      </p:sp>
      <p:sp>
        <p:nvSpPr>
          <p:cNvPr id="10" name="Rounded Rectangle 9"/>
          <p:cNvSpPr/>
          <p:nvPr/>
        </p:nvSpPr>
        <p:spPr>
          <a:xfrm>
            <a:off x="804672" y="3172968"/>
            <a:ext cx="10561320" cy="713232"/>
          </a:xfrm>
          <a:prstGeom prst="roundRect">
            <a:avLst>
              <a:gd name="adj" fmla="val 9000"/>
            </a:avLst>
          </a:prstGeom>
          <a:solidFill>
            <a:srgbClr val="FFFFFF"/>
          </a:solidFill>
          <a:ln w="10160">
            <a:solidFill>
              <a:srgbClr val="D5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87552" y="3236975"/>
            <a:ext cx="2743200" cy="502920"/>
          </a:xfrm>
          <a:prstGeom prst="rect">
            <a:avLst/>
          </a:prstGeom>
          <a:noFill/>
        </p:spPr>
        <p:txBody>
          <a:bodyPr wrap="square" lIns="36576" tIns="27432" rIns="36576" bIns="27432" anchor="ctr">
            <a:spAutoFit/>
          </a:bodyPr>
          <a:lstStyle/>
          <a:p>
            <a:pPr>
              <a:lnSpc>
                <a:spcPct val="112000"/>
              </a:lnSpc>
              <a:spcBef>
                <a:spcPts val="0"/>
              </a:spcBef>
              <a:spcAft>
                <a:spcPts val="0"/>
              </a:spcAft>
              <a:defRPr sz="2000" b="1">
                <a:solidFill>
                  <a:srgbClr val="1A3048"/>
                </a:solidFill>
                <a:latin typeface="Arial"/>
              </a:defRPr>
            </a:pPr>
            <a:r>
              <a:t>Maintenance helper</a:t>
            </a:r>
          </a:p>
        </p:txBody>
      </p:sp>
      <p:sp>
        <p:nvSpPr>
          <p:cNvPr id="12" name="TextBox 11"/>
          <p:cNvSpPr txBox="1"/>
          <p:nvPr/>
        </p:nvSpPr>
        <p:spPr>
          <a:xfrm>
            <a:off x="3749039" y="3246120"/>
            <a:ext cx="7132320" cy="475488"/>
          </a:xfrm>
          <a:prstGeom prst="rect">
            <a:avLst/>
          </a:prstGeom>
          <a:noFill/>
        </p:spPr>
        <p:txBody>
          <a:bodyPr wrap="square" lIns="36576" tIns="27432" rIns="36576" bIns="27432" anchor="ctr">
            <a:spAutoFit/>
          </a:bodyPr>
          <a:lstStyle/>
          <a:p>
            <a:pPr>
              <a:lnSpc>
                <a:spcPct val="112000"/>
              </a:lnSpc>
              <a:spcBef>
                <a:spcPts val="0"/>
              </a:spcBef>
              <a:spcAft>
                <a:spcPts val="0"/>
              </a:spcAft>
              <a:defRPr sz="1900" b="0">
                <a:solidFill>
                  <a:srgbClr val="22272D"/>
                </a:solidFill>
                <a:latin typeface="Arial"/>
              </a:defRPr>
            </a:pPr>
            <a:r>
              <a:t>Rules, baseline, examples and user controls</a:t>
            </a:r>
          </a:p>
        </p:txBody>
      </p:sp>
      <p:sp>
        <p:nvSpPr>
          <p:cNvPr id="13" name="Rounded Rectangle 12"/>
          <p:cNvSpPr/>
          <p:nvPr/>
        </p:nvSpPr>
        <p:spPr>
          <a:xfrm>
            <a:off x="804672" y="4059936"/>
            <a:ext cx="10561320" cy="713232"/>
          </a:xfrm>
          <a:prstGeom prst="roundRect">
            <a:avLst>
              <a:gd name="adj" fmla="val 9000"/>
            </a:avLst>
          </a:prstGeom>
          <a:solidFill>
            <a:srgbClr val="FFFFFF"/>
          </a:solidFill>
          <a:ln w="10160">
            <a:solidFill>
              <a:srgbClr val="D5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87552" y="4123944"/>
            <a:ext cx="2743200" cy="502920"/>
          </a:xfrm>
          <a:prstGeom prst="rect">
            <a:avLst/>
          </a:prstGeom>
          <a:noFill/>
        </p:spPr>
        <p:txBody>
          <a:bodyPr wrap="square" lIns="36576" tIns="27432" rIns="36576" bIns="27432" anchor="ctr">
            <a:spAutoFit/>
          </a:bodyPr>
          <a:lstStyle/>
          <a:p>
            <a:pPr>
              <a:lnSpc>
                <a:spcPct val="112000"/>
              </a:lnSpc>
              <a:spcBef>
                <a:spcPts val="0"/>
              </a:spcBef>
              <a:spcAft>
                <a:spcPts val="0"/>
              </a:spcAft>
              <a:defRPr sz="2000" b="1">
                <a:solidFill>
                  <a:srgbClr val="1A3048"/>
                </a:solidFill>
                <a:latin typeface="Arial"/>
              </a:defRPr>
            </a:pPr>
            <a:r>
              <a:t>Testing</a:t>
            </a:r>
          </a:p>
        </p:txBody>
      </p:sp>
      <p:sp>
        <p:nvSpPr>
          <p:cNvPr id="15" name="TextBox 14"/>
          <p:cNvSpPr txBox="1"/>
          <p:nvPr/>
        </p:nvSpPr>
        <p:spPr>
          <a:xfrm>
            <a:off x="3749039" y="4133088"/>
            <a:ext cx="7132320" cy="475488"/>
          </a:xfrm>
          <a:prstGeom prst="rect">
            <a:avLst/>
          </a:prstGeom>
          <a:noFill/>
        </p:spPr>
        <p:txBody>
          <a:bodyPr wrap="square" lIns="36576" tIns="27432" rIns="36576" bIns="27432" anchor="ctr">
            <a:spAutoFit/>
          </a:bodyPr>
          <a:lstStyle/>
          <a:p>
            <a:pPr>
              <a:lnSpc>
                <a:spcPct val="112000"/>
              </a:lnSpc>
              <a:spcBef>
                <a:spcPts val="0"/>
              </a:spcBef>
              <a:spcAft>
                <a:spcPts val="0"/>
              </a:spcAft>
              <a:defRPr sz="1900" b="0">
                <a:solidFill>
                  <a:srgbClr val="22272D"/>
                </a:solidFill>
                <a:latin typeface="Arial"/>
              </a:defRPr>
            </a:pPr>
            <a:r>
              <a:t>CRUD, edge cases, offline restart and bugs</a:t>
            </a:r>
          </a:p>
        </p:txBody>
      </p:sp>
      <p:sp>
        <p:nvSpPr>
          <p:cNvPr id="16" name="Rounded Rectangle 15"/>
          <p:cNvSpPr/>
          <p:nvPr/>
        </p:nvSpPr>
        <p:spPr>
          <a:xfrm>
            <a:off x="804672" y="4946904"/>
            <a:ext cx="10561320" cy="713232"/>
          </a:xfrm>
          <a:prstGeom prst="roundRect">
            <a:avLst>
              <a:gd name="adj" fmla="val 9000"/>
            </a:avLst>
          </a:prstGeom>
          <a:solidFill>
            <a:srgbClr val="FFFFFF"/>
          </a:solidFill>
          <a:ln w="10160">
            <a:solidFill>
              <a:srgbClr val="D5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87552" y="5010912"/>
            <a:ext cx="2743200" cy="502920"/>
          </a:xfrm>
          <a:prstGeom prst="rect">
            <a:avLst/>
          </a:prstGeom>
          <a:noFill/>
        </p:spPr>
        <p:txBody>
          <a:bodyPr wrap="square" lIns="36576" tIns="27432" rIns="36576" bIns="27432" anchor="ctr">
            <a:spAutoFit/>
          </a:bodyPr>
          <a:lstStyle/>
          <a:p>
            <a:pPr>
              <a:lnSpc>
                <a:spcPct val="112000"/>
              </a:lnSpc>
              <a:spcBef>
                <a:spcPts val="0"/>
              </a:spcBef>
              <a:spcAft>
                <a:spcPts val="0"/>
              </a:spcAft>
              <a:defRPr sz="2000" b="1">
                <a:solidFill>
                  <a:srgbClr val="1A3048"/>
                </a:solidFill>
                <a:latin typeface="Arial"/>
              </a:defRPr>
            </a:pPr>
            <a:r>
              <a:t>Demo and Q&amp;A</a:t>
            </a:r>
          </a:p>
        </p:txBody>
      </p:sp>
      <p:sp>
        <p:nvSpPr>
          <p:cNvPr id="18" name="TextBox 17"/>
          <p:cNvSpPr txBox="1"/>
          <p:nvPr/>
        </p:nvSpPr>
        <p:spPr>
          <a:xfrm>
            <a:off x="3749039" y="5020056"/>
            <a:ext cx="7132320" cy="475488"/>
          </a:xfrm>
          <a:prstGeom prst="rect">
            <a:avLst/>
          </a:prstGeom>
          <a:noFill/>
        </p:spPr>
        <p:txBody>
          <a:bodyPr wrap="square" lIns="36576" tIns="27432" rIns="36576" bIns="27432" anchor="ctr">
            <a:spAutoFit/>
          </a:bodyPr>
          <a:lstStyle/>
          <a:p>
            <a:pPr>
              <a:lnSpc>
                <a:spcPct val="112000"/>
              </a:lnSpc>
              <a:spcBef>
                <a:spcPts val="0"/>
              </a:spcBef>
              <a:spcAft>
                <a:spcPts val="0"/>
              </a:spcAft>
              <a:defRPr sz="1900" b="0">
                <a:solidFill>
                  <a:srgbClr val="22272D"/>
                </a:solidFill>
                <a:latin typeface="Arial"/>
              </a:defRPr>
            </a:pPr>
            <a:r>
              <a:t>Running app, code, team contributions</a:t>
            </a: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BFC"/>
        </a:solidFill>
        <a:effectLst/>
      </p:bgPr>
    </p:bg>
    <p:spTree>
      <p:nvGrpSpPr>
        <p:cNvPr id="1" name=""/>
        <p:cNvGrpSpPr/>
        <p:nvPr/>
      </p:nvGrpSpPr>
      <p:grpSpPr>
        <a:xfrm>
          <a:off x="0" y="0"/>
          <a:ext cx="0" cy="0"/>
          <a:chOff x="0" y="0"/>
          <a:chExt cx="0" cy="0"/>
        </a:xfrm>
      </p:grpSpPr>
      <p:sp>
        <p:nvSpPr>
          <p:cNvPr id="2" name="TextBox 1"/>
          <p:cNvSpPr txBox="1"/>
          <p:nvPr/>
        </p:nvSpPr>
        <p:spPr>
          <a:xfrm>
            <a:off x="667512" y="365760"/>
            <a:ext cx="10972800" cy="548640"/>
          </a:xfrm>
          <a:prstGeom prst="rect">
            <a:avLst/>
          </a:prstGeom>
          <a:noFill/>
        </p:spPr>
        <p:txBody>
          <a:bodyPr wrap="square" lIns="36576" tIns="27432" rIns="36576" bIns="27432" anchor="ctr">
            <a:spAutoFit/>
          </a:bodyPr>
          <a:lstStyle/>
          <a:p>
            <a:pPr>
              <a:lnSpc>
                <a:spcPct val="112000"/>
              </a:lnSpc>
              <a:spcBef>
                <a:spcPts val="0"/>
              </a:spcBef>
              <a:spcAft>
                <a:spcPts val="0"/>
              </a:spcAft>
              <a:defRPr sz="3000" b="1">
                <a:solidFill>
                  <a:srgbClr val="1A3048"/>
                </a:solidFill>
                <a:latin typeface="Arial"/>
              </a:defRPr>
            </a:pPr>
            <a:r>
              <a:t>Why we picked this app</a:t>
            </a:r>
          </a:p>
        </p:txBody>
      </p:sp>
      <p:cxnSp>
        <p:nvCxnSpPr>
          <p:cNvPr id="3" name="Connector 2"/>
          <p:cNvCxnSpPr/>
          <p:nvPr/>
        </p:nvCxnSpPr>
        <p:spPr>
          <a:xfrm>
            <a:off x="694944" y="1069848"/>
            <a:ext cx="10799064" cy="0"/>
          </a:xfrm>
          <a:prstGeom prst="line">
            <a:avLst/>
          </a:prstGeom>
          <a:ln w="12700">
            <a:solidFill>
              <a:srgbClr val="D5DDE6"/>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22960" y="1600200"/>
            <a:ext cx="5486400" cy="932688"/>
          </a:xfrm>
          <a:prstGeom prst="rect">
            <a:avLst/>
          </a:prstGeom>
          <a:noFill/>
        </p:spPr>
        <p:txBody>
          <a:bodyPr wrap="square" lIns="36576" tIns="27432" rIns="36576" bIns="27432" anchor="ctr">
            <a:spAutoFit/>
          </a:bodyPr>
          <a:lstStyle/>
          <a:p>
            <a:pPr>
              <a:lnSpc>
                <a:spcPct val="112000"/>
              </a:lnSpc>
              <a:spcBef>
                <a:spcPts val="0"/>
              </a:spcBef>
              <a:spcAft>
                <a:spcPts val="0"/>
              </a:spcAft>
              <a:defRPr sz="2500" b="1">
                <a:solidFill>
                  <a:srgbClr val="1A3048"/>
                </a:solidFill>
                <a:latin typeface="Arial"/>
              </a:defRPr>
            </a:pPr>
            <a:r>
              <a:t>The problem</a:t>
            </a:r>
          </a:p>
        </p:txBody>
      </p:sp>
      <p:sp>
        <p:nvSpPr>
          <p:cNvPr id="5" name="TextBox 4"/>
          <p:cNvSpPr txBox="1"/>
          <p:nvPr/>
        </p:nvSpPr>
        <p:spPr>
          <a:xfrm>
            <a:off x="868680" y="2286000"/>
            <a:ext cx="5760720" cy="768096"/>
          </a:xfrm>
          <a:prstGeom prst="rect">
            <a:avLst/>
          </a:prstGeom>
          <a:noFill/>
        </p:spPr>
        <p:txBody>
          <a:bodyPr wrap="square" lIns="36576" tIns="27432" rIns="36576" bIns="27432" anchor="ctr">
            <a:spAutoFit/>
          </a:bodyPr>
          <a:lstStyle/>
          <a:p>
            <a:pPr>
              <a:lnSpc>
                <a:spcPct val="112000"/>
              </a:lnSpc>
              <a:spcBef>
                <a:spcPts val="0"/>
              </a:spcBef>
              <a:spcAft>
                <a:spcPts val="0"/>
              </a:spcAft>
              <a:defRPr sz="2000" b="0">
                <a:solidFill>
                  <a:srgbClr val="22272D"/>
                </a:solidFill>
                <a:latin typeface="Arial"/>
              </a:defRPr>
            </a:pPr>
            <a:r>
              <a:t>•  Service dates and odometer readings are easy to forget.</a:t>
            </a:r>
          </a:p>
        </p:txBody>
      </p:sp>
      <p:sp>
        <p:nvSpPr>
          <p:cNvPr id="6" name="TextBox 5"/>
          <p:cNvSpPr txBox="1"/>
          <p:nvPr/>
        </p:nvSpPr>
        <p:spPr>
          <a:xfrm>
            <a:off x="868680" y="3108960"/>
            <a:ext cx="5760720" cy="768096"/>
          </a:xfrm>
          <a:prstGeom prst="rect">
            <a:avLst/>
          </a:prstGeom>
          <a:noFill/>
        </p:spPr>
        <p:txBody>
          <a:bodyPr wrap="square" lIns="36576" tIns="27432" rIns="36576" bIns="27432" anchor="ctr">
            <a:spAutoFit/>
          </a:bodyPr>
          <a:lstStyle/>
          <a:p>
            <a:pPr>
              <a:lnSpc>
                <a:spcPct val="112000"/>
              </a:lnSpc>
              <a:spcBef>
                <a:spcPts val="0"/>
              </a:spcBef>
              <a:spcAft>
                <a:spcPts val="0"/>
              </a:spcAft>
              <a:defRPr sz="2000" b="0">
                <a:solidFill>
                  <a:srgbClr val="22272D"/>
                </a:solidFill>
                <a:latin typeface="Arial"/>
              </a:defRPr>
            </a:pPr>
            <a:r>
              <a:t>•  People with more than one vehicle need separate records.</a:t>
            </a:r>
          </a:p>
        </p:txBody>
      </p:sp>
      <p:sp>
        <p:nvSpPr>
          <p:cNvPr id="7" name="TextBox 6"/>
          <p:cNvSpPr txBox="1"/>
          <p:nvPr/>
        </p:nvSpPr>
        <p:spPr>
          <a:xfrm>
            <a:off x="868680" y="3931920"/>
            <a:ext cx="5760720" cy="768096"/>
          </a:xfrm>
          <a:prstGeom prst="rect">
            <a:avLst/>
          </a:prstGeom>
          <a:noFill/>
        </p:spPr>
        <p:txBody>
          <a:bodyPr wrap="square" lIns="36576" tIns="27432" rIns="36576" bIns="27432" anchor="ctr">
            <a:spAutoFit/>
          </a:bodyPr>
          <a:lstStyle/>
          <a:p>
            <a:pPr>
              <a:lnSpc>
                <a:spcPct val="112000"/>
              </a:lnSpc>
              <a:spcBef>
                <a:spcPts val="0"/>
              </a:spcBef>
              <a:spcAft>
                <a:spcPts val="0"/>
              </a:spcAft>
              <a:defRPr sz="2000" b="0">
                <a:solidFill>
                  <a:srgbClr val="22272D"/>
                </a:solidFill>
                <a:latin typeface="Arial"/>
              </a:defRPr>
            </a:pPr>
            <a:r>
              <a:t>•  A basic reminder should still work without internet.</a:t>
            </a:r>
          </a:p>
        </p:txBody>
      </p:sp>
      <p:sp>
        <p:nvSpPr>
          <p:cNvPr id="8" name="Rounded Rectangle 7"/>
          <p:cNvSpPr/>
          <p:nvPr/>
        </p:nvSpPr>
        <p:spPr>
          <a:xfrm>
            <a:off x="7086600" y="1737360"/>
            <a:ext cx="4069080" cy="3566160"/>
          </a:xfrm>
          <a:prstGeom prst="roundRect">
            <a:avLst>
              <a:gd name="adj" fmla="val 9000"/>
            </a:avLst>
          </a:prstGeom>
          <a:solidFill>
            <a:srgbClr val="E7EE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88352" y="1947672"/>
            <a:ext cx="3474720" cy="566928"/>
          </a:xfrm>
          <a:prstGeom prst="rect">
            <a:avLst/>
          </a:prstGeom>
          <a:noFill/>
        </p:spPr>
        <p:txBody>
          <a:bodyPr wrap="square" lIns="36576" tIns="27432" rIns="36576" bIns="27432" anchor="ctr">
            <a:spAutoFit/>
          </a:bodyPr>
          <a:lstStyle/>
          <a:p>
            <a:pPr>
              <a:lnSpc>
                <a:spcPct val="112000"/>
              </a:lnSpc>
              <a:spcBef>
                <a:spcPts val="0"/>
              </a:spcBef>
              <a:spcAft>
                <a:spcPts val="0"/>
              </a:spcAft>
              <a:defRPr sz="2400" b="1">
                <a:solidFill>
                  <a:srgbClr val="1A3048"/>
                </a:solidFill>
                <a:latin typeface="Arial"/>
              </a:defRPr>
            </a:pPr>
            <a:r>
              <a:t>Our goal</a:t>
            </a:r>
          </a:p>
        </p:txBody>
      </p:sp>
      <p:sp>
        <p:nvSpPr>
          <p:cNvPr id="10" name="TextBox 9"/>
          <p:cNvSpPr txBox="1"/>
          <p:nvPr/>
        </p:nvSpPr>
        <p:spPr>
          <a:xfrm>
            <a:off x="7388352" y="2816352"/>
            <a:ext cx="3410712" cy="2029968"/>
          </a:xfrm>
          <a:prstGeom prst="rect">
            <a:avLst/>
          </a:prstGeom>
          <a:noFill/>
        </p:spPr>
        <p:txBody>
          <a:bodyPr wrap="square" lIns="36576" tIns="27432" rIns="36576" bIns="27432" anchor="ctr">
            <a:spAutoFit/>
          </a:bodyPr>
          <a:lstStyle/>
          <a:p>
            <a:pPr>
              <a:lnSpc>
                <a:spcPct val="112000"/>
              </a:lnSpc>
              <a:spcBef>
                <a:spcPts val="0"/>
              </a:spcBef>
              <a:spcAft>
                <a:spcPts val="0"/>
              </a:spcAft>
              <a:defRPr sz="2200" b="0">
                <a:solidFill>
                  <a:srgbClr val="22272D"/>
                </a:solidFill>
                <a:latin typeface="Arial"/>
              </a:defRPr>
            </a:pPr>
            <a:r>
              <a:t>Save vehicles and service history locally, then estimate when a service is due using mileage.</a:t>
            </a:r>
          </a:p>
        </p:txBody>
      </p:sp>
      <p:sp>
        <p:nvSpPr>
          <p:cNvPr id="11" name="TextBox 10"/>
          <p:cNvSpPr txBox="1"/>
          <p:nvPr/>
        </p:nvSpPr>
        <p:spPr>
          <a:xfrm>
            <a:off x="868680" y="5733288"/>
            <a:ext cx="10241280" cy="347472"/>
          </a:xfrm>
          <a:prstGeom prst="rect">
            <a:avLst/>
          </a:prstGeom>
          <a:noFill/>
        </p:spPr>
        <p:txBody>
          <a:bodyPr wrap="square" lIns="36576" tIns="27432" rIns="36576" bIns="27432" anchor="ctr">
            <a:spAutoFit/>
          </a:bodyPr>
          <a:lstStyle/>
          <a:p>
            <a:pPr>
              <a:lnSpc>
                <a:spcPct val="112000"/>
              </a:lnSpc>
              <a:spcBef>
                <a:spcPts val="0"/>
              </a:spcBef>
              <a:spcAft>
                <a:spcPts val="0"/>
              </a:spcAft>
              <a:defRPr sz="1600" b="0">
                <a:solidFill>
                  <a:srgbClr val="5C646E"/>
                </a:solidFill>
                <a:latin typeface="Arial"/>
              </a:defRPr>
            </a:pPr>
            <a:r>
              <a:t>Target user: someone who wants a simple personal maintenance log, not a full repair shop system.</a:t>
            </a: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BFC"/>
        </a:solidFill>
        <a:effectLst/>
      </p:bgPr>
    </p:bg>
    <p:spTree>
      <p:nvGrpSpPr>
        <p:cNvPr id="1" name=""/>
        <p:cNvGrpSpPr/>
        <p:nvPr/>
      </p:nvGrpSpPr>
      <p:grpSpPr>
        <a:xfrm>
          <a:off x="0" y="0"/>
          <a:ext cx="0" cy="0"/>
          <a:chOff x="0" y="0"/>
          <a:chExt cx="0" cy="0"/>
        </a:xfrm>
      </p:grpSpPr>
      <p:sp>
        <p:nvSpPr>
          <p:cNvPr id="2" name="TextBox 1"/>
          <p:cNvSpPr txBox="1"/>
          <p:nvPr/>
        </p:nvSpPr>
        <p:spPr>
          <a:xfrm>
            <a:off x="667512" y="365760"/>
            <a:ext cx="10972800" cy="548640"/>
          </a:xfrm>
          <a:prstGeom prst="rect">
            <a:avLst/>
          </a:prstGeom>
          <a:noFill/>
        </p:spPr>
        <p:txBody>
          <a:bodyPr wrap="square" lIns="36576" tIns="27432" rIns="36576" bIns="27432" anchor="ctr">
            <a:spAutoFit/>
          </a:bodyPr>
          <a:lstStyle/>
          <a:p>
            <a:pPr>
              <a:lnSpc>
                <a:spcPct val="112000"/>
              </a:lnSpc>
              <a:spcBef>
                <a:spcPts val="0"/>
              </a:spcBef>
              <a:spcAft>
                <a:spcPts val="0"/>
              </a:spcAft>
              <a:defRPr sz="3000" b="1">
                <a:solidFill>
                  <a:srgbClr val="1A3048"/>
                </a:solidFill>
                <a:latin typeface="Arial"/>
              </a:defRPr>
            </a:pPr>
            <a:r>
              <a:t>Requirements: inputs and outputs</a:t>
            </a:r>
          </a:p>
        </p:txBody>
      </p:sp>
      <p:cxnSp>
        <p:nvCxnSpPr>
          <p:cNvPr id="3" name="Connector 2"/>
          <p:cNvCxnSpPr/>
          <p:nvPr/>
        </p:nvCxnSpPr>
        <p:spPr>
          <a:xfrm>
            <a:off x="694944" y="1069848"/>
            <a:ext cx="10799064" cy="0"/>
          </a:xfrm>
          <a:prstGeom prst="line">
            <a:avLst/>
          </a:prstGeom>
          <a:ln w="12700">
            <a:solidFill>
              <a:srgbClr val="D5DDE6"/>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749808" y="1517904"/>
            <a:ext cx="5148072" cy="4343400"/>
          </a:xfrm>
          <a:prstGeom prst="roundRect">
            <a:avLst>
              <a:gd name="adj" fmla="val 9000"/>
            </a:avLst>
          </a:prstGeom>
          <a:solidFill>
            <a:srgbClr val="FFFFFF"/>
          </a:solidFill>
          <a:ln w="10160">
            <a:solidFill>
              <a:srgbClr val="D5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272784" y="1517904"/>
            <a:ext cx="5148072" cy="4343400"/>
          </a:xfrm>
          <a:prstGeom prst="roundRect">
            <a:avLst>
              <a:gd name="adj" fmla="val 9000"/>
            </a:avLst>
          </a:prstGeom>
          <a:solidFill>
            <a:srgbClr val="FFFFFF"/>
          </a:solidFill>
          <a:ln w="10160">
            <a:solidFill>
              <a:srgbClr val="D5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42415" y="1746504"/>
            <a:ext cx="4480560" cy="502920"/>
          </a:xfrm>
          <a:prstGeom prst="rect">
            <a:avLst/>
          </a:prstGeom>
          <a:noFill/>
        </p:spPr>
        <p:txBody>
          <a:bodyPr wrap="square" lIns="36576" tIns="27432" rIns="36576" bIns="27432" anchor="ctr">
            <a:spAutoFit/>
          </a:bodyPr>
          <a:lstStyle/>
          <a:p>
            <a:pPr>
              <a:lnSpc>
                <a:spcPct val="112000"/>
              </a:lnSpc>
              <a:spcBef>
                <a:spcPts val="0"/>
              </a:spcBef>
              <a:spcAft>
                <a:spcPts val="0"/>
              </a:spcAft>
              <a:defRPr sz="2300" b="1">
                <a:solidFill>
                  <a:srgbClr val="355B87"/>
                </a:solidFill>
                <a:latin typeface="Arial"/>
              </a:defRPr>
            </a:pPr>
            <a:r>
              <a:t>User enters</a:t>
            </a:r>
          </a:p>
        </p:txBody>
      </p:sp>
      <p:sp>
        <p:nvSpPr>
          <p:cNvPr id="7" name="TextBox 6"/>
          <p:cNvSpPr txBox="1"/>
          <p:nvPr/>
        </p:nvSpPr>
        <p:spPr>
          <a:xfrm>
            <a:off x="1033271" y="2414016"/>
            <a:ext cx="4626864" cy="512064"/>
          </a:xfrm>
          <a:prstGeom prst="rect">
            <a:avLst/>
          </a:prstGeom>
          <a:noFill/>
        </p:spPr>
        <p:txBody>
          <a:bodyPr wrap="square" lIns="36576" tIns="27432" rIns="36576" bIns="27432" anchor="ctr">
            <a:spAutoFit/>
          </a:bodyPr>
          <a:lstStyle/>
          <a:p>
            <a:pPr>
              <a:lnSpc>
                <a:spcPct val="112000"/>
              </a:lnSpc>
              <a:spcBef>
                <a:spcPts val="0"/>
              </a:spcBef>
              <a:spcAft>
                <a:spcPts val="0"/>
              </a:spcAft>
              <a:defRPr sz="1800" b="0">
                <a:solidFill>
                  <a:srgbClr val="22272D"/>
                </a:solidFill>
                <a:latin typeface="Arial"/>
              </a:defRPr>
            </a:pPr>
            <a:r>
              <a:t>•  Vehicle make, model and year</a:t>
            </a:r>
          </a:p>
        </p:txBody>
      </p:sp>
      <p:sp>
        <p:nvSpPr>
          <p:cNvPr id="8" name="TextBox 7"/>
          <p:cNvSpPr txBox="1"/>
          <p:nvPr/>
        </p:nvSpPr>
        <p:spPr>
          <a:xfrm>
            <a:off x="1033271" y="2980944"/>
            <a:ext cx="4626864" cy="512064"/>
          </a:xfrm>
          <a:prstGeom prst="rect">
            <a:avLst/>
          </a:prstGeom>
          <a:noFill/>
        </p:spPr>
        <p:txBody>
          <a:bodyPr wrap="square" lIns="36576" tIns="27432" rIns="36576" bIns="27432" anchor="ctr">
            <a:spAutoFit/>
          </a:bodyPr>
          <a:lstStyle/>
          <a:p>
            <a:pPr>
              <a:lnSpc>
                <a:spcPct val="112000"/>
              </a:lnSpc>
              <a:spcBef>
                <a:spcPts val="0"/>
              </a:spcBef>
              <a:spcAft>
                <a:spcPts val="0"/>
              </a:spcAft>
              <a:defRPr sz="1800" b="0">
                <a:solidFill>
                  <a:srgbClr val="22272D"/>
                </a:solidFill>
                <a:latin typeface="Arial"/>
              </a:defRPr>
            </a:pPr>
            <a:r>
              <a:t>•  Current odometer mileage</a:t>
            </a:r>
          </a:p>
        </p:txBody>
      </p:sp>
      <p:sp>
        <p:nvSpPr>
          <p:cNvPr id="9" name="TextBox 8"/>
          <p:cNvSpPr txBox="1"/>
          <p:nvPr/>
        </p:nvSpPr>
        <p:spPr>
          <a:xfrm>
            <a:off x="1033271" y="3547872"/>
            <a:ext cx="4626864" cy="512064"/>
          </a:xfrm>
          <a:prstGeom prst="rect">
            <a:avLst/>
          </a:prstGeom>
          <a:noFill/>
        </p:spPr>
        <p:txBody>
          <a:bodyPr wrap="square" lIns="36576" tIns="27432" rIns="36576" bIns="27432" anchor="ctr">
            <a:spAutoFit/>
          </a:bodyPr>
          <a:lstStyle/>
          <a:p>
            <a:pPr>
              <a:lnSpc>
                <a:spcPct val="112000"/>
              </a:lnSpc>
              <a:spcBef>
                <a:spcPts val="0"/>
              </a:spcBef>
              <a:spcAft>
                <a:spcPts val="0"/>
              </a:spcAft>
              <a:defRPr sz="1800" b="0">
                <a:solidFill>
                  <a:srgbClr val="22272D"/>
                </a:solidFill>
                <a:latin typeface="Arial"/>
              </a:defRPr>
            </a:pPr>
            <a:r>
              <a:t>•  Service type, date and mileage</a:t>
            </a:r>
          </a:p>
        </p:txBody>
      </p:sp>
      <p:sp>
        <p:nvSpPr>
          <p:cNvPr id="10" name="TextBox 9"/>
          <p:cNvSpPr txBox="1"/>
          <p:nvPr/>
        </p:nvSpPr>
        <p:spPr>
          <a:xfrm>
            <a:off x="1033271" y="4114800"/>
            <a:ext cx="4626864" cy="512064"/>
          </a:xfrm>
          <a:prstGeom prst="rect">
            <a:avLst/>
          </a:prstGeom>
          <a:noFill/>
        </p:spPr>
        <p:txBody>
          <a:bodyPr wrap="square" lIns="36576" tIns="27432" rIns="36576" bIns="27432" anchor="ctr">
            <a:spAutoFit/>
          </a:bodyPr>
          <a:lstStyle/>
          <a:p>
            <a:pPr>
              <a:lnSpc>
                <a:spcPct val="112000"/>
              </a:lnSpc>
              <a:spcBef>
                <a:spcPts val="0"/>
              </a:spcBef>
              <a:spcAft>
                <a:spcPts val="0"/>
              </a:spcAft>
              <a:defRPr sz="1800" b="0">
                <a:solidFill>
                  <a:srgbClr val="22272D"/>
                </a:solidFill>
                <a:latin typeface="Arial"/>
              </a:defRPr>
            </a:pPr>
            <a:r>
              <a:t>•  Cost and optional notes</a:t>
            </a:r>
          </a:p>
        </p:txBody>
      </p:sp>
      <p:sp>
        <p:nvSpPr>
          <p:cNvPr id="11" name="TextBox 10"/>
          <p:cNvSpPr txBox="1"/>
          <p:nvPr/>
        </p:nvSpPr>
        <p:spPr>
          <a:xfrm>
            <a:off x="1033271" y="4681728"/>
            <a:ext cx="4626864" cy="512064"/>
          </a:xfrm>
          <a:prstGeom prst="rect">
            <a:avLst/>
          </a:prstGeom>
          <a:noFill/>
        </p:spPr>
        <p:txBody>
          <a:bodyPr wrap="square" lIns="36576" tIns="27432" rIns="36576" bIns="27432" anchor="ctr">
            <a:spAutoFit/>
          </a:bodyPr>
          <a:lstStyle/>
          <a:p>
            <a:pPr>
              <a:lnSpc>
                <a:spcPct val="112000"/>
              </a:lnSpc>
              <a:spcBef>
                <a:spcPts val="0"/>
              </a:spcBef>
              <a:spcAft>
                <a:spcPts val="0"/>
              </a:spcAft>
              <a:defRPr sz="1800" b="0">
                <a:solidFill>
                  <a:srgbClr val="22272D"/>
                </a:solidFill>
                <a:latin typeface="Arial"/>
              </a:defRPr>
            </a:pPr>
            <a:r>
              <a:t>•  Warning distance / display settings</a:t>
            </a:r>
          </a:p>
        </p:txBody>
      </p:sp>
      <p:sp>
        <p:nvSpPr>
          <p:cNvPr id="12" name="TextBox 11"/>
          <p:cNvSpPr txBox="1"/>
          <p:nvPr/>
        </p:nvSpPr>
        <p:spPr>
          <a:xfrm>
            <a:off x="6565392" y="1746504"/>
            <a:ext cx="4480560" cy="502920"/>
          </a:xfrm>
          <a:prstGeom prst="rect">
            <a:avLst/>
          </a:prstGeom>
          <a:noFill/>
        </p:spPr>
        <p:txBody>
          <a:bodyPr wrap="square" lIns="36576" tIns="27432" rIns="36576" bIns="27432" anchor="ctr">
            <a:spAutoFit/>
          </a:bodyPr>
          <a:lstStyle/>
          <a:p>
            <a:pPr>
              <a:lnSpc>
                <a:spcPct val="112000"/>
              </a:lnSpc>
              <a:spcBef>
                <a:spcPts val="0"/>
              </a:spcBef>
              <a:spcAft>
                <a:spcPts val="0"/>
              </a:spcAft>
              <a:defRPr sz="2300" b="1">
                <a:solidFill>
                  <a:srgbClr val="355B87"/>
                </a:solidFill>
                <a:latin typeface="Arial"/>
              </a:defRPr>
            </a:pPr>
            <a:r>
              <a:t>App displays</a:t>
            </a:r>
          </a:p>
        </p:txBody>
      </p:sp>
      <p:sp>
        <p:nvSpPr>
          <p:cNvPr id="13" name="TextBox 12"/>
          <p:cNvSpPr txBox="1"/>
          <p:nvPr/>
        </p:nvSpPr>
        <p:spPr>
          <a:xfrm>
            <a:off x="6556248" y="2414016"/>
            <a:ext cx="4626864" cy="512064"/>
          </a:xfrm>
          <a:prstGeom prst="rect">
            <a:avLst/>
          </a:prstGeom>
          <a:noFill/>
        </p:spPr>
        <p:txBody>
          <a:bodyPr wrap="square" lIns="36576" tIns="27432" rIns="36576" bIns="27432" anchor="ctr">
            <a:spAutoFit/>
          </a:bodyPr>
          <a:lstStyle/>
          <a:p>
            <a:pPr>
              <a:lnSpc>
                <a:spcPct val="112000"/>
              </a:lnSpc>
              <a:spcBef>
                <a:spcPts val="0"/>
              </a:spcBef>
              <a:spcAft>
                <a:spcPts val="0"/>
              </a:spcAft>
              <a:defRPr sz="1800" b="0">
                <a:solidFill>
                  <a:srgbClr val="22272D"/>
                </a:solidFill>
                <a:latin typeface="Arial"/>
              </a:defRPr>
            </a:pPr>
            <a:r>
              <a:t>•  Vehicle and service lists</a:t>
            </a:r>
          </a:p>
        </p:txBody>
      </p:sp>
      <p:sp>
        <p:nvSpPr>
          <p:cNvPr id="14" name="TextBox 13"/>
          <p:cNvSpPr txBox="1"/>
          <p:nvPr/>
        </p:nvSpPr>
        <p:spPr>
          <a:xfrm>
            <a:off x="6556248" y="2980944"/>
            <a:ext cx="4626864" cy="512064"/>
          </a:xfrm>
          <a:prstGeom prst="rect">
            <a:avLst/>
          </a:prstGeom>
          <a:noFill/>
        </p:spPr>
        <p:txBody>
          <a:bodyPr wrap="square" lIns="36576" tIns="27432" rIns="36576" bIns="27432" anchor="ctr">
            <a:spAutoFit/>
          </a:bodyPr>
          <a:lstStyle/>
          <a:p>
            <a:pPr>
              <a:lnSpc>
                <a:spcPct val="112000"/>
              </a:lnSpc>
              <a:spcBef>
                <a:spcPts val="0"/>
              </a:spcBef>
              <a:spcAft>
                <a:spcPts val="0"/>
              </a:spcAft>
              <a:defRPr sz="1800" b="0">
                <a:solidFill>
                  <a:srgbClr val="22272D"/>
                </a:solidFill>
                <a:latin typeface="Arial"/>
              </a:defRPr>
            </a:pPr>
            <a:r>
              <a:t>•  Service count and total spending</a:t>
            </a:r>
          </a:p>
        </p:txBody>
      </p:sp>
      <p:sp>
        <p:nvSpPr>
          <p:cNvPr id="15" name="TextBox 14"/>
          <p:cNvSpPr txBox="1"/>
          <p:nvPr/>
        </p:nvSpPr>
        <p:spPr>
          <a:xfrm>
            <a:off x="6556248" y="3547872"/>
            <a:ext cx="4626864" cy="512064"/>
          </a:xfrm>
          <a:prstGeom prst="rect">
            <a:avLst/>
          </a:prstGeom>
          <a:noFill/>
        </p:spPr>
        <p:txBody>
          <a:bodyPr wrap="square" lIns="36576" tIns="27432" rIns="36576" bIns="27432" anchor="ctr">
            <a:spAutoFit/>
          </a:bodyPr>
          <a:lstStyle/>
          <a:p>
            <a:pPr>
              <a:lnSpc>
                <a:spcPct val="112000"/>
              </a:lnSpc>
              <a:spcBef>
                <a:spcPts val="0"/>
              </a:spcBef>
              <a:spcAft>
                <a:spcPts val="0"/>
              </a:spcAft>
              <a:defRPr sz="1800" b="0">
                <a:solidFill>
                  <a:srgbClr val="22272D"/>
                </a:solidFill>
                <a:latin typeface="Arial"/>
              </a:defRPr>
            </a:pPr>
            <a:r>
              <a:t>•  Next estimated service mileage</a:t>
            </a:r>
          </a:p>
        </p:txBody>
      </p:sp>
      <p:sp>
        <p:nvSpPr>
          <p:cNvPr id="16" name="TextBox 15"/>
          <p:cNvSpPr txBox="1"/>
          <p:nvPr/>
        </p:nvSpPr>
        <p:spPr>
          <a:xfrm>
            <a:off x="6556248" y="4114800"/>
            <a:ext cx="4626864" cy="512064"/>
          </a:xfrm>
          <a:prstGeom prst="rect">
            <a:avLst/>
          </a:prstGeom>
          <a:noFill/>
        </p:spPr>
        <p:txBody>
          <a:bodyPr wrap="square" lIns="36576" tIns="27432" rIns="36576" bIns="27432" anchor="ctr">
            <a:spAutoFit/>
          </a:bodyPr>
          <a:lstStyle/>
          <a:p>
            <a:pPr>
              <a:lnSpc>
                <a:spcPct val="112000"/>
              </a:lnSpc>
              <a:spcBef>
                <a:spcPts val="0"/>
              </a:spcBef>
              <a:spcAft>
                <a:spcPts val="0"/>
              </a:spcAft>
              <a:defRPr sz="1800" b="0">
                <a:solidFill>
                  <a:srgbClr val="22272D"/>
                </a:solidFill>
                <a:latin typeface="Arial"/>
              </a:defRPr>
            </a:pPr>
            <a:r>
              <a:t>•  Due-soon / overdue / no-data results</a:t>
            </a:r>
          </a:p>
        </p:txBody>
      </p:sp>
      <p:sp>
        <p:nvSpPr>
          <p:cNvPr id="17" name="TextBox 16"/>
          <p:cNvSpPr txBox="1"/>
          <p:nvPr/>
        </p:nvSpPr>
        <p:spPr>
          <a:xfrm>
            <a:off x="6556248" y="4681728"/>
            <a:ext cx="4626864" cy="512064"/>
          </a:xfrm>
          <a:prstGeom prst="rect">
            <a:avLst/>
          </a:prstGeom>
          <a:noFill/>
        </p:spPr>
        <p:txBody>
          <a:bodyPr wrap="square" lIns="36576" tIns="27432" rIns="36576" bIns="27432" anchor="ctr">
            <a:spAutoFit/>
          </a:bodyPr>
          <a:lstStyle/>
          <a:p>
            <a:pPr>
              <a:lnSpc>
                <a:spcPct val="112000"/>
              </a:lnSpc>
              <a:spcBef>
                <a:spcPts val="0"/>
              </a:spcBef>
              <a:spcAft>
                <a:spcPts val="0"/>
              </a:spcAft>
              <a:defRPr sz="1800" b="0">
                <a:solidFill>
                  <a:srgbClr val="22272D"/>
                </a:solidFill>
                <a:latin typeface="Arial"/>
              </a:defRPr>
            </a:pPr>
            <a:r>
              <a:t>•  Explanations and editable preferences</a:t>
            </a: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BFC"/>
        </a:solidFill>
        <a:effectLst/>
      </p:bgPr>
    </p:bg>
    <p:spTree>
      <p:nvGrpSpPr>
        <p:cNvPr id="1" name=""/>
        <p:cNvGrpSpPr/>
        <p:nvPr/>
      </p:nvGrpSpPr>
      <p:grpSpPr>
        <a:xfrm>
          <a:off x="0" y="0"/>
          <a:ext cx="0" cy="0"/>
          <a:chOff x="0" y="0"/>
          <a:chExt cx="0" cy="0"/>
        </a:xfrm>
      </p:grpSpPr>
      <p:sp>
        <p:nvSpPr>
          <p:cNvPr id="2" name="TextBox 1"/>
          <p:cNvSpPr txBox="1"/>
          <p:nvPr/>
        </p:nvSpPr>
        <p:spPr>
          <a:xfrm>
            <a:off x="667512" y="365760"/>
            <a:ext cx="10972800" cy="548640"/>
          </a:xfrm>
          <a:prstGeom prst="rect">
            <a:avLst/>
          </a:prstGeom>
          <a:noFill/>
        </p:spPr>
        <p:txBody>
          <a:bodyPr wrap="square" lIns="36576" tIns="27432" rIns="36576" bIns="27432" anchor="ctr">
            <a:spAutoFit/>
          </a:bodyPr>
          <a:lstStyle/>
          <a:p>
            <a:pPr>
              <a:lnSpc>
                <a:spcPct val="112000"/>
              </a:lnSpc>
              <a:spcBef>
                <a:spcPts val="0"/>
              </a:spcBef>
              <a:spcAft>
                <a:spcPts val="0"/>
              </a:spcAft>
              <a:defRPr sz="3000" b="1">
                <a:solidFill>
                  <a:srgbClr val="1A3048"/>
                </a:solidFill>
                <a:latin typeface="Arial"/>
              </a:defRPr>
            </a:pPr>
            <a:r>
              <a:t>Five main screens</a:t>
            </a:r>
          </a:p>
        </p:txBody>
      </p:sp>
      <p:cxnSp>
        <p:nvCxnSpPr>
          <p:cNvPr id="3" name="Connector 2"/>
          <p:cNvCxnSpPr/>
          <p:nvPr/>
        </p:nvCxnSpPr>
        <p:spPr>
          <a:xfrm>
            <a:off x="694944" y="1069848"/>
            <a:ext cx="10799064" cy="0"/>
          </a:xfrm>
          <a:prstGeom prst="line">
            <a:avLst/>
          </a:prstGeom>
          <a:ln w="12700">
            <a:solidFill>
              <a:srgbClr val="D5DDE6"/>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658368" y="1481328"/>
            <a:ext cx="2148840" cy="4526280"/>
          </a:xfrm>
          <a:prstGeom prst="roundRect">
            <a:avLst>
              <a:gd name="adj" fmla="val 9000"/>
            </a:avLst>
          </a:prstGeom>
          <a:solidFill>
            <a:srgbClr val="FFFFFF"/>
          </a:solidFill>
          <a:ln w="10160">
            <a:solidFill>
              <a:srgbClr val="D5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T10_offline_restart.png"/>
          <p:cNvPicPr>
            <a:picLocks noChangeAspect="1"/>
          </p:cNvPicPr>
          <p:nvPr/>
        </p:nvPicPr>
        <p:blipFill>
          <a:blip r:embed="rId3"/>
          <a:stretch>
            <a:fillRect/>
          </a:stretch>
        </p:blipFill>
        <p:spPr>
          <a:xfrm>
            <a:off x="950976" y="1732173"/>
            <a:ext cx="1572767" cy="3475949"/>
          </a:xfrm>
          <a:prstGeom prst="rect">
            <a:avLst/>
          </a:prstGeom>
        </p:spPr>
      </p:pic>
      <p:sp>
        <p:nvSpPr>
          <p:cNvPr id="6" name="TextBox 5"/>
          <p:cNvSpPr txBox="1"/>
          <p:nvPr/>
        </p:nvSpPr>
        <p:spPr>
          <a:xfrm>
            <a:off x="786384" y="5385816"/>
            <a:ext cx="1883664" cy="420624"/>
          </a:xfrm>
          <a:prstGeom prst="rect">
            <a:avLst/>
          </a:prstGeom>
          <a:noFill/>
        </p:spPr>
        <p:txBody>
          <a:bodyPr wrap="square" lIns="36576" tIns="27432" rIns="36576" bIns="27432" anchor="ctr">
            <a:spAutoFit/>
          </a:bodyPr>
          <a:lstStyle/>
          <a:p>
            <a:pPr algn="ctr">
              <a:lnSpc>
                <a:spcPct val="112000"/>
              </a:lnSpc>
              <a:spcBef>
                <a:spcPts val="0"/>
              </a:spcBef>
              <a:spcAft>
                <a:spcPts val="0"/>
              </a:spcAft>
              <a:defRPr sz="1800" b="1">
                <a:solidFill>
                  <a:srgbClr val="1A3048"/>
                </a:solidFill>
                <a:latin typeface="Arial"/>
              </a:defRPr>
            </a:pPr>
            <a:r>
              <a:t>Home</a:t>
            </a:r>
          </a:p>
        </p:txBody>
      </p:sp>
      <p:sp>
        <p:nvSpPr>
          <p:cNvPr id="7" name="Rounded Rectangle 6"/>
          <p:cNvSpPr/>
          <p:nvPr/>
        </p:nvSpPr>
        <p:spPr>
          <a:xfrm>
            <a:off x="2990087" y="1481328"/>
            <a:ext cx="2148840" cy="4526280"/>
          </a:xfrm>
          <a:prstGeom prst="roundRect">
            <a:avLst>
              <a:gd name="adj" fmla="val 9000"/>
            </a:avLst>
          </a:prstGeom>
          <a:solidFill>
            <a:srgbClr val="FFFFFF"/>
          </a:solidFill>
          <a:ln w="10160">
            <a:solidFill>
              <a:srgbClr val="D5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T1_vehicle_added.png"/>
          <p:cNvPicPr>
            <a:picLocks noChangeAspect="1"/>
          </p:cNvPicPr>
          <p:nvPr/>
        </p:nvPicPr>
        <p:blipFill>
          <a:blip r:embed="rId4"/>
          <a:stretch>
            <a:fillRect/>
          </a:stretch>
        </p:blipFill>
        <p:spPr>
          <a:xfrm>
            <a:off x="3282695" y="1770613"/>
            <a:ext cx="1572767" cy="3399069"/>
          </a:xfrm>
          <a:prstGeom prst="rect">
            <a:avLst/>
          </a:prstGeom>
        </p:spPr>
      </p:pic>
      <p:sp>
        <p:nvSpPr>
          <p:cNvPr id="9" name="TextBox 8"/>
          <p:cNvSpPr txBox="1"/>
          <p:nvPr/>
        </p:nvSpPr>
        <p:spPr>
          <a:xfrm>
            <a:off x="3118103" y="5385816"/>
            <a:ext cx="1883664" cy="420624"/>
          </a:xfrm>
          <a:prstGeom prst="rect">
            <a:avLst/>
          </a:prstGeom>
          <a:noFill/>
        </p:spPr>
        <p:txBody>
          <a:bodyPr wrap="square" lIns="36576" tIns="27432" rIns="36576" bIns="27432" anchor="ctr">
            <a:spAutoFit/>
          </a:bodyPr>
          <a:lstStyle/>
          <a:p>
            <a:pPr algn="ctr">
              <a:lnSpc>
                <a:spcPct val="112000"/>
              </a:lnSpc>
              <a:spcBef>
                <a:spcPts val="0"/>
              </a:spcBef>
              <a:spcAft>
                <a:spcPts val="0"/>
              </a:spcAft>
              <a:defRPr sz="1800" b="1">
                <a:solidFill>
                  <a:srgbClr val="1A3048"/>
                </a:solidFill>
                <a:latin typeface="Arial"/>
              </a:defRPr>
            </a:pPr>
            <a:r>
              <a:t>Vehicles</a:t>
            </a:r>
          </a:p>
        </p:txBody>
      </p:sp>
      <p:sp>
        <p:nvSpPr>
          <p:cNvPr id="10" name="Rounded Rectangle 9"/>
          <p:cNvSpPr/>
          <p:nvPr/>
        </p:nvSpPr>
        <p:spPr>
          <a:xfrm>
            <a:off x="5321807" y="1481328"/>
            <a:ext cx="2148840" cy="4526280"/>
          </a:xfrm>
          <a:prstGeom prst="roundRect">
            <a:avLst>
              <a:gd name="adj" fmla="val 9000"/>
            </a:avLst>
          </a:prstGeom>
          <a:solidFill>
            <a:srgbClr val="FFFFFF"/>
          </a:solidFill>
          <a:ln w="10160">
            <a:solidFill>
              <a:srgbClr val="D5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T6_service_added.png"/>
          <p:cNvPicPr>
            <a:picLocks noChangeAspect="1"/>
          </p:cNvPicPr>
          <p:nvPr/>
        </p:nvPicPr>
        <p:blipFill>
          <a:blip r:embed="rId5"/>
          <a:stretch>
            <a:fillRect/>
          </a:stretch>
        </p:blipFill>
        <p:spPr>
          <a:xfrm>
            <a:off x="5614416" y="1763843"/>
            <a:ext cx="1572768" cy="3412609"/>
          </a:xfrm>
          <a:prstGeom prst="rect">
            <a:avLst/>
          </a:prstGeom>
        </p:spPr>
      </p:pic>
      <p:sp>
        <p:nvSpPr>
          <p:cNvPr id="12" name="TextBox 11"/>
          <p:cNvSpPr txBox="1"/>
          <p:nvPr/>
        </p:nvSpPr>
        <p:spPr>
          <a:xfrm>
            <a:off x="5449823" y="5385816"/>
            <a:ext cx="1883664" cy="420624"/>
          </a:xfrm>
          <a:prstGeom prst="rect">
            <a:avLst/>
          </a:prstGeom>
          <a:noFill/>
        </p:spPr>
        <p:txBody>
          <a:bodyPr wrap="square" lIns="36576" tIns="27432" rIns="36576" bIns="27432" anchor="ctr">
            <a:spAutoFit/>
          </a:bodyPr>
          <a:lstStyle/>
          <a:p>
            <a:pPr algn="ctr">
              <a:lnSpc>
                <a:spcPct val="112000"/>
              </a:lnSpc>
              <a:spcBef>
                <a:spcPts val="0"/>
              </a:spcBef>
              <a:spcAft>
                <a:spcPts val="0"/>
              </a:spcAft>
              <a:defRPr sz="1800" b="1">
                <a:solidFill>
                  <a:srgbClr val="1A3048"/>
                </a:solidFill>
                <a:latin typeface="Arial"/>
              </a:defRPr>
            </a:pPr>
            <a:r>
              <a:t>Services</a:t>
            </a:r>
          </a:p>
        </p:txBody>
      </p:sp>
      <p:sp>
        <p:nvSpPr>
          <p:cNvPr id="13" name="Rounded Rectangle 12"/>
          <p:cNvSpPr/>
          <p:nvPr/>
        </p:nvSpPr>
        <p:spPr>
          <a:xfrm>
            <a:off x="7653527" y="1481328"/>
            <a:ext cx="2148840" cy="4526280"/>
          </a:xfrm>
          <a:prstGeom prst="roundRect">
            <a:avLst>
              <a:gd name="adj" fmla="val 9000"/>
            </a:avLst>
          </a:prstGeom>
          <a:solidFill>
            <a:srgbClr val="FFFFFF"/>
          </a:solidFill>
          <a:ln w="10160">
            <a:solidFill>
              <a:srgbClr val="D5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descr="T12_helper_normal.png"/>
          <p:cNvPicPr>
            <a:picLocks noChangeAspect="1"/>
          </p:cNvPicPr>
          <p:nvPr/>
        </p:nvPicPr>
        <p:blipFill>
          <a:blip r:embed="rId6"/>
          <a:stretch>
            <a:fillRect/>
          </a:stretch>
        </p:blipFill>
        <p:spPr>
          <a:xfrm>
            <a:off x="7946136" y="1765962"/>
            <a:ext cx="1572768" cy="3408370"/>
          </a:xfrm>
          <a:prstGeom prst="rect">
            <a:avLst/>
          </a:prstGeom>
        </p:spPr>
      </p:pic>
      <p:sp>
        <p:nvSpPr>
          <p:cNvPr id="15" name="TextBox 14"/>
          <p:cNvSpPr txBox="1"/>
          <p:nvPr/>
        </p:nvSpPr>
        <p:spPr>
          <a:xfrm>
            <a:off x="7781544" y="5385816"/>
            <a:ext cx="1883664" cy="420624"/>
          </a:xfrm>
          <a:prstGeom prst="rect">
            <a:avLst/>
          </a:prstGeom>
          <a:noFill/>
        </p:spPr>
        <p:txBody>
          <a:bodyPr wrap="square" lIns="36576" tIns="27432" rIns="36576" bIns="27432" anchor="ctr">
            <a:spAutoFit/>
          </a:bodyPr>
          <a:lstStyle/>
          <a:p>
            <a:pPr algn="ctr">
              <a:lnSpc>
                <a:spcPct val="112000"/>
              </a:lnSpc>
              <a:spcBef>
                <a:spcPts val="0"/>
              </a:spcBef>
              <a:spcAft>
                <a:spcPts val="0"/>
              </a:spcAft>
              <a:defRPr sz="1800" b="1">
                <a:solidFill>
                  <a:srgbClr val="1A3048"/>
                </a:solidFill>
                <a:latin typeface="Arial"/>
              </a:defRPr>
            </a:pPr>
            <a:r>
              <a:t>Planner</a:t>
            </a:r>
          </a:p>
        </p:txBody>
      </p:sp>
      <p:sp>
        <p:nvSpPr>
          <p:cNvPr id="16" name="Rounded Rectangle 15"/>
          <p:cNvSpPr/>
          <p:nvPr/>
        </p:nvSpPr>
        <p:spPr>
          <a:xfrm>
            <a:off x="9985248" y="1481328"/>
            <a:ext cx="2148840" cy="4526280"/>
          </a:xfrm>
          <a:prstGeom prst="roundRect">
            <a:avLst>
              <a:gd name="adj" fmla="val 9000"/>
            </a:avLst>
          </a:prstGeom>
          <a:solidFill>
            <a:srgbClr val="FFFFFF"/>
          </a:solidFill>
          <a:ln w="10160">
            <a:solidFill>
              <a:srgbClr val="D5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T17_dark_mode.png"/>
          <p:cNvPicPr>
            <a:picLocks noChangeAspect="1"/>
          </p:cNvPicPr>
          <p:nvPr/>
        </p:nvPicPr>
        <p:blipFill>
          <a:blip r:embed="rId7"/>
          <a:stretch>
            <a:fillRect/>
          </a:stretch>
        </p:blipFill>
        <p:spPr>
          <a:xfrm>
            <a:off x="10277856" y="1814820"/>
            <a:ext cx="1572768" cy="3310656"/>
          </a:xfrm>
          <a:prstGeom prst="rect">
            <a:avLst/>
          </a:prstGeom>
        </p:spPr>
      </p:pic>
      <p:sp>
        <p:nvSpPr>
          <p:cNvPr id="18" name="TextBox 17"/>
          <p:cNvSpPr txBox="1"/>
          <p:nvPr/>
        </p:nvSpPr>
        <p:spPr>
          <a:xfrm>
            <a:off x="10113264" y="5385816"/>
            <a:ext cx="1883664" cy="420624"/>
          </a:xfrm>
          <a:prstGeom prst="rect">
            <a:avLst/>
          </a:prstGeom>
          <a:noFill/>
        </p:spPr>
        <p:txBody>
          <a:bodyPr wrap="square" lIns="36576" tIns="27432" rIns="36576" bIns="27432" anchor="ctr">
            <a:spAutoFit/>
          </a:bodyPr>
          <a:lstStyle/>
          <a:p>
            <a:pPr algn="ctr">
              <a:lnSpc>
                <a:spcPct val="112000"/>
              </a:lnSpc>
              <a:spcBef>
                <a:spcPts val="0"/>
              </a:spcBef>
              <a:spcAft>
                <a:spcPts val="0"/>
              </a:spcAft>
              <a:defRPr sz="1800" b="1">
                <a:solidFill>
                  <a:srgbClr val="1A3048"/>
                </a:solidFill>
                <a:latin typeface="Arial"/>
              </a:defRPr>
            </a:pPr>
            <a:r>
              <a:t>Settings</a:t>
            </a: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BFC"/>
        </a:solidFill>
        <a:effectLst/>
      </p:bgPr>
    </p:bg>
    <p:spTree>
      <p:nvGrpSpPr>
        <p:cNvPr id="1" name=""/>
        <p:cNvGrpSpPr/>
        <p:nvPr/>
      </p:nvGrpSpPr>
      <p:grpSpPr>
        <a:xfrm>
          <a:off x="0" y="0"/>
          <a:ext cx="0" cy="0"/>
          <a:chOff x="0" y="0"/>
          <a:chExt cx="0" cy="0"/>
        </a:xfrm>
      </p:grpSpPr>
      <p:sp>
        <p:nvSpPr>
          <p:cNvPr id="2" name="TextBox 1"/>
          <p:cNvSpPr txBox="1"/>
          <p:nvPr/>
        </p:nvSpPr>
        <p:spPr>
          <a:xfrm>
            <a:off x="667512" y="365760"/>
            <a:ext cx="10972800" cy="548640"/>
          </a:xfrm>
          <a:prstGeom prst="rect">
            <a:avLst/>
          </a:prstGeom>
          <a:noFill/>
        </p:spPr>
        <p:txBody>
          <a:bodyPr wrap="square" lIns="36576" tIns="27432" rIns="36576" bIns="27432" anchor="ctr">
            <a:spAutoFit/>
          </a:bodyPr>
          <a:lstStyle/>
          <a:p>
            <a:pPr>
              <a:lnSpc>
                <a:spcPct val="112000"/>
              </a:lnSpc>
              <a:spcBef>
                <a:spcPts val="0"/>
              </a:spcBef>
              <a:spcAft>
                <a:spcPts val="0"/>
              </a:spcAft>
              <a:defRPr sz="3000" b="1">
                <a:solidFill>
                  <a:srgbClr val="1A3048"/>
                </a:solidFill>
                <a:latin typeface="Arial"/>
              </a:defRPr>
            </a:pPr>
            <a:r>
              <a:t>Vehicle management: add and edit</a:t>
            </a:r>
          </a:p>
        </p:txBody>
      </p:sp>
      <p:cxnSp>
        <p:nvCxnSpPr>
          <p:cNvPr id="3" name="Connector 2"/>
          <p:cNvCxnSpPr/>
          <p:nvPr/>
        </p:nvCxnSpPr>
        <p:spPr>
          <a:xfrm>
            <a:off x="694944" y="1069848"/>
            <a:ext cx="10799064" cy="0"/>
          </a:xfrm>
          <a:prstGeom prst="line">
            <a:avLst/>
          </a:prstGeom>
          <a:ln w="12700">
            <a:solidFill>
              <a:srgbClr val="D5DDE6"/>
            </a:solidFill>
          </a:ln>
        </p:spPr>
        <p:style>
          <a:lnRef idx="2">
            <a:schemeClr val="accent1"/>
          </a:lnRef>
          <a:fillRef idx="0">
            <a:schemeClr val="accent1"/>
          </a:fillRef>
          <a:effectRef idx="1">
            <a:schemeClr val="accent1"/>
          </a:effectRef>
          <a:fontRef idx="minor">
            <a:schemeClr val="tx1"/>
          </a:fontRef>
        </p:style>
      </p:cxnSp>
      <p:pic>
        <p:nvPicPr>
          <p:cNvPr id="4" name="Picture 3" descr="T1_vehicle_added.png"/>
          <p:cNvPicPr>
            <a:picLocks noChangeAspect="1"/>
          </p:cNvPicPr>
          <p:nvPr/>
        </p:nvPicPr>
        <p:blipFill>
          <a:blip r:embed="rId3"/>
          <a:stretch>
            <a:fillRect/>
          </a:stretch>
        </p:blipFill>
        <p:spPr>
          <a:xfrm>
            <a:off x="1108493" y="1389888"/>
            <a:ext cx="2263573" cy="4892040"/>
          </a:xfrm>
          <a:prstGeom prst="rect">
            <a:avLst/>
          </a:prstGeom>
        </p:spPr>
      </p:pic>
      <p:pic>
        <p:nvPicPr>
          <p:cNvPr id="5" name="Picture 4" descr="T3_vehicle_edited.png"/>
          <p:cNvPicPr>
            <a:picLocks noChangeAspect="1"/>
          </p:cNvPicPr>
          <p:nvPr/>
        </p:nvPicPr>
        <p:blipFill>
          <a:blip r:embed="rId4"/>
          <a:stretch>
            <a:fillRect/>
          </a:stretch>
        </p:blipFill>
        <p:spPr>
          <a:xfrm>
            <a:off x="4225522" y="1389888"/>
            <a:ext cx="2265723" cy="4892040"/>
          </a:xfrm>
          <a:prstGeom prst="rect">
            <a:avLst/>
          </a:prstGeom>
        </p:spPr>
      </p:pic>
      <p:sp>
        <p:nvSpPr>
          <p:cNvPr id="6" name="TextBox 5"/>
          <p:cNvSpPr txBox="1"/>
          <p:nvPr/>
        </p:nvSpPr>
        <p:spPr>
          <a:xfrm>
            <a:off x="7342631" y="1737360"/>
            <a:ext cx="3657600" cy="411480"/>
          </a:xfrm>
          <a:prstGeom prst="rect">
            <a:avLst/>
          </a:prstGeom>
          <a:noFill/>
        </p:spPr>
        <p:txBody>
          <a:bodyPr wrap="square" lIns="36576" tIns="27432" rIns="36576" bIns="27432" anchor="ctr">
            <a:spAutoFit/>
          </a:bodyPr>
          <a:lstStyle/>
          <a:p>
            <a:pPr>
              <a:lnSpc>
                <a:spcPct val="112000"/>
              </a:lnSpc>
              <a:spcBef>
                <a:spcPts val="0"/>
              </a:spcBef>
              <a:spcAft>
                <a:spcPts val="0"/>
              </a:spcAft>
              <a:defRPr sz="2300" b="1">
                <a:solidFill>
                  <a:srgbClr val="1A3048"/>
                </a:solidFill>
                <a:latin typeface="Arial"/>
              </a:defRPr>
            </a:pPr>
            <a:r>
              <a:t>Vehicle data</a:t>
            </a:r>
          </a:p>
        </p:txBody>
      </p:sp>
      <p:sp>
        <p:nvSpPr>
          <p:cNvPr id="7" name="TextBox 6"/>
          <p:cNvSpPr txBox="1"/>
          <p:nvPr/>
        </p:nvSpPr>
        <p:spPr>
          <a:xfrm>
            <a:off x="7324344" y="2423160"/>
            <a:ext cx="3794760" cy="576071"/>
          </a:xfrm>
          <a:prstGeom prst="rect">
            <a:avLst/>
          </a:prstGeom>
          <a:noFill/>
        </p:spPr>
        <p:txBody>
          <a:bodyPr wrap="square" lIns="36576" tIns="27432" rIns="36576" bIns="27432" anchor="ctr">
            <a:spAutoFit/>
          </a:bodyPr>
          <a:lstStyle/>
          <a:p>
            <a:pPr>
              <a:lnSpc>
                <a:spcPct val="112000"/>
              </a:lnSpc>
              <a:spcBef>
                <a:spcPts val="0"/>
              </a:spcBef>
              <a:spcAft>
                <a:spcPts val="0"/>
              </a:spcAft>
              <a:defRPr sz="1900" b="0">
                <a:solidFill>
                  <a:srgbClr val="22272D"/>
                </a:solidFill>
                <a:latin typeface="Arial"/>
              </a:defRPr>
            </a:pPr>
            <a:r>
              <a:t>•  Make and model</a:t>
            </a:r>
          </a:p>
        </p:txBody>
      </p:sp>
      <p:sp>
        <p:nvSpPr>
          <p:cNvPr id="8" name="TextBox 7"/>
          <p:cNvSpPr txBox="1"/>
          <p:nvPr/>
        </p:nvSpPr>
        <p:spPr>
          <a:xfrm>
            <a:off x="7324344" y="3054096"/>
            <a:ext cx="3794760" cy="576071"/>
          </a:xfrm>
          <a:prstGeom prst="rect">
            <a:avLst/>
          </a:prstGeom>
          <a:noFill/>
        </p:spPr>
        <p:txBody>
          <a:bodyPr wrap="square" lIns="36576" tIns="27432" rIns="36576" bIns="27432" anchor="ctr">
            <a:spAutoFit/>
          </a:bodyPr>
          <a:lstStyle/>
          <a:p>
            <a:pPr>
              <a:lnSpc>
                <a:spcPct val="112000"/>
              </a:lnSpc>
              <a:spcBef>
                <a:spcPts val="0"/>
              </a:spcBef>
              <a:spcAft>
                <a:spcPts val="0"/>
              </a:spcAft>
              <a:defRPr sz="1900" b="0">
                <a:solidFill>
                  <a:srgbClr val="22272D"/>
                </a:solidFill>
                <a:latin typeface="Arial"/>
              </a:defRPr>
            </a:pPr>
            <a:r>
              <a:t>•  Model year</a:t>
            </a:r>
          </a:p>
        </p:txBody>
      </p:sp>
      <p:sp>
        <p:nvSpPr>
          <p:cNvPr id="9" name="TextBox 8"/>
          <p:cNvSpPr txBox="1"/>
          <p:nvPr/>
        </p:nvSpPr>
        <p:spPr>
          <a:xfrm>
            <a:off x="7324344" y="3685031"/>
            <a:ext cx="3794760" cy="576071"/>
          </a:xfrm>
          <a:prstGeom prst="rect">
            <a:avLst/>
          </a:prstGeom>
          <a:noFill/>
        </p:spPr>
        <p:txBody>
          <a:bodyPr wrap="square" lIns="36576" tIns="27432" rIns="36576" bIns="27432" anchor="ctr">
            <a:spAutoFit/>
          </a:bodyPr>
          <a:lstStyle/>
          <a:p>
            <a:pPr>
              <a:lnSpc>
                <a:spcPct val="112000"/>
              </a:lnSpc>
              <a:spcBef>
                <a:spcPts val="0"/>
              </a:spcBef>
              <a:spcAft>
                <a:spcPts val="0"/>
              </a:spcAft>
              <a:defRPr sz="1900" b="0">
                <a:solidFill>
                  <a:srgbClr val="22272D"/>
                </a:solidFill>
                <a:latin typeface="Arial"/>
              </a:defRPr>
            </a:pPr>
            <a:r>
              <a:t>•  Current mileage</a:t>
            </a:r>
          </a:p>
        </p:txBody>
      </p:sp>
      <p:sp>
        <p:nvSpPr>
          <p:cNvPr id="10" name="TextBox 9"/>
          <p:cNvSpPr txBox="1"/>
          <p:nvPr/>
        </p:nvSpPr>
        <p:spPr>
          <a:xfrm>
            <a:off x="7324344" y="4315968"/>
            <a:ext cx="3794760" cy="576071"/>
          </a:xfrm>
          <a:prstGeom prst="rect">
            <a:avLst/>
          </a:prstGeom>
          <a:noFill/>
        </p:spPr>
        <p:txBody>
          <a:bodyPr wrap="square" lIns="36576" tIns="27432" rIns="36576" bIns="27432" anchor="ctr">
            <a:spAutoFit/>
          </a:bodyPr>
          <a:lstStyle/>
          <a:p>
            <a:pPr>
              <a:lnSpc>
                <a:spcPct val="112000"/>
              </a:lnSpc>
              <a:spcBef>
                <a:spcPts val="0"/>
              </a:spcBef>
              <a:spcAft>
                <a:spcPts val="0"/>
              </a:spcAft>
              <a:defRPr sz="1900" b="0">
                <a:solidFill>
                  <a:srgbClr val="22272D"/>
                </a:solidFill>
                <a:latin typeface="Arial"/>
              </a:defRPr>
            </a:pPr>
            <a:r>
              <a:t>•  Edit and delete options</a:t>
            </a:r>
          </a:p>
        </p:txBody>
      </p:sp>
      <p:sp>
        <p:nvSpPr>
          <p:cNvPr id="11" name="TextBox 10"/>
          <p:cNvSpPr txBox="1"/>
          <p:nvPr/>
        </p:nvSpPr>
        <p:spPr>
          <a:xfrm>
            <a:off x="7333488" y="5239512"/>
            <a:ext cx="3840480" cy="612648"/>
          </a:xfrm>
          <a:prstGeom prst="rect">
            <a:avLst/>
          </a:prstGeom>
          <a:noFill/>
        </p:spPr>
        <p:txBody>
          <a:bodyPr wrap="square" lIns="36576" tIns="27432" rIns="36576" bIns="27432" anchor="ctr">
            <a:spAutoFit/>
          </a:bodyPr>
          <a:lstStyle/>
          <a:p>
            <a:pPr>
              <a:lnSpc>
                <a:spcPct val="112000"/>
              </a:lnSpc>
              <a:spcBef>
                <a:spcPts val="0"/>
              </a:spcBef>
              <a:spcAft>
                <a:spcPts val="0"/>
              </a:spcAft>
              <a:defRPr sz="1500" b="0">
                <a:solidFill>
                  <a:srgbClr val="5C646E"/>
                </a:solidFill>
                <a:latin typeface="Arial"/>
              </a:defRPr>
            </a:pPr>
            <a:r>
              <a:t>T1 and T3: vehicle added, then mileage edited to 52,000.</a:t>
            </a: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BFC"/>
        </a:solidFill>
        <a:effectLst/>
      </p:bgPr>
    </p:bg>
    <p:spTree>
      <p:nvGrpSpPr>
        <p:cNvPr id="1" name=""/>
        <p:cNvGrpSpPr/>
        <p:nvPr/>
      </p:nvGrpSpPr>
      <p:grpSpPr>
        <a:xfrm>
          <a:off x="0" y="0"/>
          <a:ext cx="0" cy="0"/>
          <a:chOff x="0" y="0"/>
          <a:chExt cx="0" cy="0"/>
        </a:xfrm>
      </p:grpSpPr>
      <p:sp>
        <p:nvSpPr>
          <p:cNvPr id="2" name="TextBox 1"/>
          <p:cNvSpPr txBox="1"/>
          <p:nvPr/>
        </p:nvSpPr>
        <p:spPr>
          <a:xfrm>
            <a:off x="667512" y="365760"/>
            <a:ext cx="10972800" cy="548640"/>
          </a:xfrm>
          <a:prstGeom prst="rect">
            <a:avLst/>
          </a:prstGeom>
          <a:noFill/>
        </p:spPr>
        <p:txBody>
          <a:bodyPr wrap="square" lIns="36576" tIns="27432" rIns="36576" bIns="27432" anchor="ctr">
            <a:spAutoFit/>
          </a:bodyPr>
          <a:lstStyle/>
          <a:p>
            <a:pPr>
              <a:lnSpc>
                <a:spcPct val="112000"/>
              </a:lnSpc>
              <a:spcBef>
                <a:spcPts val="0"/>
              </a:spcBef>
              <a:spcAft>
                <a:spcPts val="0"/>
              </a:spcAft>
              <a:defRPr sz="3000" b="1">
                <a:solidFill>
                  <a:srgbClr val="1A3048"/>
                </a:solidFill>
                <a:latin typeface="Arial"/>
              </a:defRPr>
            </a:pPr>
            <a:r>
              <a:t>Validation and delete confirmation</a:t>
            </a:r>
          </a:p>
        </p:txBody>
      </p:sp>
      <p:cxnSp>
        <p:nvCxnSpPr>
          <p:cNvPr id="3" name="Connector 2"/>
          <p:cNvCxnSpPr/>
          <p:nvPr/>
        </p:nvCxnSpPr>
        <p:spPr>
          <a:xfrm>
            <a:off x="694944" y="1069848"/>
            <a:ext cx="10799064" cy="0"/>
          </a:xfrm>
          <a:prstGeom prst="line">
            <a:avLst/>
          </a:prstGeom>
          <a:ln w="12700">
            <a:solidFill>
              <a:srgbClr val="D5DDE6"/>
            </a:solidFill>
          </a:ln>
        </p:spPr>
        <p:style>
          <a:lnRef idx="2">
            <a:schemeClr val="accent1"/>
          </a:lnRef>
          <a:fillRef idx="0">
            <a:schemeClr val="accent1"/>
          </a:fillRef>
          <a:effectRef idx="1">
            <a:schemeClr val="accent1"/>
          </a:effectRef>
          <a:fontRef idx="minor">
            <a:schemeClr val="tx1"/>
          </a:fontRef>
        </p:style>
      </p:cxnSp>
      <p:pic>
        <p:nvPicPr>
          <p:cNvPr id="4" name="Picture 3" descr="T2_invalid_vehicle.png"/>
          <p:cNvPicPr>
            <a:picLocks noChangeAspect="1"/>
          </p:cNvPicPr>
          <p:nvPr/>
        </p:nvPicPr>
        <p:blipFill>
          <a:blip r:embed="rId3"/>
          <a:stretch>
            <a:fillRect/>
          </a:stretch>
        </p:blipFill>
        <p:spPr>
          <a:xfrm>
            <a:off x="1196107" y="1344168"/>
            <a:ext cx="2280369" cy="4937760"/>
          </a:xfrm>
          <a:prstGeom prst="rect">
            <a:avLst/>
          </a:prstGeom>
        </p:spPr>
      </p:pic>
      <p:pic>
        <p:nvPicPr>
          <p:cNvPr id="5" name="Picture 4" descr="T4_delete_confirmation.png"/>
          <p:cNvPicPr>
            <a:picLocks noChangeAspect="1"/>
          </p:cNvPicPr>
          <p:nvPr/>
        </p:nvPicPr>
        <p:blipFill>
          <a:blip r:embed="rId4"/>
          <a:stretch>
            <a:fillRect/>
          </a:stretch>
        </p:blipFill>
        <p:spPr>
          <a:xfrm>
            <a:off x="4355320" y="1344168"/>
            <a:ext cx="2381030" cy="4937760"/>
          </a:xfrm>
          <a:prstGeom prst="rect">
            <a:avLst/>
          </a:prstGeom>
        </p:spPr>
      </p:pic>
      <p:sp>
        <p:nvSpPr>
          <p:cNvPr id="6" name="TextBox 5"/>
          <p:cNvSpPr txBox="1"/>
          <p:nvPr/>
        </p:nvSpPr>
        <p:spPr>
          <a:xfrm>
            <a:off x="7324344" y="1737360"/>
            <a:ext cx="3749039" cy="411480"/>
          </a:xfrm>
          <a:prstGeom prst="rect">
            <a:avLst/>
          </a:prstGeom>
          <a:noFill/>
        </p:spPr>
        <p:txBody>
          <a:bodyPr wrap="square" lIns="36576" tIns="27432" rIns="36576" bIns="27432" anchor="ctr">
            <a:spAutoFit/>
          </a:bodyPr>
          <a:lstStyle/>
          <a:p>
            <a:pPr>
              <a:lnSpc>
                <a:spcPct val="112000"/>
              </a:lnSpc>
              <a:spcBef>
                <a:spcPts val="0"/>
              </a:spcBef>
              <a:spcAft>
                <a:spcPts val="0"/>
              </a:spcAft>
              <a:defRPr sz="2200" b="1">
                <a:solidFill>
                  <a:srgbClr val="1A3048"/>
                </a:solidFill>
                <a:latin typeface="Arial"/>
              </a:defRPr>
            </a:pPr>
            <a:r>
              <a:t>What we checked</a:t>
            </a:r>
          </a:p>
        </p:txBody>
      </p:sp>
      <p:sp>
        <p:nvSpPr>
          <p:cNvPr id="7" name="TextBox 6"/>
          <p:cNvSpPr txBox="1"/>
          <p:nvPr/>
        </p:nvSpPr>
        <p:spPr>
          <a:xfrm>
            <a:off x="7315200" y="2414016"/>
            <a:ext cx="3767328" cy="649224"/>
          </a:xfrm>
          <a:prstGeom prst="rect">
            <a:avLst/>
          </a:prstGeom>
          <a:noFill/>
        </p:spPr>
        <p:txBody>
          <a:bodyPr wrap="square" lIns="36576" tIns="27432" rIns="36576" bIns="27432" anchor="ctr">
            <a:spAutoFit/>
          </a:bodyPr>
          <a:lstStyle/>
          <a:p>
            <a:pPr>
              <a:lnSpc>
                <a:spcPct val="112000"/>
              </a:lnSpc>
              <a:spcBef>
                <a:spcPts val="0"/>
              </a:spcBef>
              <a:spcAft>
                <a:spcPts val="0"/>
              </a:spcAft>
              <a:defRPr sz="1800" b="0">
                <a:solidFill>
                  <a:srgbClr val="22272D"/>
                </a:solidFill>
                <a:latin typeface="Arial"/>
              </a:defRPr>
            </a:pPr>
            <a:r>
              <a:rPr dirty="0"/>
              <a:t>•  Blank make is rejected.</a:t>
            </a:r>
          </a:p>
        </p:txBody>
      </p:sp>
      <p:sp>
        <p:nvSpPr>
          <p:cNvPr id="8" name="TextBox 7"/>
          <p:cNvSpPr txBox="1"/>
          <p:nvPr/>
        </p:nvSpPr>
        <p:spPr>
          <a:xfrm>
            <a:off x="7315200" y="3118104"/>
            <a:ext cx="3767328" cy="649224"/>
          </a:xfrm>
          <a:prstGeom prst="rect">
            <a:avLst/>
          </a:prstGeom>
          <a:noFill/>
        </p:spPr>
        <p:txBody>
          <a:bodyPr wrap="square" lIns="36576" tIns="27432" rIns="36576" bIns="27432" anchor="ctr">
            <a:spAutoFit/>
          </a:bodyPr>
          <a:lstStyle/>
          <a:p>
            <a:pPr>
              <a:lnSpc>
                <a:spcPct val="112000"/>
              </a:lnSpc>
              <a:spcBef>
                <a:spcPts val="0"/>
              </a:spcBef>
              <a:spcAft>
                <a:spcPts val="0"/>
              </a:spcAft>
              <a:defRPr sz="1800" b="0">
                <a:solidFill>
                  <a:srgbClr val="22272D"/>
                </a:solidFill>
                <a:latin typeface="Arial"/>
              </a:defRPr>
            </a:pPr>
            <a:r>
              <a:rPr dirty="0"/>
              <a:t>•  Negative mileage is rejected.</a:t>
            </a:r>
          </a:p>
        </p:txBody>
      </p:sp>
      <p:sp>
        <p:nvSpPr>
          <p:cNvPr id="9" name="TextBox 8"/>
          <p:cNvSpPr txBox="1"/>
          <p:nvPr/>
        </p:nvSpPr>
        <p:spPr>
          <a:xfrm>
            <a:off x="7315200" y="3822191"/>
            <a:ext cx="3767328" cy="649224"/>
          </a:xfrm>
          <a:prstGeom prst="rect">
            <a:avLst/>
          </a:prstGeom>
          <a:noFill/>
        </p:spPr>
        <p:txBody>
          <a:bodyPr wrap="square" lIns="36576" tIns="27432" rIns="36576" bIns="27432" anchor="ctr">
            <a:spAutoFit/>
          </a:bodyPr>
          <a:lstStyle/>
          <a:p>
            <a:pPr>
              <a:lnSpc>
                <a:spcPct val="112000"/>
              </a:lnSpc>
              <a:spcBef>
                <a:spcPts val="0"/>
              </a:spcBef>
              <a:spcAft>
                <a:spcPts val="0"/>
              </a:spcAft>
              <a:defRPr sz="1800" b="0">
                <a:solidFill>
                  <a:srgbClr val="22272D"/>
                </a:solidFill>
                <a:latin typeface="Arial"/>
              </a:defRPr>
            </a:pPr>
            <a:r>
              <a:t>•  Delete asks for confirmation.</a:t>
            </a:r>
          </a:p>
        </p:txBody>
      </p:sp>
      <p:sp>
        <p:nvSpPr>
          <p:cNvPr id="10" name="TextBox 9"/>
          <p:cNvSpPr txBox="1"/>
          <p:nvPr/>
        </p:nvSpPr>
        <p:spPr>
          <a:xfrm>
            <a:off x="7315200" y="4526280"/>
            <a:ext cx="3767328" cy="649224"/>
          </a:xfrm>
          <a:prstGeom prst="rect">
            <a:avLst/>
          </a:prstGeom>
          <a:noFill/>
        </p:spPr>
        <p:txBody>
          <a:bodyPr wrap="square" lIns="36576" tIns="27432" rIns="36576" bIns="27432" anchor="ctr">
            <a:spAutoFit/>
          </a:bodyPr>
          <a:lstStyle/>
          <a:p>
            <a:pPr>
              <a:lnSpc>
                <a:spcPct val="112000"/>
              </a:lnSpc>
              <a:spcBef>
                <a:spcPts val="0"/>
              </a:spcBef>
              <a:spcAft>
                <a:spcPts val="0"/>
              </a:spcAft>
              <a:defRPr sz="1800" b="0">
                <a:solidFill>
                  <a:srgbClr val="22272D"/>
                </a:solidFill>
                <a:latin typeface="Arial"/>
              </a:defRPr>
            </a:pPr>
            <a:r>
              <a:t>•  Cancel leaves the record alone.</a:t>
            </a:r>
          </a:p>
        </p:txBody>
      </p:sp>
      <p:sp>
        <p:nvSpPr>
          <p:cNvPr id="11" name="TextBox 10"/>
          <p:cNvSpPr txBox="1"/>
          <p:nvPr/>
        </p:nvSpPr>
        <p:spPr>
          <a:xfrm>
            <a:off x="7324344" y="5632704"/>
            <a:ext cx="3657600" cy="347472"/>
          </a:xfrm>
          <a:prstGeom prst="rect">
            <a:avLst/>
          </a:prstGeom>
          <a:noFill/>
        </p:spPr>
        <p:txBody>
          <a:bodyPr wrap="square" lIns="36576" tIns="27432" rIns="36576" bIns="27432" anchor="ctr">
            <a:spAutoFit/>
          </a:bodyPr>
          <a:lstStyle/>
          <a:p>
            <a:pPr>
              <a:lnSpc>
                <a:spcPct val="112000"/>
              </a:lnSpc>
              <a:spcBef>
                <a:spcPts val="0"/>
              </a:spcBef>
              <a:spcAft>
                <a:spcPts val="0"/>
              </a:spcAft>
              <a:defRPr sz="1400" b="0">
                <a:solidFill>
                  <a:srgbClr val="5C646E"/>
                </a:solidFill>
                <a:latin typeface="Arial"/>
              </a:defRPr>
            </a:pPr>
            <a:r>
              <a:rPr dirty="0"/>
              <a:t>Tests T2 and T4</a:t>
            </a: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BFC"/>
        </a:solidFill>
        <a:effectLst/>
      </p:bgPr>
    </p:bg>
    <p:spTree>
      <p:nvGrpSpPr>
        <p:cNvPr id="1" name=""/>
        <p:cNvGrpSpPr/>
        <p:nvPr/>
      </p:nvGrpSpPr>
      <p:grpSpPr>
        <a:xfrm>
          <a:off x="0" y="0"/>
          <a:ext cx="0" cy="0"/>
          <a:chOff x="0" y="0"/>
          <a:chExt cx="0" cy="0"/>
        </a:xfrm>
      </p:grpSpPr>
      <p:sp>
        <p:nvSpPr>
          <p:cNvPr id="2" name="TextBox 1"/>
          <p:cNvSpPr txBox="1"/>
          <p:nvPr/>
        </p:nvSpPr>
        <p:spPr>
          <a:xfrm>
            <a:off x="667512" y="365760"/>
            <a:ext cx="10972800" cy="548640"/>
          </a:xfrm>
          <a:prstGeom prst="rect">
            <a:avLst/>
          </a:prstGeom>
          <a:noFill/>
        </p:spPr>
        <p:txBody>
          <a:bodyPr wrap="square" lIns="36576" tIns="27432" rIns="36576" bIns="27432" anchor="ctr">
            <a:spAutoFit/>
          </a:bodyPr>
          <a:lstStyle/>
          <a:p>
            <a:pPr>
              <a:lnSpc>
                <a:spcPct val="112000"/>
              </a:lnSpc>
              <a:spcBef>
                <a:spcPts val="0"/>
              </a:spcBef>
              <a:spcAft>
                <a:spcPts val="0"/>
              </a:spcAft>
              <a:defRPr sz="3000" b="1">
                <a:solidFill>
                  <a:srgbClr val="1A3048"/>
                </a:solidFill>
                <a:latin typeface="Arial"/>
              </a:defRPr>
            </a:pPr>
            <a:r>
              <a:t>Service history is linked to vehicles</a:t>
            </a:r>
          </a:p>
        </p:txBody>
      </p:sp>
      <p:cxnSp>
        <p:nvCxnSpPr>
          <p:cNvPr id="3" name="Connector 2"/>
          <p:cNvCxnSpPr/>
          <p:nvPr/>
        </p:nvCxnSpPr>
        <p:spPr>
          <a:xfrm>
            <a:off x="694944" y="1069848"/>
            <a:ext cx="10799064" cy="0"/>
          </a:xfrm>
          <a:prstGeom prst="line">
            <a:avLst/>
          </a:prstGeom>
          <a:ln w="12700">
            <a:solidFill>
              <a:srgbClr val="D5DDE6"/>
            </a:solidFill>
          </a:ln>
        </p:spPr>
        <p:style>
          <a:lnRef idx="2">
            <a:schemeClr val="accent1"/>
          </a:lnRef>
          <a:fillRef idx="0">
            <a:schemeClr val="accent1"/>
          </a:fillRef>
          <a:effectRef idx="1">
            <a:schemeClr val="accent1"/>
          </a:effectRef>
          <a:fontRef idx="minor">
            <a:schemeClr val="tx1"/>
          </a:fontRef>
        </p:style>
      </p:cxnSp>
      <p:pic>
        <p:nvPicPr>
          <p:cNvPr id="4" name="Picture 3" descr="T6_service_added.png"/>
          <p:cNvPicPr>
            <a:picLocks noChangeAspect="1"/>
          </p:cNvPicPr>
          <p:nvPr/>
        </p:nvPicPr>
        <p:blipFill>
          <a:blip r:embed="rId3"/>
          <a:stretch>
            <a:fillRect/>
          </a:stretch>
        </p:blipFill>
        <p:spPr>
          <a:xfrm>
            <a:off x="1133060" y="1344168"/>
            <a:ext cx="2296734" cy="4983480"/>
          </a:xfrm>
          <a:prstGeom prst="rect">
            <a:avLst/>
          </a:prstGeom>
        </p:spPr>
      </p:pic>
      <p:pic>
        <p:nvPicPr>
          <p:cNvPr id="5" name="Picture 4" descr="T8_service_edited.png"/>
          <p:cNvPicPr>
            <a:picLocks noChangeAspect="1"/>
          </p:cNvPicPr>
          <p:nvPr/>
        </p:nvPicPr>
        <p:blipFill>
          <a:blip r:embed="rId4"/>
          <a:stretch>
            <a:fillRect/>
          </a:stretch>
        </p:blipFill>
        <p:spPr>
          <a:xfrm>
            <a:off x="4301803" y="1344168"/>
            <a:ext cx="2286897" cy="4983480"/>
          </a:xfrm>
          <a:prstGeom prst="rect">
            <a:avLst/>
          </a:prstGeom>
        </p:spPr>
      </p:pic>
      <p:sp>
        <p:nvSpPr>
          <p:cNvPr id="6" name="TextBox 5"/>
          <p:cNvSpPr txBox="1"/>
          <p:nvPr/>
        </p:nvSpPr>
        <p:spPr>
          <a:xfrm>
            <a:off x="7333488" y="1755648"/>
            <a:ext cx="3749039" cy="457200"/>
          </a:xfrm>
          <a:prstGeom prst="rect">
            <a:avLst/>
          </a:prstGeom>
          <a:noFill/>
        </p:spPr>
        <p:txBody>
          <a:bodyPr wrap="square" lIns="36576" tIns="27432" rIns="36576" bIns="27432" anchor="ctr">
            <a:spAutoFit/>
          </a:bodyPr>
          <a:lstStyle/>
          <a:p>
            <a:pPr>
              <a:lnSpc>
                <a:spcPct val="112000"/>
              </a:lnSpc>
              <a:spcBef>
                <a:spcPts val="0"/>
              </a:spcBef>
              <a:spcAft>
                <a:spcPts val="0"/>
              </a:spcAft>
              <a:defRPr sz="2200" b="1">
                <a:solidFill>
                  <a:srgbClr val="1A3048"/>
                </a:solidFill>
                <a:latin typeface="Arial"/>
              </a:defRPr>
            </a:pPr>
            <a:r>
              <a:t>Service record fields</a:t>
            </a:r>
          </a:p>
        </p:txBody>
      </p:sp>
      <p:sp>
        <p:nvSpPr>
          <p:cNvPr id="7" name="TextBox 6"/>
          <p:cNvSpPr txBox="1"/>
          <p:nvPr/>
        </p:nvSpPr>
        <p:spPr>
          <a:xfrm>
            <a:off x="7333488" y="2459736"/>
            <a:ext cx="3776472" cy="585215"/>
          </a:xfrm>
          <a:prstGeom prst="rect">
            <a:avLst/>
          </a:prstGeom>
          <a:noFill/>
        </p:spPr>
        <p:txBody>
          <a:bodyPr wrap="square" lIns="36576" tIns="27432" rIns="36576" bIns="27432" anchor="ctr">
            <a:spAutoFit/>
          </a:bodyPr>
          <a:lstStyle/>
          <a:p>
            <a:pPr>
              <a:lnSpc>
                <a:spcPct val="112000"/>
              </a:lnSpc>
              <a:spcBef>
                <a:spcPts val="0"/>
              </a:spcBef>
              <a:spcAft>
                <a:spcPts val="0"/>
              </a:spcAft>
              <a:defRPr sz="1800" b="0">
                <a:solidFill>
                  <a:srgbClr val="22272D"/>
                </a:solidFill>
                <a:latin typeface="Arial"/>
              </a:defRPr>
            </a:pPr>
            <a:r>
              <a:t>•  Vehicle and service type</a:t>
            </a:r>
          </a:p>
        </p:txBody>
      </p:sp>
      <p:sp>
        <p:nvSpPr>
          <p:cNvPr id="8" name="TextBox 7"/>
          <p:cNvSpPr txBox="1"/>
          <p:nvPr/>
        </p:nvSpPr>
        <p:spPr>
          <a:xfrm>
            <a:off x="7333488" y="3099815"/>
            <a:ext cx="3776472" cy="585215"/>
          </a:xfrm>
          <a:prstGeom prst="rect">
            <a:avLst/>
          </a:prstGeom>
          <a:noFill/>
        </p:spPr>
        <p:txBody>
          <a:bodyPr wrap="square" lIns="36576" tIns="27432" rIns="36576" bIns="27432" anchor="ctr">
            <a:spAutoFit/>
          </a:bodyPr>
          <a:lstStyle/>
          <a:p>
            <a:pPr>
              <a:lnSpc>
                <a:spcPct val="112000"/>
              </a:lnSpc>
              <a:spcBef>
                <a:spcPts val="0"/>
              </a:spcBef>
              <a:spcAft>
                <a:spcPts val="0"/>
              </a:spcAft>
              <a:defRPr sz="1800" b="0">
                <a:solidFill>
                  <a:srgbClr val="22272D"/>
                </a:solidFill>
                <a:latin typeface="Arial"/>
              </a:defRPr>
            </a:pPr>
            <a:r>
              <a:t>•  Mileage and service date</a:t>
            </a:r>
          </a:p>
        </p:txBody>
      </p:sp>
      <p:sp>
        <p:nvSpPr>
          <p:cNvPr id="9" name="TextBox 8"/>
          <p:cNvSpPr txBox="1"/>
          <p:nvPr/>
        </p:nvSpPr>
        <p:spPr>
          <a:xfrm>
            <a:off x="7333488" y="3739896"/>
            <a:ext cx="3776472" cy="585215"/>
          </a:xfrm>
          <a:prstGeom prst="rect">
            <a:avLst/>
          </a:prstGeom>
          <a:noFill/>
        </p:spPr>
        <p:txBody>
          <a:bodyPr wrap="square" lIns="36576" tIns="27432" rIns="36576" bIns="27432" anchor="ctr">
            <a:spAutoFit/>
          </a:bodyPr>
          <a:lstStyle/>
          <a:p>
            <a:pPr>
              <a:lnSpc>
                <a:spcPct val="112000"/>
              </a:lnSpc>
              <a:spcBef>
                <a:spcPts val="0"/>
              </a:spcBef>
              <a:spcAft>
                <a:spcPts val="0"/>
              </a:spcAft>
              <a:defRPr sz="1800" b="0">
                <a:solidFill>
                  <a:srgbClr val="22272D"/>
                </a:solidFill>
                <a:latin typeface="Arial"/>
              </a:defRPr>
            </a:pPr>
            <a:r>
              <a:t>•  Cost and optional notes</a:t>
            </a:r>
          </a:p>
        </p:txBody>
      </p:sp>
      <p:sp>
        <p:nvSpPr>
          <p:cNvPr id="10" name="TextBox 9"/>
          <p:cNvSpPr txBox="1"/>
          <p:nvPr/>
        </p:nvSpPr>
        <p:spPr>
          <a:xfrm>
            <a:off x="7333488" y="4379975"/>
            <a:ext cx="3776472" cy="585215"/>
          </a:xfrm>
          <a:prstGeom prst="rect">
            <a:avLst/>
          </a:prstGeom>
          <a:noFill/>
        </p:spPr>
        <p:txBody>
          <a:bodyPr wrap="square" lIns="36576" tIns="27432" rIns="36576" bIns="27432" anchor="ctr">
            <a:spAutoFit/>
          </a:bodyPr>
          <a:lstStyle/>
          <a:p>
            <a:pPr>
              <a:lnSpc>
                <a:spcPct val="112000"/>
              </a:lnSpc>
              <a:spcBef>
                <a:spcPts val="0"/>
              </a:spcBef>
              <a:spcAft>
                <a:spcPts val="0"/>
              </a:spcAft>
              <a:defRPr sz="1800" b="0">
                <a:solidFill>
                  <a:srgbClr val="22272D"/>
                </a:solidFill>
                <a:latin typeface="Arial"/>
              </a:defRPr>
            </a:pPr>
            <a:r>
              <a:t>•  Add, edit and delete</a:t>
            </a:r>
          </a:p>
        </p:txBody>
      </p:sp>
      <p:sp>
        <p:nvSpPr>
          <p:cNvPr id="11" name="TextBox 10"/>
          <p:cNvSpPr txBox="1"/>
          <p:nvPr/>
        </p:nvSpPr>
        <p:spPr>
          <a:xfrm>
            <a:off x="7333488" y="5230368"/>
            <a:ext cx="3767328" cy="676656"/>
          </a:xfrm>
          <a:prstGeom prst="rect">
            <a:avLst/>
          </a:prstGeom>
          <a:noFill/>
        </p:spPr>
        <p:txBody>
          <a:bodyPr wrap="square" lIns="36576" tIns="27432" rIns="36576" bIns="27432" anchor="ctr">
            <a:spAutoFit/>
          </a:bodyPr>
          <a:lstStyle/>
          <a:p>
            <a:pPr>
              <a:lnSpc>
                <a:spcPct val="112000"/>
              </a:lnSpc>
              <a:spcBef>
                <a:spcPts val="0"/>
              </a:spcBef>
              <a:spcAft>
                <a:spcPts val="0"/>
              </a:spcAft>
              <a:defRPr sz="1600" b="0">
                <a:solidFill>
                  <a:srgbClr val="5C646E"/>
                </a:solidFill>
                <a:latin typeface="Arial"/>
              </a:defRPr>
            </a:pPr>
            <a:r>
              <a:rPr dirty="0"/>
              <a:t>T6: oil change saved at $65</a:t>
            </a:r>
          </a:p>
          <a:p>
            <a:pPr>
              <a:lnSpc>
                <a:spcPct val="112000"/>
              </a:lnSpc>
              <a:spcBef>
                <a:spcPts val="0"/>
              </a:spcBef>
              <a:spcAft>
                <a:spcPts val="0"/>
              </a:spcAft>
              <a:defRPr sz="1600" b="0">
                <a:solidFill>
                  <a:srgbClr val="5C646E"/>
                </a:solidFill>
                <a:latin typeface="Arial"/>
              </a:defRPr>
            </a:pPr>
            <a:r>
              <a:rPr dirty="0"/>
              <a:t>T8: cost updated to $75</a:t>
            </a:r>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BFC"/>
        </a:solidFill>
        <a:effectLst/>
      </p:bgPr>
    </p:bg>
    <p:spTree>
      <p:nvGrpSpPr>
        <p:cNvPr id="1" name=""/>
        <p:cNvGrpSpPr/>
        <p:nvPr/>
      </p:nvGrpSpPr>
      <p:grpSpPr>
        <a:xfrm>
          <a:off x="0" y="0"/>
          <a:ext cx="0" cy="0"/>
          <a:chOff x="0" y="0"/>
          <a:chExt cx="0" cy="0"/>
        </a:xfrm>
      </p:grpSpPr>
      <p:sp>
        <p:nvSpPr>
          <p:cNvPr id="2" name="TextBox 1"/>
          <p:cNvSpPr txBox="1"/>
          <p:nvPr/>
        </p:nvSpPr>
        <p:spPr>
          <a:xfrm>
            <a:off x="667512" y="365760"/>
            <a:ext cx="10972800" cy="548640"/>
          </a:xfrm>
          <a:prstGeom prst="rect">
            <a:avLst/>
          </a:prstGeom>
          <a:noFill/>
        </p:spPr>
        <p:txBody>
          <a:bodyPr wrap="square" lIns="36576" tIns="27432" rIns="36576" bIns="27432" anchor="ctr">
            <a:spAutoFit/>
          </a:bodyPr>
          <a:lstStyle/>
          <a:p>
            <a:pPr>
              <a:lnSpc>
                <a:spcPct val="112000"/>
              </a:lnSpc>
              <a:spcBef>
                <a:spcPts val="0"/>
              </a:spcBef>
              <a:spcAft>
                <a:spcPts val="0"/>
              </a:spcAft>
              <a:defRPr sz="3000" b="1">
                <a:solidFill>
                  <a:srgbClr val="1A3048"/>
                </a:solidFill>
                <a:latin typeface="Arial"/>
              </a:defRPr>
            </a:pPr>
            <a:r>
              <a:t>Data model and UML class overview</a:t>
            </a:r>
          </a:p>
        </p:txBody>
      </p:sp>
      <p:cxnSp>
        <p:nvCxnSpPr>
          <p:cNvPr id="3" name="Connector 2"/>
          <p:cNvCxnSpPr/>
          <p:nvPr/>
        </p:nvCxnSpPr>
        <p:spPr>
          <a:xfrm>
            <a:off x="694944" y="1069848"/>
            <a:ext cx="10799064" cy="0"/>
          </a:xfrm>
          <a:prstGeom prst="line">
            <a:avLst/>
          </a:prstGeom>
          <a:ln w="12700">
            <a:solidFill>
              <a:srgbClr val="D5DDE6"/>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914400" y="1618488"/>
            <a:ext cx="3886200" cy="2926080"/>
          </a:xfrm>
          <a:prstGeom prst="roundRect">
            <a:avLst>
              <a:gd name="adj" fmla="val 9000"/>
            </a:avLst>
          </a:prstGeom>
          <a:solidFill>
            <a:srgbClr val="FFFFFF"/>
          </a:solidFill>
          <a:ln w="15240">
            <a:solidFill>
              <a:srgbClr val="355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004304" y="1618488"/>
            <a:ext cx="4050791" cy="2926080"/>
          </a:xfrm>
          <a:prstGeom prst="roundRect">
            <a:avLst>
              <a:gd name="adj" fmla="val 9000"/>
            </a:avLst>
          </a:prstGeom>
          <a:solidFill>
            <a:srgbClr val="FFFFFF"/>
          </a:solidFill>
          <a:ln w="15240">
            <a:solidFill>
              <a:srgbClr val="355B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914400" y="1618488"/>
            <a:ext cx="3886200" cy="557784"/>
          </a:xfrm>
          <a:prstGeom prst="roundRect">
            <a:avLst>
              <a:gd name="adj" fmla="val 9000"/>
            </a:avLst>
          </a:prstGeom>
          <a:solidFill>
            <a:srgbClr val="E7EE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69848" y="1719072"/>
            <a:ext cx="3566160" cy="356616"/>
          </a:xfrm>
          <a:prstGeom prst="rect">
            <a:avLst/>
          </a:prstGeom>
          <a:noFill/>
        </p:spPr>
        <p:txBody>
          <a:bodyPr wrap="square" lIns="36576" tIns="27432" rIns="36576" bIns="27432" anchor="ctr">
            <a:spAutoFit/>
          </a:bodyPr>
          <a:lstStyle/>
          <a:p>
            <a:pPr>
              <a:lnSpc>
                <a:spcPct val="112000"/>
              </a:lnSpc>
              <a:spcBef>
                <a:spcPts val="0"/>
              </a:spcBef>
              <a:spcAft>
                <a:spcPts val="0"/>
              </a:spcAft>
              <a:defRPr sz="2200" b="1">
                <a:solidFill>
                  <a:srgbClr val="1A3048"/>
                </a:solidFill>
                <a:latin typeface="Arial"/>
              </a:defRPr>
            </a:pPr>
            <a:r>
              <a:t>Vehicle</a:t>
            </a:r>
          </a:p>
        </p:txBody>
      </p:sp>
      <p:sp>
        <p:nvSpPr>
          <p:cNvPr id="8" name="TextBox 7"/>
          <p:cNvSpPr txBox="1"/>
          <p:nvPr/>
        </p:nvSpPr>
        <p:spPr>
          <a:xfrm>
            <a:off x="1124712" y="2395728"/>
            <a:ext cx="3383280" cy="1856231"/>
          </a:xfrm>
          <a:prstGeom prst="rect">
            <a:avLst/>
          </a:prstGeom>
          <a:noFill/>
        </p:spPr>
        <p:txBody>
          <a:bodyPr wrap="square" lIns="36576" tIns="27432" rIns="36576" bIns="27432" anchor="ctr">
            <a:spAutoFit/>
          </a:bodyPr>
          <a:lstStyle/>
          <a:p>
            <a:pPr>
              <a:lnSpc>
                <a:spcPct val="112000"/>
              </a:lnSpc>
              <a:spcBef>
                <a:spcPts val="0"/>
              </a:spcBef>
              <a:spcAft>
                <a:spcPts val="0"/>
              </a:spcAft>
              <a:defRPr sz="1900" b="0">
                <a:solidFill>
                  <a:srgbClr val="22272D"/>
                </a:solidFill>
                <a:latin typeface="Arial"/>
              </a:defRPr>
            </a:pPr>
            <a:r>
              <a:t>id: int (PK)</a:t>
            </a:r>
          </a:p>
          <a:p>
            <a:pPr>
              <a:lnSpc>
                <a:spcPct val="112000"/>
              </a:lnSpc>
              <a:spcBef>
                <a:spcPts val="0"/>
              </a:spcBef>
              <a:spcAft>
                <a:spcPts val="0"/>
              </a:spcAft>
              <a:defRPr sz="1900" b="0">
                <a:solidFill>
                  <a:srgbClr val="22272D"/>
                </a:solidFill>
                <a:latin typeface="Arial"/>
              </a:defRPr>
            </a:pPr>
            <a:r>
              <a:t>make, model: String</a:t>
            </a:r>
          </a:p>
          <a:p>
            <a:pPr>
              <a:lnSpc>
                <a:spcPct val="112000"/>
              </a:lnSpc>
              <a:spcBef>
                <a:spcPts val="0"/>
              </a:spcBef>
              <a:spcAft>
                <a:spcPts val="0"/>
              </a:spcAft>
              <a:defRPr sz="1900" b="0">
                <a:solidFill>
                  <a:srgbClr val="22272D"/>
                </a:solidFill>
                <a:latin typeface="Arial"/>
              </a:defRPr>
            </a:pPr>
            <a:r>
              <a:t>year: int</a:t>
            </a:r>
          </a:p>
          <a:p>
            <a:pPr>
              <a:lnSpc>
                <a:spcPct val="112000"/>
              </a:lnSpc>
              <a:spcBef>
                <a:spcPts val="0"/>
              </a:spcBef>
              <a:spcAft>
                <a:spcPts val="0"/>
              </a:spcAft>
              <a:defRPr sz="1900" b="0">
                <a:solidFill>
                  <a:srgbClr val="22272D"/>
                </a:solidFill>
                <a:latin typeface="Arial"/>
              </a:defRPr>
            </a:pPr>
            <a:r>
              <a:t>mileage: int</a:t>
            </a:r>
          </a:p>
        </p:txBody>
      </p:sp>
      <p:sp>
        <p:nvSpPr>
          <p:cNvPr id="9" name="Rounded Rectangle 8"/>
          <p:cNvSpPr/>
          <p:nvPr/>
        </p:nvSpPr>
        <p:spPr>
          <a:xfrm>
            <a:off x="7004304" y="1618488"/>
            <a:ext cx="4050791" cy="557784"/>
          </a:xfrm>
          <a:prstGeom prst="roundRect">
            <a:avLst>
              <a:gd name="adj" fmla="val 9000"/>
            </a:avLst>
          </a:prstGeom>
          <a:solidFill>
            <a:srgbClr val="E7EE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168896" y="1719072"/>
            <a:ext cx="3712463" cy="356616"/>
          </a:xfrm>
          <a:prstGeom prst="rect">
            <a:avLst/>
          </a:prstGeom>
          <a:noFill/>
        </p:spPr>
        <p:txBody>
          <a:bodyPr wrap="square" lIns="36576" tIns="27432" rIns="36576" bIns="27432" anchor="ctr">
            <a:spAutoFit/>
          </a:bodyPr>
          <a:lstStyle/>
          <a:p>
            <a:pPr>
              <a:lnSpc>
                <a:spcPct val="112000"/>
              </a:lnSpc>
              <a:spcBef>
                <a:spcPts val="0"/>
              </a:spcBef>
              <a:spcAft>
                <a:spcPts val="0"/>
              </a:spcAft>
              <a:defRPr sz="2200" b="1">
                <a:solidFill>
                  <a:srgbClr val="1A3048"/>
                </a:solidFill>
                <a:latin typeface="Arial"/>
              </a:defRPr>
            </a:pPr>
            <a:r>
              <a:t>ServiceRecord</a:t>
            </a:r>
          </a:p>
        </p:txBody>
      </p:sp>
      <p:sp>
        <p:nvSpPr>
          <p:cNvPr id="11" name="TextBox 10"/>
          <p:cNvSpPr txBox="1"/>
          <p:nvPr/>
        </p:nvSpPr>
        <p:spPr>
          <a:xfrm>
            <a:off x="7223760" y="2386584"/>
            <a:ext cx="3566160" cy="1984248"/>
          </a:xfrm>
          <a:prstGeom prst="rect">
            <a:avLst/>
          </a:prstGeom>
          <a:noFill/>
        </p:spPr>
        <p:txBody>
          <a:bodyPr wrap="square" lIns="36576" tIns="27432" rIns="36576" bIns="27432" anchor="ctr">
            <a:spAutoFit/>
          </a:bodyPr>
          <a:lstStyle/>
          <a:p>
            <a:pPr>
              <a:lnSpc>
                <a:spcPct val="112000"/>
              </a:lnSpc>
              <a:spcBef>
                <a:spcPts val="0"/>
              </a:spcBef>
              <a:spcAft>
                <a:spcPts val="0"/>
              </a:spcAft>
              <a:defRPr sz="1800" b="0">
                <a:solidFill>
                  <a:srgbClr val="22272D"/>
                </a:solidFill>
                <a:latin typeface="Arial"/>
              </a:defRPr>
            </a:pPr>
            <a:r>
              <a:t>id: int (PK)</a:t>
            </a:r>
          </a:p>
          <a:p>
            <a:pPr>
              <a:lnSpc>
                <a:spcPct val="112000"/>
              </a:lnSpc>
              <a:spcBef>
                <a:spcPts val="0"/>
              </a:spcBef>
              <a:spcAft>
                <a:spcPts val="0"/>
              </a:spcAft>
              <a:defRPr sz="1800" b="0">
                <a:solidFill>
                  <a:srgbClr val="22272D"/>
                </a:solidFill>
                <a:latin typeface="Arial"/>
              </a:defRPr>
            </a:pPr>
            <a:r>
              <a:t>vehicle_id: int (FK)</a:t>
            </a:r>
          </a:p>
          <a:p>
            <a:pPr>
              <a:lnSpc>
                <a:spcPct val="112000"/>
              </a:lnSpc>
              <a:spcBef>
                <a:spcPts val="0"/>
              </a:spcBef>
              <a:spcAft>
                <a:spcPts val="0"/>
              </a:spcAft>
              <a:defRPr sz="1800" b="0">
                <a:solidFill>
                  <a:srgbClr val="22272D"/>
                </a:solidFill>
                <a:latin typeface="Arial"/>
              </a:defRPr>
            </a:pPr>
            <a:r>
              <a:t>service_type, date, notes</a:t>
            </a:r>
          </a:p>
          <a:p>
            <a:pPr>
              <a:lnSpc>
                <a:spcPct val="112000"/>
              </a:lnSpc>
              <a:spcBef>
                <a:spcPts val="0"/>
              </a:spcBef>
              <a:spcAft>
                <a:spcPts val="0"/>
              </a:spcAft>
              <a:defRPr sz="1800" b="0">
                <a:solidFill>
                  <a:srgbClr val="22272D"/>
                </a:solidFill>
                <a:latin typeface="Arial"/>
              </a:defRPr>
            </a:pPr>
            <a:r>
              <a:t>mileage: int; cost: double</a:t>
            </a:r>
          </a:p>
        </p:txBody>
      </p:sp>
      <p:cxnSp>
        <p:nvCxnSpPr>
          <p:cNvPr id="12" name="Connector 11"/>
          <p:cNvCxnSpPr/>
          <p:nvPr/>
        </p:nvCxnSpPr>
        <p:spPr>
          <a:xfrm>
            <a:off x="4809744" y="2852928"/>
            <a:ext cx="2167128" cy="0"/>
          </a:xfrm>
          <a:prstGeom prst="line">
            <a:avLst/>
          </a:prstGeom>
          <a:ln w="30480">
            <a:solidFill>
              <a:srgbClr val="355B87"/>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4956048" y="2395728"/>
            <a:ext cx="1792224" cy="365760"/>
          </a:xfrm>
          <a:prstGeom prst="rect">
            <a:avLst/>
          </a:prstGeom>
          <a:noFill/>
        </p:spPr>
        <p:txBody>
          <a:bodyPr wrap="square" lIns="36576" tIns="27432" rIns="36576" bIns="27432" anchor="ctr">
            <a:spAutoFit/>
          </a:bodyPr>
          <a:lstStyle/>
          <a:p>
            <a:pPr algn="ctr">
              <a:lnSpc>
                <a:spcPct val="112000"/>
              </a:lnSpc>
              <a:spcBef>
                <a:spcPts val="0"/>
              </a:spcBef>
              <a:spcAft>
                <a:spcPts val="0"/>
              </a:spcAft>
              <a:defRPr sz="1600" b="1">
                <a:solidFill>
                  <a:srgbClr val="355B87"/>
                </a:solidFill>
                <a:latin typeface="Arial"/>
              </a:defRPr>
            </a:pPr>
            <a:r>
              <a:t>1 → many</a:t>
            </a:r>
          </a:p>
        </p:txBody>
      </p:sp>
      <p:sp>
        <p:nvSpPr>
          <p:cNvPr id="14" name="Rounded Rectangle 13"/>
          <p:cNvSpPr/>
          <p:nvPr/>
        </p:nvSpPr>
        <p:spPr>
          <a:xfrm>
            <a:off x="923544" y="4864608"/>
            <a:ext cx="10131552" cy="786384"/>
          </a:xfrm>
          <a:prstGeom prst="roundRect">
            <a:avLst>
              <a:gd name="adj" fmla="val 9000"/>
            </a:avLst>
          </a:prstGeom>
          <a:solidFill>
            <a:srgbClr val="F5F8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188720" y="5029200"/>
            <a:ext cx="9738360" cy="457200"/>
          </a:xfrm>
          <a:prstGeom prst="rect">
            <a:avLst/>
          </a:prstGeom>
          <a:noFill/>
        </p:spPr>
        <p:txBody>
          <a:bodyPr wrap="square" lIns="36576" tIns="27432" rIns="36576" bIns="27432" anchor="ctr">
            <a:spAutoFit/>
          </a:bodyPr>
          <a:lstStyle/>
          <a:p>
            <a:pPr>
              <a:lnSpc>
                <a:spcPct val="112000"/>
              </a:lnSpc>
              <a:spcBef>
                <a:spcPts val="0"/>
              </a:spcBef>
              <a:spcAft>
                <a:spcPts val="0"/>
              </a:spcAft>
              <a:defRPr sz="1800" b="0">
                <a:solidFill>
                  <a:srgbClr val="22272D"/>
                </a:solidFill>
                <a:latin typeface="Arial"/>
              </a:defRPr>
            </a:pPr>
            <a:r>
              <a:t>DatabaseHelper provides SQL CRUD methods. Deleting a vehicle cascades to its related services.</a:t>
            </a:r>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BFC"/>
        </a:solidFill>
        <a:effectLst/>
      </p:bgPr>
    </p:bg>
    <p:spTree>
      <p:nvGrpSpPr>
        <p:cNvPr id="1" name=""/>
        <p:cNvGrpSpPr/>
        <p:nvPr/>
      </p:nvGrpSpPr>
      <p:grpSpPr>
        <a:xfrm>
          <a:off x="0" y="0"/>
          <a:ext cx="0" cy="0"/>
          <a:chOff x="0" y="0"/>
          <a:chExt cx="0" cy="0"/>
        </a:xfrm>
      </p:grpSpPr>
      <p:sp>
        <p:nvSpPr>
          <p:cNvPr id="2" name="TextBox 1"/>
          <p:cNvSpPr txBox="1"/>
          <p:nvPr/>
        </p:nvSpPr>
        <p:spPr>
          <a:xfrm>
            <a:off x="667512" y="365760"/>
            <a:ext cx="10972800" cy="548640"/>
          </a:xfrm>
          <a:prstGeom prst="rect">
            <a:avLst/>
          </a:prstGeom>
          <a:noFill/>
        </p:spPr>
        <p:txBody>
          <a:bodyPr wrap="square" lIns="36576" tIns="27432" rIns="36576" bIns="27432" anchor="ctr">
            <a:spAutoFit/>
          </a:bodyPr>
          <a:lstStyle/>
          <a:p>
            <a:pPr>
              <a:lnSpc>
                <a:spcPct val="112000"/>
              </a:lnSpc>
              <a:spcBef>
                <a:spcPts val="0"/>
              </a:spcBef>
              <a:spcAft>
                <a:spcPts val="0"/>
              </a:spcAft>
              <a:defRPr sz="3000" b="1">
                <a:solidFill>
                  <a:srgbClr val="1A3048"/>
                </a:solidFill>
                <a:latin typeface="Arial"/>
              </a:defRPr>
            </a:pPr>
            <a:r>
              <a:t>How records are stored — SQLite</a:t>
            </a:r>
          </a:p>
        </p:txBody>
      </p:sp>
      <p:cxnSp>
        <p:nvCxnSpPr>
          <p:cNvPr id="3" name="Connector 2"/>
          <p:cNvCxnSpPr/>
          <p:nvPr/>
        </p:nvCxnSpPr>
        <p:spPr>
          <a:xfrm>
            <a:off x="694944" y="1069848"/>
            <a:ext cx="10799064" cy="0"/>
          </a:xfrm>
          <a:prstGeom prst="line">
            <a:avLst/>
          </a:prstGeom>
          <a:ln w="12700">
            <a:solidFill>
              <a:srgbClr val="D5DDE6"/>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841248" y="1508760"/>
            <a:ext cx="10515600" cy="4343400"/>
          </a:xfrm>
          <a:prstGeom prst="roundRect">
            <a:avLst>
              <a:gd name="adj" fmla="val 9000"/>
            </a:avLst>
          </a:prstGeom>
          <a:solidFill>
            <a:srgbClr val="F2F5F9"/>
          </a:solidFill>
          <a:ln w="10160">
            <a:solidFill>
              <a:srgbClr val="D5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60704" y="1709928"/>
            <a:ext cx="10076688" cy="3959352"/>
          </a:xfrm>
          <a:prstGeom prst="rect">
            <a:avLst/>
          </a:prstGeom>
          <a:noFill/>
        </p:spPr>
        <p:txBody>
          <a:bodyPr wrap="square" lIns="36576" tIns="27432" rIns="36576" bIns="27432" anchor="t">
            <a:spAutoFit/>
          </a:bodyPr>
          <a:lstStyle/>
          <a:p>
            <a:pPr>
              <a:lnSpc>
                <a:spcPct val="112000"/>
              </a:lnSpc>
              <a:spcBef>
                <a:spcPts val="0"/>
              </a:spcBef>
              <a:spcAft>
                <a:spcPts val="0"/>
              </a:spcAft>
              <a:defRPr sz="1600" b="0">
                <a:solidFill>
                  <a:srgbClr val="22272D"/>
                </a:solidFill>
                <a:latin typeface="Consolas"/>
              </a:defRPr>
            </a:pPr>
            <a:r>
              <a:rPr dirty="0"/>
              <a:t>await </a:t>
            </a:r>
            <a:r>
              <a:rPr dirty="0" err="1"/>
              <a:t>db.execute</a:t>
            </a:r>
            <a:r>
              <a:rPr dirty="0"/>
              <a:t>('''</a:t>
            </a:r>
          </a:p>
          <a:p>
            <a:pPr>
              <a:lnSpc>
                <a:spcPct val="112000"/>
              </a:lnSpc>
              <a:spcBef>
                <a:spcPts val="0"/>
              </a:spcBef>
              <a:spcAft>
                <a:spcPts val="0"/>
              </a:spcAft>
              <a:defRPr sz="1600" b="0">
                <a:solidFill>
                  <a:srgbClr val="22272D"/>
                </a:solidFill>
                <a:latin typeface="Consolas"/>
              </a:defRPr>
            </a:pPr>
            <a:r>
              <a:rPr dirty="0"/>
              <a:t>  CREATE TABLE services (</a:t>
            </a:r>
          </a:p>
          <a:p>
            <a:pPr>
              <a:lnSpc>
                <a:spcPct val="112000"/>
              </a:lnSpc>
              <a:spcBef>
                <a:spcPts val="0"/>
              </a:spcBef>
              <a:spcAft>
                <a:spcPts val="0"/>
              </a:spcAft>
              <a:defRPr sz="1600" b="0">
                <a:solidFill>
                  <a:srgbClr val="22272D"/>
                </a:solidFill>
                <a:latin typeface="Consolas"/>
              </a:defRPr>
            </a:pPr>
            <a:r>
              <a:rPr dirty="0"/>
              <a:t>    id INTEGER PRIMARY KEY AUTOINCREMENT,</a:t>
            </a:r>
          </a:p>
          <a:p>
            <a:pPr>
              <a:lnSpc>
                <a:spcPct val="112000"/>
              </a:lnSpc>
              <a:spcBef>
                <a:spcPts val="0"/>
              </a:spcBef>
              <a:spcAft>
                <a:spcPts val="0"/>
              </a:spcAft>
              <a:defRPr sz="1600" b="0">
                <a:solidFill>
                  <a:srgbClr val="22272D"/>
                </a:solidFill>
                <a:latin typeface="Consolas"/>
              </a:defRPr>
            </a:pPr>
            <a:r>
              <a:rPr dirty="0"/>
              <a:t>    </a:t>
            </a:r>
            <a:r>
              <a:rPr dirty="0" err="1"/>
              <a:t>vehicle_id</a:t>
            </a:r>
            <a:r>
              <a:rPr dirty="0"/>
              <a:t> INTEGER NOT NULL,</a:t>
            </a:r>
          </a:p>
          <a:p>
            <a:pPr>
              <a:lnSpc>
                <a:spcPct val="112000"/>
              </a:lnSpc>
              <a:spcBef>
                <a:spcPts val="0"/>
              </a:spcBef>
              <a:spcAft>
                <a:spcPts val="0"/>
              </a:spcAft>
              <a:defRPr sz="1600" b="0">
                <a:solidFill>
                  <a:srgbClr val="22272D"/>
                </a:solidFill>
                <a:latin typeface="Consolas"/>
              </a:defRPr>
            </a:pPr>
            <a:r>
              <a:rPr dirty="0"/>
              <a:t>    </a:t>
            </a:r>
            <a:r>
              <a:rPr dirty="0" err="1"/>
              <a:t>service_type</a:t>
            </a:r>
            <a:r>
              <a:rPr dirty="0"/>
              <a:t> TEXT NOT NULL,</a:t>
            </a:r>
          </a:p>
          <a:p>
            <a:pPr>
              <a:lnSpc>
                <a:spcPct val="112000"/>
              </a:lnSpc>
              <a:spcBef>
                <a:spcPts val="0"/>
              </a:spcBef>
              <a:spcAft>
                <a:spcPts val="0"/>
              </a:spcAft>
              <a:defRPr sz="1600" b="0">
                <a:solidFill>
                  <a:srgbClr val="22272D"/>
                </a:solidFill>
                <a:latin typeface="Consolas"/>
              </a:defRPr>
            </a:pPr>
            <a:r>
              <a:rPr dirty="0"/>
              <a:t>    mileage INTEGER NOT NULL,</a:t>
            </a:r>
          </a:p>
          <a:p>
            <a:pPr>
              <a:lnSpc>
                <a:spcPct val="112000"/>
              </a:lnSpc>
              <a:spcBef>
                <a:spcPts val="0"/>
              </a:spcBef>
              <a:spcAft>
                <a:spcPts val="0"/>
              </a:spcAft>
              <a:defRPr sz="1600" b="0">
                <a:solidFill>
                  <a:srgbClr val="22272D"/>
                </a:solidFill>
                <a:latin typeface="Consolas"/>
              </a:defRPr>
            </a:pPr>
            <a:r>
              <a:rPr dirty="0"/>
              <a:t>    cost REAL NOT NULL DEFAULT 0,</a:t>
            </a:r>
          </a:p>
          <a:p>
            <a:pPr>
              <a:lnSpc>
                <a:spcPct val="112000"/>
              </a:lnSpc>
              <a:spcBef>
                <a:spcPts val="0"/>
              </a:spcBef>
              <a:spcAft>
                <a:spcPts val="0"/>
              </a:spcAft>
              <a:defRPr sz="1600" b="0">
                <a:solidFill>
                  <a:srgbClr val="22272D"/>
                </a:solidFill>
                <a:latin typeface="Consolas"/>
              </a:defRPr>
            </a:pPr>
            <a:r>
              <a:rPr dirty="0"/>
              <a:t>    </a:t>
            </a:r>
            <a:r>
              <a:rPr dirty="0" err="1"/>
              <a:t>service_date</a:t>
            </a:r>
            <a:r>
              <a:rPr dirty="0"/>
              <a:t> TEXT NOT NULL,</a:t>
            </a:r>
          </a:p>
          <a:p>
            <a:pPr>
              <a:lnSpc>
                <a:spcPct val="112000"/>
              </a:lnSpc>
              <a:spcBef>
                <a:spcPts val="0"/>
              </a:spcBef>
              <a:spcAft>
                <a:spcPts val="0"/>
              </a:spcAft>
              <a:defRPr sz="1600" b="0">
                <a:solidFill>
                  <a:srgbClr val="22272D"/>
                </a:solidFill>
                <a:latin typeface="Consolas"/>
              </a:defRPr>
            </a:pPr>
            <a:r>
              <a:rPr dirty="0"/>
              <a:t>    notes TEXT NOT NULL DEFAULT '',</a:t>
            </a:r>
          </a:p>
          <a:p>
            <a:pPr>
              <a:lnSpc>
                <a:spcPct val="112000"/>
              </a:lnSpc>
              <a:spcBef>
                <a:spcPts val="0"/>
              </a:spcBef>
              <a:spcAft>
                <a:spcPts val="0"/>
              </a:spcAft>
              <a:defRPr sz="1600" b="0">
                <a:solidFill>
                  <a:srgbClr val="22272D"/>
                </a:solidFill>
                <a:latin typeface="Consolas"/>
              </a:defRPr>
            </a:pPr>
            <a:r>
              <a:rPr dirty="0"/>
              <a:t>    FOREIGN KEY (</a:t>
            </a:r>
            <a:r>
              <a:rPr dirty="0" err="1"/>
              <a:t>vehicle_id</a:t>
            </a:r>
            <a:r>
              <a:rPr dirty="0"/>
              <a:t>)</a:t>
            </a:r>
          </a:p>
          <a:p>
            <a:pPr>
              <a:lnSpc>
                <a:spcPct val="112000"/>
              </a:lnSpc>
              <a:spcBef>
                <a:spcPts val="0"/>
              </a:spcBef>
              <a:spcAft>
                <a:spcPts val="0"/>
              </a:spcAft>
              <a:defRPr sz="1600" b="0">
                <a:solidFill>
                  <a:srgbClr val="22272D"/>
                </a:solidFill>
                <a:latin typeface="Consolas"/>
              </a:defRPr>
            </a:pPr>
            <a:r>
              <a:rPr dirty="0"/>
              <a:t>      REFERENCES vehicles(id) ON DELETE CASCADE</a:t>
            </a:r>
          </a:p>
          <a:p>
            <a:pPr>
              <a:lnSpc>
                <a:spcPct val="112000"/>
              </a:lnSpc>
              <a:spcBef>
                <a:spcPts val="0"/>
              </a:spcBef>
              <a:spcAft>
                <a:spcPts val="0"/>
              </a:spcAft>
              <a:defRPr sz="1600" b="0">
                <a:solidFill>
                  <a:srgbClr val="22272D"/>
                </a:solidFill>
                <a:latin typeface="Consolas"/>
              </a:defRPr>
            </a:pPr>
            <a:r>
              <a:rPr dirty="0"/>
              <a:t>  )</a:t>
            </a:r>
          </a:p>
          <a:p>
            <a:pPr>
              <a:lnSpc>
                <a:spcPct val="112000"/>
              </a:lnSpc>
              <a:spcBef>
                <a:spcPts val="0"/>
              </a:spcBef>
              <a:spcAft>
                <a:spcPts val="0"/>
              </a:spcAft>
              <a:defRPr sz="1600" b="0">
                <a:solidFill>
                  <a:srgbClr val="22272D"/>
                </a:solidFill>
                <a:latin typeface="Consolas"/>
              </a:defRPr>
            </a:pPr>
            <a:r>
              <a:rPr dirty="0"/>
              <a:t>''');</a:t>
            </a:r>
          </a:p>
        </p:txBody>
      </p:sp>
      <p:sp>
        <p:nvSpPr>
          <p:cNvPr id="6" name="TextBox 5"/>
          <p:cNvSpPr txBox="1"/>
          <p:nvPr/>
        </p:nvSpPr>
        <p:spPr>
          <a:xfrm>
            <a:off x="841248" y="5961888"/>
            <a:ext cx="10515600" cy="320040"/>
          </a:xfrm>
          <a:prstGeom prst="rect">
            <a:avLst/>
          </a:prstGeom>
          <a:noFill/>
        </p:spPr>
        <p:txBody>
          <a:bodyPr wrap="square" lIns="36576" tIns="27432" rIns="36576" bIns="27432" anchor="ctr">
            <a:spAutoFit/>
          </a:bodyPr>
          <a:lstStyle/>
          <a:p>
            <a:pPr>
              <a:lnSpc>
                <a:spcPct val="112000"/>
              </a:lnSpc>
              <a:spcBef>
                <a:spcPts val="0"/>
              </a:spcBef>
              <a:spcAft>
                <a:spcPts val="0"/>
              </a:spcAft>
              <a:defRPr sz="1300" b="0">
                <a:solidFill>
                  <a:srgbClr val="5C646E"/>
                </a:solidFill>
                <a:latin typeface="Arial"/>
              </a:defRPr>
            </a:pPr>
            <a:r>
              <a:t>Source: lib/database_helper.dart   •   SQLite version 2 with migration from the original vehicles table</a:t>
            </a:r>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BFC"/>
        </a:solidFill>
        <a:effectLst/>
      </p:bgPr>
    </p:bg>
    <p:spTree>
      <p:nvGrpSpPr>
        <p:cNvPr id="1" name=""/>
        <p:cNvGrpSpPr/>
        <p:nvPr/>
      </p:nvGrpSpPr>
      <p:grpSpPr>
        <a:xfrm>
          <a:off x="0" y="0"/>
          <a:ext cx="0" cy="0"/>
          <a:chOff x="0" y="0"/>
          <a:chExt cx="0" cy="0"/>
        </a:xfrm>
      </p:grpSpPr>
      <p:sp>
        <p:nvSpPr>
          <p:cNvPr id="2" name="TextBox 1"/>
          <p:cNvSpPr txBox="1"/>
          <p:nvPr/>
        </p:nvSpPr>
        <p:spPr>
          <a:xfrm>
            <a:off x="667512" y="365760"/>
            <a:ext cx="10972800" cy="548640"/>
          </a:xfrm>
          <a:prstGeom prst="rect">
            <a:avLst/>
          </a:prstGeom>
          <a:noFill/>
        </p:spPr>
        <p:txBody>
          <a:bodyPr wrap="square" lIns="36576" tIns="27432" rIns="36576" bIns="27432" anchor="ctr">
            <a:spAutoFit/>
          </a:bodyPr>
          <a:lstStyle/>
          <a:p>
            <a:pPr>
              <a:lnSpc>
                <a:spcPct val="112000"/>
              </a:lnSpc>
              <a:spcBef>
                <a:spcPts val="0"/>
              </a:spcBef>
              <a:spcAft>
                <a:spcPts val="0"/>
              </a:spcAft>
              <a:defRPr sz="3000" b="1">
                <a:solidFill>
                  <a:srgbClr val="1A3048"/>
                </a:solidFill>
                <a:latin typeface="Arial"/>
              </a:defRPr>
            </a:pPr>
            <a:r>
              <a:t>Database writes and safety checks</a:t>
            </a:r>
          </a:p>
        </p:txBody>
      </p:sp>
      <p:cxnSp>
        <p:nvCxnSpPr>
          <p:cNvPr id="3" name="Connector 2"/>
          <p:cNvCxnSpPr/>
          <p:nvPr/>
        </p:nvCxnSpPr>
        <p:spPr>
          <a:xfrm>
            <a:off x="694944" y="1069848"/>
            <a:ext cx="10799064" cy="0"/>
          </a:xfrm>
          <a:prstGeom prst="line">
            <a:avLst/>
          </a:prstGeom>
          <a:ln w="12700">
            <a:solidFill>
              <a:srgbClr val="D5DDE6"/>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841248" y="1618488"/>
            <a:ext cx="6537960" cy="4133087"/>
          </a:xfrm>
          <a:prstGeom prst="roundRect">
            <a:avLst>
              <a:gd name="adj" fmla="val 9000"/>
            </a:avLst>
          </a:prstGeom>
          <a:solidFill>
            <a:srgbClr val="F2F5F9"/>
          </a:solidFill>
          <a:ln w="10160">
            <a:solidFill>
              <a:srgbClr val="D5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60704" y="1819656"/>
            <a:ext cx="6099048" cy="3749039"/>
          </a:xfrm>
          <a:prstGeom prst="rect">
            <a:avLst/>
          </a:prstGeom>
          <a:noFill/>
        </p:spPr>
        <p:txBody>
          <a:bodyPr wrap="square" lIns="36576" tIns="27432" rIns="36576" bIns="27432" anchor="t">
            <a:spAutoFit/>
          </a:bodyPr>
          <a:lstStyle/>
          <a:p>
            <a:pPr>
              <a:lnSpc>
                <a:spcPct val="112000"/>
              </a:lnSpc>
              <a:spcBef>
                <a:spcPts val="0"/>
              </a:spcBef>
              <a:spcAft>
                <a:spcPts val="0"/>
              </a:spcAft>
              <a:defRPr sz="1800" b="0">
                <a:solidFill>
                  <a:srgbClr val="22272D"/>
                </a:solidFill>
                <a:latin typeface="Consolas"/>
              </a:defRPr>
            </a:pPr>
            <a:r>
              <a:t>return db.update(</a:t>
            </a:r>
          </a:p>
          <a:p>
            <a:pPr>
              <a:lnSpc>
                <a:spcPct val="112000"/>
              </a:lnSpc>
              <a:spcBef>
                <a:spcPts val="0"/>
              </a:spcBef>
              <a:spcAft>
                <a:spcPts val="0"/>
              </a:spcAft>
              <a:defRPr sz="1800" b="0">
                <a:solidFill>
                  <a:srgbClr val="22272D"/>
                </a:solidFill>
                <a:latin typeface="Consolas"/>
              </a:defRPr>
            </a:pPr>
            <a:r>
              <a:t>  'vehicles',</a:t>
            </a:r>
          </a:p>
          <a:p>
            <a:pPr>
              <a:lnSpc>
                <a:spcPct val="112000"/>
              </a:lnSpc>
              <a:spcBef>
                <a:spcPts val="0"/>
              </a:spcBef>
              <a:spcAft>
                <a:spcPts val="0"/>
              </a:spcAft>
              <a:defRPr sz="1800" b="0">
                <a:solidFill>
                  <a:srgbClr val="22272D"/>
                </a:solidFill>
                <a:latin typeface="Consolas"/>
              </a:defRPr>
            </a:pPr>
            <a:r>
              <a:t>  {</a:t>
            </a:r>
          </a:p>
          <a:p>
            <a:pPr>
              <a:lnSpc>
                <a:spcPct val="112000"/>
              </a:lnSpc>
              <a:spcBef>
                <a:spcPts val="0"/>
              </a:spcBef>
              <a:spcAft>
                <a:spcPts val="0"/>
              </a:spcAft>
              <a:defRPr sz="1800" b="0">
                <a:solidFill>
                  <a:srgbClr val="22272D"/>
                </a:solidFill>
                <a:latin typeface="Consolas"/>
              </a:defRPr>
            </a:pPr>
            <a:r>
              <a:t>    'make': make,</a:t>
            </a:r>
          </a:p>
          <a:p>
            <a:pPr>
              <a:lnSpc>
                <a:spcPct val="112000"/>
              </a:lnSpc>
              <a:spcBef>
                <a:spcPts val="0"/>
              </a:spcBef>
              <a:spcAft>
                <a:spcPts val="0"/>
              </a:spcAft>
              <a:defRPr sz="1800" b="0">
                <a:solidFill>
                  <a:srgbClr val="22272D"/>
                </a:solidFill>
                <a:latin typeface="Consolas"/>
              </a:defRPr>
            </a:pPr>
            <a:r>
              <a:t>    'model': model,</a:t>
            </a:r>
          </a:p>
          <a:p>
            <a:pPr>
              <a:lnSpc>
                <a:spcPct val="112000"/>
              </a:lnSpc>
              <a:spcBef>
                <a:spcPts val="0"/>
              </a:spcBef>
              <a:spcAft>
                <a:spcPts val="0"/>
              </a:spcAft>
              <a:defRPr sz="1800" b="0">
                <a:solidFill>
                  <a:srgbClr val="22272D"/>
                </a:solidFill>
                <a:latin typeface="Consolas"/>
              </a:defRPr>
            </a:pPr>
            <a:r>
              <a:t>    'year': year,</a:t>
            </a:r>
          </a:p>
          <a:p>
            <a:pPr>
              <a:lnSpc>
                <a:spcPct val="112000"/>
              </a:lnSpc>
              <a:spcBef>
                <a:spcPts val="0"/>
              </a:spcBef>
              <a:spcAft>
                <a:spcPts val="0"/>
              </a:spcAft>
              <a:defRPr sz="1800" b="0">
                <a:solidFill>
                  <a:srgbClr val="22272D"/>
                </a:solidFill>
                <a:latin typeface="Consolas"/>
              </a:defRPr>
            </a:pPr>
            <a:r>
              <a:t>    'mileage': mileage,</a:t>
            </a:r>
          </a:p>
          <a:p>
            <a:pPr>
              <a:lnSpc>
                <a:spcPct val="112000"/>
              </a:lnSpc>
              <a:spcBef>
                <a:spcPts val="0"/>
              </a:spcBef>
              <a:spcAft>
                <a:spcPts val="0"/>
              </a:spcAft>
              <a:defRPr sz="1800" b="0">
                <a:solidFill>
                  <a:srgbClr val="22272D"/>
                </a:solidFill>
                <a:latin typeface="Consolas"/>
              </a:defRPr>
            </a:pPr>
            <a:r>
              <a:t>  },</a:t>
            </a:r>
          </a:p>
          <a:p>
            <a:pPr>
              <a:lnSpc>
                <a:spcPct val="112000"/>
              </a:lnSpc>
              <a:spcBef>
                <a:spcPts val="0"/>
              </a:spcBef>
              <a:spcAft>
                <a:spcPts val="0"/>
              </a:spcAft>
              <a:defRPr sz="1800" b="0">
                <a:solidFill>
                  <a:srgbClr val="22272D"/>
                </a:solidFill>
                <a:latin typeface="Consolas"/>
              </a:defRPr>
            </a:pPr>
            <a:r>
              <a:t>  where: 'id = ?',</a:t>
            </a:r>
          </a:p>
          <a:p>
            <a:pPr>
              <a:lnSpc>
                <a:spcPct val="112000"/>
              </a:lnSpc>
              <a:spcBef>
                <a:spcPts val="0"/>
              </a:spcBef>
              <a:spcAft>
                <a:spcPts val="0"/>
              </a:spcAft>
              <a:defRPr sz="1800" b="0">
                <a:solidFill>
                  <a:srgbClr val="22272D"/>
                </a:solidFill>
                <a:latin typeface="Consolas"/>
              </a:defRPr>
            </a:pPr>
            <a:r>
              <a:t>  whereArgs: [id],</a:t>
            </a:r>
          </a:p>
          <a:p>
            <a:pPr>
              <a:lnSpc>
                <a:spcPct val="112000"/>
              </a:lnSpc>
              <a:spcBef>
                <a:spcPts val="0"/>
              </a:spcBef>
              <a:spcAft>
                <a:spcPts val="0"/>
              </a:spcAft>
              <a:defRPr sz="1800" b="0">
                <a:solidFill>
                  <a:srgbClr val="22272D"/>
                </a:solidFill>
                <a:latin typeface="Consolas"/>
              </a:defRPr>
            </a:pPr>
            <a:r>
              <a:t>);</a:t>
            </a:r>
          </a:p>
        </p:txBody>
      </p:sp>
      <p:sp>
        <p:nvSpPr>
          <p:cNvPr id="6" name="TextBox 5"/>
          <p:cNvSpPr txBox="1"/>
          <p:nvPr/>
        </p:nvSpPr>
        <p:spPr>
          <a:xfrm>
            <a:off x="7772400" y="1773936"/>
            <a:ext cx="3474720" cy="457200"/>
          </a:xfrm>
          <a:prstGeom prst="rect">
            <a:avLst/>
          </a:prstGeom>
          <a:noFill/>
        </p:spPr>
        <p:txBody>
          <a:bodyPr wrap="square" lIns="36576" tIns="27432" rIns="36576" bIns="27432" anchor="ctr">
            <a:spAutoFit/>
          </a:bodyPr>
          <a:lstStyle/>
          <a:p>
            <a:pPr>
              <a:lnSpc>
                <a:spcPct val="112000"/>
              </a:lnSpc>
              <a:spcBef>
                <a:spcPts val="0"/>
              </a:spcBef>
              <a:spcAft>
                <a:spcPts val="0"/>
              </a:spcAft>
              <a:defRPr sz="2200" b="1">
                <a:solidFill>
                  <a:srgbClr val="1A3048"/>
                </a:solidFill>
                <a:latin typeface="Arial"/>
              </a:defRPr>
            </a:pPr>
            <a:r>
              <a:t>Why this matters</a:t>
            </a:r>
          </a:p>
        </p:txBody>
      </p:sp>
      <p:sp>
        <p:nvSpPr>
          <p:cNvPr id="7" name="TextBox 6"/>
          <p:cNvSpPr txBox="1"/>
          <p:nvPr/>
        </p:nvSpPr>
        <p:spPr>
          <a:xfrm>
            <a:off x="7726679" y="2487168"/>
            <a:ext cx="3639312" cy="676656"/>
          </a:xfrm>
          <a:prstGeom prst="rect">
            <a:avLst/>
          </a:prstGeom>
          <a:noFill/>
        </p:spPr>
        <p:txBody>
          <a:bodyPr wrap="square" lIns="36576" tIns="27432" rIns="36576" bIns="27432" anchor="ctr">
            <a:spAutoFit/>
          </a:bodyPr>
          <a:lstStyle/>
          <a:p>
            <a:pPr>
              <a:lnSpc>
                <a:spcPct val="112000"/>
              </a:lnSpc>
              <a:spcBef>
                <a:spcPts val="0"/>
              </a:spcBef>
              <a:spcAft>
                <a:spcPts val="0"/>
              </a:spcAft>
              <a:defRPr sz="1800" b="0">
                <a:solidFill>
                  <a:srgbClr val="22272D"/>
                </a:solidFill>
                <a:latin typeface="Arial"/>
              </a:defRPr>
            </a:pPr>
            <a:r>
              <a:t>•  Update one vehicle by ID.</a:t>
            </a:r>
          </a:p>
        </p:txBody>
      </p:sp>
      <p:sp>
        <p:nvSpPr>
          <p:cNvPr id="8" name="TextBox 7"/>
          <p:cNvSpPr txBox="1"/>
          <p:nvPr/>
        </p:nvSpPr>
        <p:spPr>
          <a:xfrm>
            <a:off x="7726679" y="3218688"/>
            <a:ext cx="3639312" cy="676656"/>
          </a:xfrm>
          <a:prstGeom prst="rect">
            <a:avLst/>
          </a:prstGeom>
          <a:noFill/>
        </p:spPr>
        <p:txBody>
          <a:bodyPr wrap="square" lIns="36576" tIns="27432" rIns="36576" bIns="27432" anchor="ctr">
            <a:spAutoFit/>
          </a:bodyPr>
          <a:lstStyle/>
          <a:p>
            <a:pPr>
              <a:lnSpc>
                <a:spcPct val="112000"/>
              </a:lnSpc>
              <a:spcBef>
                <a:spcPts val="0"/>
              </a:spcBef>
              <a:spcAft>
                <a:spcPts val="0"/>
              </a:spcAft>
              <a:defRPr sz="1800" b="0">
                <a:solidFill>
                  <a:srgbClr val="22272D"/>
                </a:solidFill>
                <a:latin typeface="Arial"/>
              </a:defRPr>
            </a:pPr>
            <a:r>
              <a:t>•  Values are passed as arguments.</a:t>
            </a:r>
          </a:p>
        </p:txBody>
      </p:sp>
      <p:sp>
        <p:nvSpPr>
          <p:cNvPr id="9" name="TextBox 8"/>
          <p:cNvSpPr txBox="1"/>
          <p:nvPr/>
        </p:nvSpPr>
        <p:spPr>
          <a:xfrm>
            <a:off x="7726679" y="3950208"/>
            <a:ext cx="3639312" cy="676656"/>
          </a:xfrm>
          <a:prstGeom prst="rect">
            <a:avLst/>
          </a:prstGeom>
          <a:noFill/>
        </p:spPr>
        <p:txBody>
          <a:bodyPr wrap="square" lIns="36576" tIns="27432" rIns="36576" bIns="27432" anchor="ctr">
            <a:spAutoFit/>
          </a:bodyPr>
          <a:lstStyle/>
          <a:p>
            <a:pPr>
              <a:lnSpc>
                <a:spcPct val="112000"/>
              </a:lnSpc>
              <a:spcBef>
                <a:spcPts val="0"/>
              </a:spcBef>
              <a:spcAft>
                <a:spcPts val="0"/>
              </a:spcAft>
              <a:defRPr sz="1800" b="0">
                <a:solidFill>
                  <a:srgbClr val="22272D"/>
                </a:solidFill>
                <a:latin typeface="Arial"/>
              </a:defRPr>
            </a:pPr>
            <a:r>
              <a:t>•  After saving, the list reloads.</a:t>
            </a:r>
          </a:p>
        </p:txBody>
      </p:sp>
      <p:sp>
        <p:nvSpPr>
          <p:cNvPr id="10" name="TextBox 9"/>
          <p:cNvSpPr txBox="1"/>
          <p:nvPr/>
        </p:nvSpPr>
        <p:spPr>
          <a:xfrm>
            <a:off x="7726679" y="4681728"/>
            <a:ext cx="3639312" cy="676656"/>
          </a:xfrm>
          <a:prstGeom prst="rect">
            <a:avLst/>
          </a:prstGeom>
          <a:noFill/>
        </p:spPr>
        <p:txBody>
          <a:bodyPr wrap="square" lIns="36576" tIns="27432" rIns="36576" bIns="27432" anchor="ctr">
            <a:spAutoFit/>
          </a:bodyPr>
          <a:lstStyle/>
          <a:p>
            <a:pPr>
              <a:lnSpc>
                <a:spcPct val="112000"/>
              </a:lnSpc>
              <a:spcBef>
                <a:spcPts val="0"/>
              </a:spcBef>
              <a:spcAft>
                <a:spcPts val="0"/>
              </a:spcAft>
              <a:defRPr sz="1800" b="0">
                <a:solidFill>
                  <a:srgbClr val="22272D"/>
                </a:solidFill>
                <a:latin typeface="Arial"/>
              </a:defRPr>
            </a:pPr>
            <a:r>
              <a:t>•  Errors show a message instead of silently failing.</a:t>
            </a:r>
          </a:p>
        </p:txBody>
      </p:sp>
      <p:sp>
        <p:nvSpPr>
          <p:cNvPr id="11" name="TextBox 10"/>
          <p:cNvSpPr txBox="1"/>
          <p:nvPr/>
        </p:nvSpPr>
        <p:spPr>
          <a:xfrm>
            <a:off x="905256" y="5961888"/>
            <a:ext cx="8503920" cy="274320"/>
          </a:xfrm>
          <a:prstGeom prst="rect">
            <a:avLst/>
          </a:prstGeom>
          <a:noFill/>
        </p:spPr>
        <p:txBody>
          <a:bodyPr wrap="square" lIns="36576" tIns="27432" rIns="36576" bIns="27432" anchor="ctr">
            <a:spAutoFit/>
          </a:bodyPr>
          <a:lstStyle/>
          <a:p>
            <a:pPr>
              <a:lnSpc>
                <a:spcPct val="112000"/>
              </a:lnSpc>
              <a:spcBef>
                <a:spcPts val="0"/>
              </a:spcBef>
              <a:spcAft>
                <a:spcPts val="0"/>
              </a:spcAft>
              <a:defRPr sz="1400" b="0">
                <a:solidFill>
                  <a:srgbClr val="5C646E"/>
                </a:solidFill>
                <a:latin typeface="Arial"/>
              </a:defRPr>
            </a:pPr>
            <a:r>
              <a:t>From lib/database_helper.dart: updateVehicle()</a:t>
            </a:r>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FBFC"/>
        </a:solidFill>
        <a:effectLst/>
      </p:bgPr>
    </p:bg>
    <p:spTree>
      <p:nvGrpSpPr>
        <p:cNvPr id="1" name=""/>
        <p:cNvGrpSpPr/>
        <p:nvPr/>
      </p:nvGrpSpPr>
      <p:grpSpPr>
        <a:xfrm>
          <a:off x="0" y="0"/>
          <a:ext cx="0" cy="0"/>
          <a:chOff x="0" y="0"/>
          <a:chExt cx="0" cy="0"/>
        </a:xfrm>
      </p:grpSpPr>
      <p:sp>
        <p:nvSpPr>
          <p:cNvPr id="2" name="TextBox 1"/>
          <p:cNvSpPr txBox="1"/>
          <p:nvPr/>
        </p:nvSpPr>
        <p:spPr>
          <a:xfrm>
            <a:off x="667512" y="365760"/>
            <a:ext cx="10972800" cy="548640"/>
          </a:xfrm>
          <a:prstGeom prst="rect">
            <a:avLst/>
          </a:prstGeom>
          <a:noFill/>
        </p:spPr>
        <p:txBody>
          <a:bodyPr wrap="square" lIns="36576" tIns="27432" rIns="36576" bIns="27432" anchor="ctr">
            <a:spAutoFit/>
          </a:bodyPr>
          <a:lstStyle/>
          <a:p>
            <a:pPr>
              <a:lnSpc>
                <a:spcPct val="112000"/>
              </a:lnSpc>
              <a:spcBef>
                <a:spcPts val="0"/>
              </a:spcBef>
              <a:spcAft>
                <a:spcPts val="0"/>
              </a:spcAft>
              <a:defRPr sz="3000" b="1">
                <a:solidFill>
                  <a:srgbClr val="1A3048"/>
                </a:solidFill>
                <a:latin typeface="Arial"/>
              </a:defRPr>
            </a:pPr>
            <a:r>
              <a:t>Flutter structure and state</a:t>
            </a:r>
          </a:p>
        </p:txBody>
      </p:sp>
      <p:cxnSp>
        <p:nvCxnSpPr>
          <p:cNvPr id="3" name="Connector 2"/>
          <p:cNvCxnSpPr/>
          <p:nvPr/>
        </p:nvCxnSpPr>
        <p:spPr>
          <a:xfrm>
            <a:off x="694944" y="1069848"/>
            <a:ext cx="10799064" cy="0"/>
          </a:xfrm>
          <a:prstGeom prst="line">
            <a:avLst/>
          </a:prstGeom>
          <a:ln w="12700">
            <a:solidFill>
              <a:srgbClr val="D5DDE6"/>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859536" y="1563624"/>
            <a:ext cx="3200400" cy="3401568"/>
          </a:xfrm>
          <a:prstGeom prst="roundRect">
            <a:avLst>
              <a:gd name="adj" fmla="val 9000"/>
            </a:avLst>
          </a:prstGeom>
          <a:solidFill>
            <a:srgbClr val="FFFFFF"/>
          </a:solidFill>
          <a:ln w="10160">
            <a:solidFill>
              <a:srgbClr val="D5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471416" y="1563624"/>
            <a:ext cx="3200400" cy="3401568"/>
          </a:xfrm>
          <a:prstGeom prst="roundRect">
            <a:avLst>
              <a:gd name="adj" fmla="val 9000"/>
            </a:avLst>
          </a:prstGeom>
          <a:solidFill>
            <a:srgbClr val="FFFFFF"/>
          </a:solidFill>
          <a:ln w="10160">
            <a:solidFill>
              <a:srgbClr val="D5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8083296" y="1563624"/>
            <a:ext cx="3200400" cy="3401568"/>
          </a:xfrm>
          <a:prstGeom prst="roundRect">
            <a:avLst>
              <a:gd name="adj" fmla="val 9000"/>
            </a:avLst>
          </a:prstGeom>
          <a:solidFill>
            <a:srgbClr val="FFFFFF"/>
          </a:solidFill>
          <a:ln w="10160">
            <a:solidFill>
              <a:srgbClr val="D5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51560" y="1901952"/>
            <a:ext cx="2816352" cy="484632"/>
          </a:xfrm>
          <a:prstGeom prst="rect">
            <a:avLst/>
          </a:prstGeom>
          <a:noFill/>
        </p:spPr>
        <p:txBody>
          <a:bodyPr wrap="square" lIns="36576" tIns="27432" rIns="36576" bIns="27432" anchor="ctr">
            <a:spAutoFit/>
          </a:bodyPr>
          <a:lstStyle/>
          <a:p>
            <a:pPr algn="ctr">
              <a:lnSpc>
                <a:spcPct val="112000"/>
              </a:lnSpc>
              <a:spcBef>
                <a:spcPts val="0"/>
              </a:spcBef>
              <a:spcAft>
                <a:spcPts val="0"/>
              </a:spcAft>
              <a:defRPr sz="2100" b="1">
                <a:solidFill>
                  <a:srgbClr val="1A3048"/>
                </a:solidFill>
                <a:latin typeface="Arial"/>
              </a:defRPr>
            </a:pPr>
            <a:r>
              <a:t>AppNavigation</a:t>
            </a:r>
          </a:p>
        </p:txBody>
      </p:sp>
      <p:sp>
        <p:nvSpPr>
          <p:cNvPr id="8" name="TextBox 7"/>
          <p:cNvSpPr txBox="1"/>
          <p:nvPr/>
        </p:nvSpPr>
        <p:spPr>
          <a:xfrm>
            <a:off x="1115568" y="2642616"/>
            <a:ext cx="2688336" cy="1709928"/>
          </a:xfrm>
          <a:prstGeom prst="rect">
            <a:avLst/>
          </a:prstGeom>
          <a:noFill/>
        </p:spPr>
        <p:txBody>
          <a:bodyPr wrap="square" lIns="36576" tIns="27432" rIns="36576" bIns="27432" anchor="ctr">
            <a:spAutoFit/>
          </a:bodyPr>
          <a:lstStyle/>
          <a:p>
            <a:pPr algn="ctr">
              <a:lnSpc>
                <a:spcPct val="112000"/>
              </a:lnSpc>
              <a:spcBef>
                <a:spcPts val="0"/>
              </a:spcBef>
              <a:spcAft>
                <a:spcPts val="0"/>
              </a:spcAft>
              <a:defRPr sz="1800" b="0">
                <a:solidFill>
                  <a:srgbClr val="22272D"/>
                </a:solidFill>
                <a:latin typeface="Arial"/>
              </a:defRPr>
            </a:pPr>
            <a:r>
              <a:t>StatefulWidget</a:t>
            </a:r>
          </a:p>
          <a:p>
            <a:pPr algn="ctr">
              <a:lnSpc>
                <a:spcPct val="112000"/>
              </a:lnSpc>
              <a:spcBef>
                <a:spcPts val="0"/>
              </a:spcBef>
              <a:spcAft>
                <a:spcPts val="0"/>
              </a:spcAft>
              <a:defRPr sz="1800" b="0">
                <a:solidFill>
                  <a:srgbClr val="22272D"/>
                </a:solidFill>
                <a:latin typeface="Arial"/>
              </a:defRPr>
            </a:pPr>
            <a:r>
              <a:t>selectedIndex changes as tabs change</a:t>
            </a:r>
          </a:p>
        </p:txBody>
      </p:sp>
      <p:sp>
        <p:nvSpPr>
          <p:cNvPr id="9" name="TextBox 8"/>
          <p:cNvSpPr txBox="1"/>
          <p:nvPr/>
        </p:nvSpPr>
        <p:spPr>
          <a:xfrm>
            <a:off x="4663440" y="1901952"/>
            <a:ext cx="2816352" cy="484632"/>
          </a:xfrm>
          <a:prstGeom prst="rect">
            <a:avLst/>
          </a:prstGeom>
          <a:noFill/>
        </p:spPr>
        <p:txBody>
          <a:bodyPr wrap="square" lIns="36576" tIns="27432" rIns="36576" bIns="27432" anchor="ctr">
            <a:spAutoFit/>
          </a:bodyPr>
          <a:lstStyle/>
          <a:p>
            <a:pPr algn="ctr">
              <a:lnSpc>
                <a:spcPct val="112000"/>
              </a:lnSpc>
              <a:spcBef>
                <a:spcPts val="0"/>
              </a:spcBef>
              <a:spcAft>
                <a:spcPts val="0"/>
              </a:spcAft>
              <a:defRPr sz="2100" b="1">
                <a:solidFill>
                  <a:srgbClr val="1A3048"/>
                </a:solidFill>
                <a:latin typeface="Arial"/>
              </a:defRPr>
            </a:pPr>
            <a:r>
              <a:t>Screens</a:t>
            </a:r>
          </a:p>
        </p:txBody>
      </p:sp>
      <p:sp>
        <p:nvSpPr>
          <p:cNvPr id="10" name="TextBox 9"/>
          <p:cNvSpPr txBox="1"/>
          <p:nvPr/>
        </p:nvSpPr>
        <p:spPr>
          <a:xfrm>
            <a:off x="4727448" y="2642616"/>
            <a:ext cx="2688336" cy="1709928"/>
          </a:xfrm>
          <a:prstGeom prst="rect">
            <a:avLst/>
          </a:prstGeom>
          <a:noFill/>
        </p:spPr>
        <p:txBody>
          <a:bodyPr wrap="square" lIns="36576" tIns="27432" rIns="36576" bIns="27432" anchor="ctr">
            <a:spAutoFit/>
          </a:bodyPr>
          <a:lstStyle/>
          <a:p>
            <a:pPr algn="ctr">
              <a:lnSpc>
                <a:spcPct val="112000"/>
              </a:lnSpc>
              <a:spcBef>
                <a:spcPts val="0"/>
              </a:spcBef>
              <a:spcAft>
                <a:spcPts val="0"/>
              </a:spcAft>
              <a:defRPr sz="1800" b="0">
                <a:solidFill>
                  <a:srgbClr val="22272D"/>
                </a:solidFill>
                <a:latin typeface="Arial"/>
              </a:defRPr>
            </a:pPr>
            <a:r>
              <a:t>Separate widgets for Home, Vehicles, Services, Planner and Settings</a:t>
            </a:r>
          </a:p>
        </p:txBody>
      </p:sp>
      <p:sp>
        <p:nvSpPr>
          <p:cNvPr id="11" name="TextBox 10"/>
          <p:cNvSpPr txBox="1"/>
          <p:nvPr/>
        </p:nvSpPr>
        <p:spPr>
          <a:xfrm>
            <a:off x="8275320" y="1901952"/>
            <a:ext cx="2816352" cy="484632"/>
          </a:xfrm>
          <a:prstGeom prst="rect">
            <a:avLst/>
          </a:prstGeom>
          <a:noFill/>
        </p:spPr>
        <p:txBody>
          <a:bodyPr wrap="square" lIns="36576" tIns="27432" rIns="36576" bIns="27432" anchor="ctr">
            <a:spAutoFit/>
          </a:bodyPr>
          <a:lstStyle/>
          <a:p>
            <a:pPr algn="ctr">
              <a:lnSpc>
                <a:spcPct val="112000"/>
              </a:lnSpc>
              <a:spcBef>
                <a:spcPts val="0"/>
              </a:spcBef>
              <a:spcAft>
                <a:spcPts val="0"/>
              </a:spcAft>
              <a:defRPr sz="2100" b="1">
                <a:solidFill>
                  <a:srgbClr val="1A3048"/>
                </a:solidFill>
                <a:latin typeface="Arial"/>
              </a:defRPr>
            </a:pPr>
            <a:r>
              <a:t>AppSettings</a:t>
            </a:r>
          </a:p>
        </p:txBody>
      </p:sp>
      <p:sp>
        <p:nvSpPr>
          <p:cNvPr id="12" name="TextBox 11"/>
          <p:cNvSpPr txBox="1"/>
          <p:nvPr/>
        </p:nvSpPr>
        <p:spPr>
          <a:xfrm>
            <a:off x="8339327" y="2642616"/>
            <a:ext cx="2688336" cy="1709928"/>
          </a:xfrm>
          <a:prstGeom prst="rect">
            <a:avLst/>
          </a:prstGeom>
          <a:noFill/>
        </p:spPr>
        <p:txBody>
          <a:bodyPr wrap="square" lIns="36576" tIns="27432" rIns="36576" bIns="27432" anchor="ctr">
            <a:spAutoFit/>
          </a:bodyPr>
          <a:lstStyle/>
          <a:p>
            <a:pPr algn="ctr">
              <a:lnSpc>
                <a:spcPct val="112000"/>
              </a:lnSpc>
              <a:spcBef>
                <a:spcPts val="0"/>
              </a:spcBef>
              <a:spcAft>
                <a:spcPts val="0"/>
              </a:spcAft>
              <a:defRPr sz="1800" b="0">
                <a:solidFill>
                  <a:srgbClr val="22272D"/>
                </a:solidFill>
                <a:latin typeface="Arial"/>
              </a:defRPr>
            </a:pPr>
            <a:r>
              <a:t>ChangeNotifier</a:t>
            </a:r>
          </a:p>
          <a:p>
            <a:pPr algn="ctr">
              <a:lnSpc>
                <a:spcPct val="112000"/>
              </a:lnSpc>
              <a:spcBef>
                <a:spcPts val="0"/>
              </a:spcBef>
              <a:spcAft>
                <a:spcPts val="0"/>
              </a:spcAft>
              <a:defRPr sz="1800" b="0">
                <a:solidFill>
                  <a:srgbClr val="22272D"/>
                </a:solidFill>
                <a:latin typeface="Arial"/>
              </a:defRPr>
            </a:pPr>
            <a:r>
              <a:t>Notifies the theme and settings screens</a:t>
            </a:r>
          </a:p>
        </p:txBody>
      </p:sp>
      <p:sp>
        <p:nvSpPr>
          <p:cNvPr id="13" name="TextBox 12"/>
          <p:cNvSpPr txBox="1"/>
          <p:nvPr/>
        </p:nvSpPr>
        <p:spPr>
          <a:xfrm>
            <a:off x="923544" y="5321808"/>
            <a:ext cx="10515600" cy="630936"/>
          </a:xfrm>
          <a:prstGeom prst="rect">
            <a:avLst/>
          </a:prstGeom>
          <a:noFill/>
        </p:spPr>
        <p:txBody>
          <a:bodyPr wrap="square" lIns="36576" tIns="27432" rIns="36576" bIns="27432" anchor="ctr">
            <a:spAutoFit/>
          </a:bodyPr>
          <a:lstStyle/>
          <a:p>
            <a:pPr>
              <a:lnSpc>
                <a:spcPct val="112000"/>
              </a:lnSpc>
              <a:spcBef>
                <a:spcPts val="0"/>
              </a:spcBef>
              <a:spcAft>
                <a:spcPts val="0"/>
              </a:spcAft>
              <a:defRPr sz="1800" b="0">
                <a:solidFill>
                  <a:srgbClr val="22272D"/>
                </a:solidFill>
                <a:latin typeface="Arial"/>
              </a:defRPr>
            </a:pPr>
            <a:r>
              <a:t>Forms use TextEditingController and dispose it after the dialog closes. SQLite data is reloaded after writes.</a:t>
            </a:r>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BFC"/>
        </a:solidFill>
        <a:effectLst/>
      </p:bgPr>
    </p:bg>
    <p:spTree>
      <p:nvGrpSpPr>
        <p:cNvPr id="1" name=""/>
        <p:cNvGrpSpPr/>
        <p:nvPr/>
      </p:nvGrpSpPr>
      <p:grpSpPr>
        <a:xfrm>
          <a:off x="0" y="0"/>
          <a:ext cx="0" cy="0"/>
          <a:chOff x="0" y="0"/>
          <a:chExt cx="0" cy="0"/>
        </a:xfrm>
      </p:grpSpPr>
      <p:sp>
        <p:nvSpPr>
          <p:cNvPr id="2" name="TextBox 1"/>
          <p:cNvSpPr txBox="1"/>
          <p:nvPr/>
        </p:nvSpPr>
        <p:spPr>
          <a:xfrm>
            <a:off x="667512" y="365760"/>
            <a:ext cx="10972800" cy="548640"/>
          </a:xfrm>
          <a:prstGeom prst="rect">
            <a:avLst/>
          </a:prstGeom>
          <a:noFill/>
        </p:spPr>
        <p:txBody>
          <a:bodyPr wrap="square" lIns="36576" tIns="27432" rIns="36576" bIns="27432" anchor="ctr">
            <a:spAutoFit/>
          </a:bodyPr>
          <a:lstStyle/>
          <a:p>
            <a:pPr>
              <a:lnSpc>
                <a:spcPct val="112000"/>
              </a:lnSpc>
              <a:spcBef>
                <a:spcPts val="0"/>
              </a:spcBef>
              <a:spcAft>
                <a:spcPts val="0"/>
              </a:spcAft>
              <a:defRPr sz="3000" b="1">
                <a:solidFill>
                  <a:srgbClr val="1A3048"/>
                </a:solidFill>
                <a:latin typeface="Arial"/>
              </a:defRPr>
            </a:pPr>
            <a:r>
              <a:t>Navigation code from main.dart</a:t>
            </a:r>
          </a:p>
        </p:txBody>
      </p:sp>
      <p:cxnSp>
        <p:nvCxnSpPr>
          <p:cNvPr id="3" name="Connector 2"/>
          <p:cNvCxnSpPr/>
          <p:nvPr/>
        </p:nvCxnSpPr>
        <p:spPr>
          <a:xfrm>
            <a:off x="694944" y="1069848"/>
            <a:ext cx="10799064" cy="0"/>
          </a:xfrm>
          <a:prstGeom prst="line">
            <a:avLst/>
          </a:prstGeom>
          <a:ln w="12700">
            <a:solidFill>
              <a:srgbClr val="D5DDE6"/>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841248" y="1508760"/>
            <a:ext cx="7726679" cy="4517136"/>
          </a:xfrm>
          <a:prstGeom prst="roundRect">
            <a:avLst>
              <a:gd name="adj" fmla="val 9000"/>
            </a:avLst>
          </a:prstGeom>
          <a:solidFill>
            <a:srgbClr val="F2F5F9"/>
          </a:solidFill>
          <a:ln w="10160">
            <a:solidFill>
              <a:srgbClr val="D5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60704" y="1709928"/>
            <a:ext cx="7287767" cy="4133088"/>
          </a:xfrm>
          <a:prstGeom prst="rect">
            <a:avLst/>
          </a:prstGeom>
          <a:noFill/>
        </p:spPr>
        <p:txBody>
          <a:bodyPr wrap="square" lIns="36576" tIns="27432" rIns="36576" bIns="27432" anchor="t">
            <a:spAutoFit/>
          </a:bodyPr>
          <a:lstStyle/>
          <a:p>
            <a:pPr>
              <a:lnSpc>
                <a:spcPct val="112000"/>
              </a:lnSpc>
              <a:spcBef>
                <a:spcPts val="0"/>
              </a:spcBef>
              <a:spcAft>
                <a:spcPts val="0"/>
              </a:spcAft>
              <a:defRPr sz="1900" b="0">
                <a:solidFill>
                  <a:srgbClr val="22272D"/>
                </a:solidFill>
                <a:latin typeface="Consolas"/>
              </a:defRPr>
            </a:pPr>
            <a:r>
              <a:t>body: IndexedStack(</a:t>
            </a:r>
          </a:p>
          <a:p>
            <a:pPr>
              <a:lnSpc>
                <a:spcPct val="112000"/>
              </a:lnSpc>
              <a:spcBef>
                <a:spcPts val="0"/>
              </a:spcBef>
              <a:spcAft>
                <a:spcPts val="0"/>
              </a:spcAft>
              <a:defRPr sz="1900" b="0">
                <a:solidFill>
                  <a:srgbClr val="22272D"/>
                </a:solidFill>
                <a:latin typeface="Consolas"/>
              </a:defRPr>
            </a:pPr>
            <a:r>
              <a:t>  index: selectedIndex,</a:t>
            </a:r>
          </a:p>
          <a:p>
            <a:pPr>
              <a:lnSpc>
                <a:spcPct val="112000"/>
              </a:lnSpc>
              <a:spcBef>
                <a:spcPts val="0"/>
              </a:spcBef>
              <a:spcAft>
                <a:spcPts val="0"/>
              </a:spcAft>
              <a:defRPr sz="1900" b="0">
                <a:solidFill>
                  <a:srgbClr val="22272D"/>
                </a:solidFill>
                <a:latin typeface="Consolas"/>
              </a:defRPr>
            </a:pPr>
            <a:r>
              <a:t>  children: pages,</a:t>
            </a:r>
          </a:p>
          <a:p>
            <a:pPr>
              <a:lnSpc>
                <a:spcPct val="112000"/>
              </a:lnSpc>
              <a:spcBef>
                <a:spcPts val="0"/>
              </a:spcBef>
              <a:spcAft>
                <a:spcPts val="0"/>
              </a:spcAft>
              <a:defRPr sz="1900" b="0">
                <a:solidFill>
                  <a:srgbClr val="22272D"/>
                </a:solidFill>
                <a:latin typeface="Consolas"/>
              </a:defRPr>
            </a:pPr>
            <a:r>
              <a:t>),</a:t>
            </a:r>
          </a:p>
          <a:p>
            <a:pPr>
              <a:lnSpc>
                <a:spcPct val="112000"/>
              </a:lnSpc>
              <a:spcBef>
                <a:spcPts val="0"/>
              </a:spcBef>
              <a:spcAft>
                <a:spcPts val="0"/>
              </a:spcAft>
              <a:defRPr sz="1900" b="0">
                <a:solidFill>
                  <a:srgbClr val="22272D"/>
                </a:solidFill>
                <a:latin typeface="Consolas"/>
              </a:defRPr>
            </a:pPr>
            <a:r>
              <a:t>bottomNavigationBar: NavigationBar(</a:t>
            </a:r>
          </a:p>
          <a:p>
            <a:pPr>
              <a:lnSpc>
                <a:spcPct val="112000"/>
              </a:lnSpc>
              <a:spcBef>
                <a:spcPts val="0"/>
              </a:spcBef>
              <a:spcAft>
                <a:spcPts val="0"/>
              </a:spcAft>
              <a:defRPr sz="1900" b="0">
                <a:solidFill>
                  <a:srgbClr val="22272D"/>
                </a:solidFill>
                <a:latin typeface="Consolas"/>
              </a:defRPr>
            </a:pPr>
            <a:r>
              <a:t>  selectedIndex: selectedIndex,</a:t>
            </a:r>
          </a:p>
          <a:p>
            <a:pPr>
              <a:lnSpc>
                <a:spcPct val="112000"/>
              </a:lnSpc>
              <a:spcBef>
                <a:spcPts val="0"/>
              </a:spcBef>
              <a:spcAft>
                <a:spcPts val="0"/>
              </a:spcAft>
              <a:defRPr sz="1900" b="0">
                <a:solidFill>
                  <a:srgbClr val="22272D"/>
                </a:solidFill>
                <a:latin typeface="Consolas"/>
              </a:defRPr>
            </a:pPr>
            <a:r>
              <a:t>  onDestinationSelected: (index) {</a:t>
            </a:r>
          </a:p>
          <a:p>
            <a:pPr>
              <a:lnSpc>
                <a:spcPct val="112000"/>
              </a:lnSpc>
              <a:spcBef>
                <a:spcPts val="0"/>
              </a:spcBef>
              <a:spcAft>
                <a:spcPts val="0"/>
              </a:spcAft>
              <a:defRPr sz="1900" b="0">
                <a:solidFill>
                  <a:srgbClr val="22272D"/>
                </a:solidFill>
                <a:latin typeface="Consolas"/>
              </a:defRPr>
            </a:pPr>
            <a:r>
              <a:t>    setState(() {</a:t>
            </a:r>
          </a:p>
          <a:p>
            <a:pPr>
              <a:lnSpc>
                <a:spcPct val="112000"/>
              </a:lnSpc>
              <a:spcBef>
                <a:spcPts val="0"/>
              </a:spcBef>
              <a:spcAft>
                <a:spcPts val="0"/>
              </a:spcAft>
              <a:defRPr sz="1900" b="0">
                <a:solidFill>
                  <a:srgbClr val="22272D"/>
                </a:solidFill>
                <a:latin typeface="Consolas"/>
              </a:defRPr>
            </a:pPr>
            <a:r>
              <a:t>      selectedIndex = index;</a:t>
            </a:r>
          </a:p>
          <a:p>
            <a:pPr>
              <a:lnSpc>
                <a:spcPct val="112000"/>
              </a:lnSpc>
              <a:spcBef>
                <a:spcPts val="0"/>
              </a:spcBef>
              <a:spcAft>
                <a:spcPts val="0"/>
              </a:spcAft>
              <a:defRPr sz="1900" b="0">
                <a:solidFill>
                  <a:srgbClr val="22272D"/>
                </a:solidFill>
                <a:latin typeface="Consolas"/>
              </a:defRPr>
            </a:pPr>
            <a:r>
              <a:t>    });</a:t>
            </a:r>
          </a:p>
          <a:p>
            <a:pPr>
              <a:lnSpc>
                <a:spcPct val="112000"/>
              </a:lnSpc>
              <a:spcBef>
                <a:spcPts val="0"/>
              </a:spcBef>
              <a:spcAft>
                <a:spcPts val="0"/>
              </a:spcAft>
              <a:defRPr sz="1900" b="0">
                <a:solidFill>
                  <a:srgbClr val="22272D"/>
                </a:solidFill>
                <a:latin typeface="Consolas"/>
              </a:defRPr>
            </a:pPr>
            <a:r>
              <a:t>  },</a:t>
            </a:r>
          </a:p>
          <a:p>
            <a:pPr>
              <a:lnSpc>
                <a:spcPct val="112000"/>
              </a:lnSpc>
              <a:spcBef>
                <a:spcPts val="0"/>
              </a:spcBef>
              <a:spcAft>
                <a:spcPts val="0"/>
              </a:spcAft>
              <a:defRPr sz="1900" b="0">
                <a:solidFill>
                  <a:srgbClr val="22272D"/>
                </a:solidFill>
                <a:latin typeface="Consolas"/>
              </a:defRPr>
            </a:pPr>
            <a:r>
              <a:t>),</a:t>
            </a:r>
          </a:p>
        </p:txBody>
      </p:sp>
      <p:sp>
        <p:nvSpPr>
          <p:cNvPr id="6" name="TextBox 5"/>
          <p:cNvSpPr txBox="1"/>
          <p:nvPr/>
        </p:nvSpPr>
        <p:spPr>
          <a:xfrm>
            <a:off x="8924827" y="1892807"/>
            <a:ext cx="2514600" cy="3383280"/>
          </a:xfrm>
          <a:prstGeom prst="rect">
            <a:avLst/>
          </a:prstGeom>
          <a:noFill/>
        </p:spPr>
        <p:txBody>
          <a:bodyPr wrap="square" lIns="36576" tIns="27432" rIns="36576" bIns="27432" anchor="ctr">
            <a:spAutoFit/>
          </a:bodyPr>
          <a:lstStyle/>
          <a:p>
            <a:pPr>
              <a:lnSpc>
                <a:spcPct val="112000"/>
              </a:lnSpc>
              <a:spcBef>
                <a:spcPts val="0"/>
              </a:spcBef>
              <a:spcAft>
                <a:spcPts val="0"/>
              </a:spcAft>
              <a:defRPr sz="1800" b="0">
                <a:solidFill>
                  <a:srgbClr val="22272D"/>
                </a:solidFill>
                <a:latin typeface="Arial"/>
              </a:defRPr>
            </a:pPr>
            <a:r>
              <a:t>setState() tells Flutter that the selected tab changed.</a:t>
            </a:r>
          </a:p>
          <a:p>
            <a:pPr>
              <a:lnSpc>
                <a:spcPct val="112000"/>
              </a:lnSpc>
              <a:spcBef>
                <a:spcPts val="0"/>
              </a:spcBef>
              <a:spcAft>
                <a:spcPts val="0"/>
              </a:spcAft>
              <a:defRPr sz="1800" b="0">
                <a:solidFill>
                  <a:srgbClr val="22272D"/>
                </a:solidFill>
                <a:latin typeface="Arial"/>
              </a:defRPr>
            </a:pPr>
            <a:endParaRPr/>
          </a:p>
          <a:p>
            <a:pPr>
              <a:lnSpc>
                <a:spcPct val="112000"/>
              </a:lnSpc>
              <a:spcBef>
                <a:spcPts val="0"/>
              </a:spcBef>
              <a:spcAft>
                <a:spcPts val="0"/>
              </a:spcAft>
              <a:defRPr sz="1800" b="0">
                <a:solidFill>
                  <a:srgbClr val="22272D"/>
                </a:solidFill>
                <a:latin typeface="Arial"/>
              </a:defRPr>
            </a:pPr>
            <a:r>
              <a:t>IndexedStack preserves each tab’s state.</a:t>
            </a:r>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AFBFC"/>
        </a:solidFill>
        <a:effectLst/>
      </p:bgPr>
    </p:bg>
    <p:spTree>
      <p:nvGrpSpPr>
        <p:cNvPr id="1" name=""/>
        <p:cNvGrpSpPr/>
        <p:nvPr/>
      </p:nvGrpSpPr>
      <p:grpSpPr>
        <a:xfrm>
          <a:off x="0" y="0"/>
          <a:ext cx="0" cy="0"/>
          <a:chOff x="0" y="0"/>
          <a:chExt cx="0" cy="0"/>
        </a:xfrm>
      </p:grpSpPr>
      <p:sp>
        <p:nvSpPr>
          <p:cNvPr id="2" name="TextBox 1"/>
          <p:cNvSpPr txBox="1"/>
          <p:nvPr/>
        </p:nvSpPr>
        <p:spPr>
          <a:xfrm>
            <a:off x="667512" y="365760"/>
            <a:ext cx="10972800" cy="548640"/>
          </a:xfrm>
          <a:prstGeom prst="rect">
            <a:avLst/>
          </a:prstGeom>
          <a:noFill/>
        </p:spPr>
        <p:txBody>
          <a:bodyPr wrap="square" lIns="36576" tIns="27432" rIns="36576" bIns="27432" anchor="ctr">
            <a:spAutoFit/>
          </a:bodyPr>
          <a:lstStyle/>
          <a:p>
            <a:pPr>
              <a:lnSpc>
                <a:spcPct val="112000"/>
              </a:lnSpc>
              <a:spcBef>
                <a:spcPts val="0"/>
              </a:spcBef>
              <a:spcAft>
                <a:spcPts val="0"/>
              </a:spcAft>
              <a:defRPr sz="3000" b="1">
                <a:solidFill>
                  <a:srgbClr val="1A3048"/>
                </a:solidFill>
                <a:latin typeface="Arial"/>
              </a:defRPr>
            </a:pPr>
            <a:r>
              <a:t>The maintenance calculation</a:t>
            </a:r>
          </a:p>
        </p:txBody>
      </p:sp>
      <p:cxnSp>
        <p:nvCxnSpPr>
          <p:cNvPr id="3" name="Connector 2"/>
          <p:cNvCxnSpPr/>
          <p:nvPr/>
        </p:nvCxnSpPr>
        <p:spPr>
          <a:xfrm>
            <a:off x="694944" y="1069848"/>
            <a:ext cx="10799064" cy="0"/>
          </a:xfrm>
          <a:prstGeom prst="line">
            <a:avLst/>
          </a:prstGeom>
          <a:ln w="12700">
            <a:solidFill>
              <a:srgbClr val="D5DDE6"/>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850392" y="1417320"/>
            <a:ext cx="10515600" cy="4846320"/>
          </a:xfrm>
          <a:prstGeom prst="roundRect">
            <a:avLst>
              <a:gd name="adj" fmla="val 9000"/>
            </a:avLst>
          </a:prstGeom>
          <a:solidFill>
            <a:srgbClr val="F2F5F9"/>
          </a:solidFill>
          <a:ln w="10160">
            <a:solidFill>
              <a:srgbClr val="D5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69848" y="1618488"/>
            <a:ext cx="10076688" cy="4462272"/>
          </a:xfrm>
          <a:prstGeom prst="rect">
            <a:avLst/>
          </a:prstGeom>
          <a:noFill/>
        </p:spPr>
        <p:txBody>
          <a:bodyPr wrap="square" lIns="36576" tIns="27432" rIns="36576" bIns="27432" anchor="t">
            <a:spAutoFit/>
          </a:bodyPr>
          <a:lstStyle/>
          <a:p>
            <a:pPr>
              <a:lnSpc>
                <a:spcPct val="112000"/>
              </a:lnSpc>
              <a:spcBef>
                <a:spcPts val="0"/>
              </a:spcBef>
              <a:spcAft>
                <a:spcPts val="0"/>
              </a:spcAft>
              <a:defRPr sz="1600" b="0">
                <a:solidFill>
                  <a:srgbClr val="22272D"/>
                </a:solidFill>
                <a:latin typeface="Consolas"/>
              </a:defRPr>
            </a:pPr>
            <a:r>
              <a:t>int? get nextMileage {</a:t>
            </a:r>
          </a:p>
          <a:p>
            <a:pPr>
              <a:lnSpc>
                <a:spcPct val="112000"/>
              </a:lnSpc>
              <a:spcBef>
                <a:spcPts val="0"/>
              </a:spcBef>
              <a:spcAft>
                <a:spcPts val="0"/>
              </a:spcAft>
              <a:defRPr sz="1600" b="0">
                <a:solidFill>
                  <a:srgbClr val="22272D"/>
                </a:solidFill>
                <a:latin typeface="Consolas"/>
              </a:defRPr>
            </a:pPr>
            <a:r>
              <a:t>  if (lastMileage == null) return null;</a:t>
            </a:r>
          </a:p>
          <a:p>
            <a:pPr>
              <a:lnSpc>
                <a:spcPct val="112000"/>
              </a:lnSpc>
              <a:spcBef>
                <a:spcPts val="0"/>
              </a:spcBef>
              <a:spcAft>
                <a:spcPts val="0"/>
              </a:spcAft>
              <a:defRPr sz="1600" b="0">
                <a:solidFill>
                  <a:srgbClr val="22272D"/>
                </a:solidFill>
                <a:latin typeface="Consolas"/>
              </a:defRPr>
            </a:pPr>
            <a:r>
              <a:t>  return lastMileage! + interval;</a:t>
            </a:r>
          </a:p>
          <a:p>
            <a:pPr>
              <a:lnSpc>
                <a:spcPct val="112000"/>
              </a:lnSpc>
              <a:spcBef>
                <a:spcPts val="0"/>
              </a:spcBef>
              <a:spcAft>
                <a:spcPts val="0"/>
              </a:spcAft>
              <a:defRPr sz="1600" b="0">
                <a:solidFill>
                  <a:srgbClr val="22272D"/>
                </a:solidFill>
                <a:latin typeface="Consolas"/>
              </a:defRPr>
            </a:pPr>
            <a:r>
              <a:t>}</a:t>
            </a:r>
          </a:p>
          <a:p>
            <a:pPr>
              <a:lnSpc>
                <a:spcPct val="112000"/>
              </a:lnSpc>
              <a:spcBef>
                <a:spcPts val="0"/>
              </a:spcBef>
              <a:spcAft>
                <a:spcPts val="0"/>
              </a:spcAft>
              <a:defRPr sz="1600" b="0">
                <a:solidFill>
                  <a:srgbClr val="22272D"/>
                </a:solidFill>
                <a:latin typeface="Consolas"/>
              </a:defRPr>
            </a:pPr>
            <a:endParaRPr/>
          </a:p>
          <a:p>
            <a:pPr>
              <a:lnSpc>
                <a:spcPct val="112000"/>
              </a:lnSpc>
              <a:spcBef>
                <a:spcPts val="0"/>
              </a:spcBef>
              <a:spcAft>
                <a:spcPts val="0"/>
              </a:spcAft>
              <a:defRPr sz="1600" b="0">
                <a:solidFill>
                  <a:srgbClr val="22272D"/>
                </a:solidFill>
                <a:latin typeface="Consolas"/>
              </a:defRPr>
            </a:pPr>
            <a:r>
              <a:t>int? get milesLeft {</a:t>
            </a:r>
          </a:p>
          <a:p>
            <a:pPr>
              <a:lnSpc>
                <a:spcPct val="112000"/>
              </a:lnSpc>
              <a:spcBef>
                <a:spcPts val="0"/>
              </a:spcBef>
              <a:spcAft>
                <a:spcPts val="0"/>
              </a:spcAft>
              <a:defRPr sz="1600" b="0">
                <a:solidFill>
                  <a:srgbClr val="22272D"/>
                </a:solidFill>
                <a:latin typeface="Consolas"/>
              </a:defRPr>
            </a:pPr>
            <a:r>
              <a:t>  if (nextMileage == null) return null;</a:t>
            </a:r>
          </a:p>
          <a:p>
            <a:pPr>
              <a:lnSpc>
                <a:spcPct val="112000"/>
              </a:lnSpc>
              <a:spcBef>
                <a:spcPts val="0"/>
              </a:spcBef>
              <a:spcAft>
                <a:spcPts val="0"/>
              </a:spcAft>
              <a:defRPr sz="1600" b="0">
                <a:solidFill>
                  <a:srgbClr val="22272D"/>
                </a:solidFill>
                <a:latin typeface="Consolas"/>
              </a:defRPr>
            </a:pPr>
            <a:r>
              <a:t>  return nextMileage! - currentMileage;</a:t>
            </a:r>
          </a:p>
          <a:p>
            <a:pPr>
              <a:lnSpc>
                <a:spcPct val="112000"/>
              </a:lnSpc>
              <a:spcBef>
                <a:spcPts val="0"/>
              </a:spcBef>
              <a:spcAft>
                <a:spcPts val="0"/>
              </a:spcAft>
              <a:defRPr sz="1600" b="0">
                <a:solidFill>
                  <a:srgbClr val="22272D"/>
                </a:solidFill>
                <a:latin typeface="Consolas"/>
              </a:defRPr>
            </a:pPr>
            <a:r>
              <a:t>}</a:t>
            </a:r>
          </a:p>
          <a:p>
            <a:pPr>
              <a:lnSpc>
                <a:spcPct val="112000"/>
              </a:lnSpc>
              <a:spcBef>
                <a:spcPts val="0"/>
              </a:spcBef>
              <a:spcAft>
                <a:spcPts val="0"/>
              </a:spcAft>
              <a:defRPr sz="1600" b="0">
                <a:solidFill>
                  <a:srgbClr val="22272D"/>
                </a:solidFill>
                <a:latin typeface="Consolas"/>
              </a:defRPr>
            </a:pPr>
            <a:endParaRPr/>
          </a:p>
          <a:p>
            <a:pPr>
              <a:lnSpc>
                <a:spcPct val="112000"/>
              </a:lnSpc>
              <a:spcBef>
                <a:spcPts val="0"/>
              </a:spcBef>
              <a:spcAft>
                <a:spcPts val="0"/>
              </a:spcAft>
              <a:defRPr sz="1600" b="0">
                <a:solidFill>
                  <a:srgbClr val="22272D"/>
                </a:solidFill>
                <a:latin typeface="Consolas"/>
              </a:defRPr>
            </a:pPr>
            <a:r>
              <a:t>String get status {</a:t>
            </a:r>
          </a:p>
          <a:p>
            <a:pPr>
              <a:lnSpc>
                <a:spcPct val="112000"/>
              </a:lnSpc>
              <a:spcBef>
                <a:spcPts val="0"/>
              </a:spcBef>
              <a:spcAft>
                <a:spcPts val="0"/>
              </a:spcAft>
              <a:defRPr sz="1600" b="0">
                <a:solidFill>
                  <a:srgbClr val="22272D"/>
                </a:solidFill>
                <a:latin typeface="Consolas"/>
              </a:defRPr>
            </a:pPr>
            <a:r>
              <a:t>  if (milesLeft == null) return 'Not enough service history';</a:t>
            </a:r>
          </a:p>
          <a:p>
            <a:pPr>
              <a:lnSpc>
                <a:spcPct val="112000"/>
              </a:lnSpc>
              <a:spcBef>
                <a:spcPts val="0"/>
              </a:spcBef>
              <a:spcAft>
                <a:spcPts val="0"/>
              </a:spcAft>
              <a:defRPr sz="1600" b="0">
                <a:solidFill>
                  <a:srgbClr val="22272D"/>
                </a:solidFill>
                <a:latin typeface="Consolas"/>
              </a:defRPr>
            </a:pPr>
            <a:r>
              <a:t>  if (milesLeft! &lt; 0) return 'Overdue';</a:t>
            </a:r>
          </a:p>
          <a:p>
            <a:pPr>
              <a:lnSpc>
                <a:spcPct val="112000"/>
              </a:lnSpc>
              <a:spcBef>
                <a:spcPts val="0"/>
              </a:spcBef>
              <a:spcAft>
                <a:spcPts val="0"/>
              </a:spcAft>
              <a:defRPr sz="1600" b="0">
                <a:solidFill>
                  <a:srgbClr val="22272D"/>
                </a:solidFill>
                <a:latin typeface="Consolas"/>
              </a:defRPr>
            </a:pPr>
            <a:r>
              <a:t>  if (milesLeft! &lt;= dueSoonMiles) return 'Due soon';</a:t>
            </a:r>
          </a:p>
          <a:p>
            <a:pPr>
              <a:lnSpc>
                <a:spcPct val="112000"/>
              </a:lnSpc>
              <a:spcBef>
                <a:spcPts val="0"/>
              </a:spcBef>
              <a:spcAft>
                <a:spcPts val="0"/>
              </a:spcAft>
              <a:defRPr sz="1600" b="0">
                <a:solidFill>
                  <a:srgbClr val="22272D"/>
                </a:solidFill>
                <a:latin typeface="Consolas"/>
              </a:defRPr>
            </a:pPr>
            <a:r>
              <a:t>  return 'Not due yet';</a:t>
            </a:r>
          </a:p>
          <a:p>
            <a:pPr>
              <a:lnSpc>
                <a:spcPct val="112000"/>
              </a:lnSpc>
              <a:spcBef>
                <a:spcPts val="0"/>
              </a:spcBef>
              <a:spcAft>
                <a:spcPts val="0"/>
              </a:spcAft>
              <a:defRPr sz="1600" b="0">
                <a:solidFill>
                  <a:srgbClr val="22272D"/>
                </a:solidFill>
                <a:latin typeface="Consolas"/>
              </a:defRPr>
            </a:pPr>
            <a:r>
              <a:t>}</a:t>
            </a:r>
          </a:p>
        </p:txBody>
      </p:sp>
      <p:sp>
        <p:nvSpPr>
          <p:cNvPr id="6" name="TextBox 5"/>
          <p:cNvSpPr txBox="1"/>
          <p:nvPr/>
        </p:nvSpPr>
        <p:spPr>
          <a:xfrm>
            <a:off x="850392" y="6373368"/>
            <a:ext cx="10515600" cy="320040"/>
          </a:xfrm>
          <a:prstGeom prst="rect">
            <a:avLst/>
          </a:prstGeom>
          <a:noFill/>
        </p:spPr>
        <p:txBody>
          <a:bodyPr wrap="square" lIns="36576" tIns="27432" rIns="36576" bIns="27432" anchor="ctr">
            <a:spAutoFit/>
          </a:bodyPr>
          <a:lstStyle/>
          <a:p>
            <a:pPr>
              <a:lnSpc>
                <a:spcPct val="112000"/>
              </a:lnSpc>
              <a:spcBef>
                <a:spcPts val="0"/>
              </a:spcBef>
              <a:spcAft>
                <a:spcPts val="0"/>
              </a:spcAft>
              <a:defRPr sz="1300" b="0">
                <a:solidFill>
                  <a:srgbClr val="5C646E"/>
                </a:solidFill>
                <a:latin typeface="Arial"/>
              </a:defRPr>
            </a:pPr>
            <a:r>
              <a:t>From lib/maintenance_planner.dart • the original calculation is separate from the UI</a:t>
            </a:r>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AFBFC"/>
        </a:solidFill>
        <a:effectLst/>
      </p:bgPr>
    </p:bg>
    <p:spTree>
      <p:nvGrpSpPr>
        <p:cNvPr id="1" name=""/>
        <p:cNvGrpSpPr/>
        <p:nvPr/>
      </p:nvGrpSpPr>
      <p:grpSpPr>
        <a:xfrm>
          <a:off x="0" y="0"/>
          <a:ext cx="0" cy="0"/>
          <a:chOff x="0" y="0"/>
          <a:chExt cx="0" cy="0"/>
        </a:xfrm>
      </p:grpSpPr>
      <p:sp>
        <p:nvSpPr>
          <p:cNvPr id="2" name="TextBox 1"/>
          <p:cNvSpPr txBox="1"/>
          <p:nvPr/>
        </p:nvSpPr>
        <p:spPr>
          <a:xfrm>
            <a:off x="667512" y="365760"/>
            <a:ext cx="10972800" cy="548640"/>
          </a:xfrm>
          <a:prstGeom prst="rect">
            <a:avLst/>
          </a:prstGeom>
          <a:noFill/>
        </p:spPr>
        <p:txBody>
          <a:bodyPr wrap="square" lIns="36576" tIns="27432" rIns="36576" bIns="27432" anchor="ctr">
            <a:spAutoFit/>
          </a:bodyPr>
          <a:lstStyle/>
          <a:p>
            <a:pPr>
              <a:lnSpc>
                <a:spcPct val="112000"/>
              </a:lnSpc>
              <a:spcBef>
                <a:spcPts val="0"/>
              </a:spcBef>
              <a:spcAft>
                <a:spcPts val="0"/>
              </a:spcAft>
              <a:defRPr sz="3000" b="1">
                <a:solidFill>
                  <a:srgbClr val="1A3048"/>
                </a:solidFill>
                <a:latin typeface="Arial"/>
              </a:defRPr>
            </a:pPr>
            <a:r>
              <a:t>Planner results with real records</a:t>
            </a:r>
          </a:p>
        </p:txBody>
      </p:sp>
      <p:cxnSp>
        <p:nvCxnSpPr>
          <p:cNvPr id="3" name="Connector 2"/>
          <p:cNvCxnSpPr/>
          <p:nvPr/>
        </p:nvCxnSpPr>
        <p:spPr>
          <a:xfrm>
            <a:off x="694944" y="1069848"/>
            <a:ext cx="10799064" cy="0"/>
          </a:xfrm>
          <a:prstGeom prst="line">
            <a:avLst/>
          </a:prstGeom>
          <a:ln w="12700">
            <a:solidFill>
              <a:srgbClr val="D5DDE6"/>
            </a:solidFill>
          </a:ln>
        </p:spPr>
        <p:style>
          <a:lnRef idx="2">
            <a:schemeClr val="accent1"/>
          </a:lnRef>
          <a:fillRef idx="0">
            <a:schemeClr val="accent1"/>
          </a:fillRef>
          <a:effectRef idx="1">
            <a:schemeClr val="accent1"/>
          </a:effectRef>
          <a:fontRef idx="minor">
            <a:schemeClr val="tx1"/>
          </a:fontRef>
        </p:style>
      </p:cxnSp>
      <p:pic>
        <p:nvPicPr>
          <p:cNvPr id="4" name="Picture 3" descr="T12_helper_normal.png"/>
          <p:cNvPicPr>
            <a:picLocks noChangeAspect="1"/>
          </p:cNvPicPr>
          <p:nvPr/>
        </p:nvPicPr>
        <p:blipFill>
          <a:blip r:embed="rId3"/>
          <a:stretch>
            <a:fillRect/>
          </a:stretch>
        </p:blipFill>
        <p:spPr>
          <a:xfrm>
            <a:off x="1242059" y="1399032"/>
            <a:ext cx="2261616" cy="4901184"/>
          </a:xfrm>
          <a:prstGeom prst="rect">
            <a:avLst/>
          </a:prstGeom>
        </p:spPr>
      </p:pic>
      <p:pic>
        <p:nvPicPr>
          <p:cNvPr id="5" name="Picture 4" descr="T14_helper_overdue.png"/>
          <p:cNvPicPr>
            <a:picLocks noChangeAspect="1"/>
          </p:cNvPicPr>
          <p:nvPr/>
        </p:nvPicPr>
        <p:blipFill>
          <a:blip r:embed="rId4"/>
          <a:stretch>
            <a:fillRect/>
          </a:stretch>
        </p:blipFill>
        <p:spPr>
          <a:xfrm>
            <a:off x="4447537" y="1399032"/>
            <a:ext cx="2288037" cy="4901184"/>
          </a:xfrm>
          <a:prstGeom prst="rect">
            <a:avLst/>
          </a:prstGeom>
        </p:spPr>
      </p:pic>
      <p:sp>
        <p:nvSpPr>
          <p:cNvPr id="6" name="TextBox 5"/>
          <p:cNvSpPr txBox="1"/>
          <p:nvPr/>
        </p:nvSpPr>
        <p:spPr>
          <a:xfrm>
            <a:off x="7498079" y="1828800"/>
            <a:ext cx="3657600" cy="512064"/>
          </a:xfrm>
          <a:prstGeom prst="rect">
            <a:avLst/>
          </a:prstGeom>
          <a:noFill/>
        </p:spPr>
        <p:txBody>
          <a:bodyPr wrap="square" lIns="36576" tIns="27432" rIns="36576" bIns="27432" anchor="ctr">
            <a:spAutoFit/>
          </a:bodyPr>
          <a:lstStyle/>
          <a:p>
            <a:pPr>
              <a:lnSpc>
                <a:spcPct val="112000"/>
              </a:lnSpc>
              <a:spcBef>
                <a:spcPts val="0"/>
              </a:spcBef>
              <a:spcAft>
                <a:spcPts val="0"/>
              </a:spcAft>
              <a:defRPr sz="2200" b="1">
                <a:solidFill>
                  <a:srgbClr val="1A3048"/>
                </a:solidFill>
                <a:latin typeface="Arial"/>
              </a:defRPr>
            </a:pPr>
            <a:r>
              <a:t>Oil change example</a:t>
            </a:r>
          </a:p>
        </p:txBody>
      </p:sp>
      <p:sp>
        <p:nvSpPr>
          <p:cNvPr id="7" name="TextBox 6"/>
          <p:cNvSpPr txBox="1"/>
          <p:nvPr/>
        </p:nvSpPr>
        <p:spPr>
          <a:xfrm>
            <a:off x="7461504" y="2651760"/>
            <a:ext cx="3520440" cy="1828800"/>
          </a:xfrm>
          <a:prstGeom prst="rect">
            <a:avLst/>
          </a:prstGeom>
          <a:noFill/>
        </p:spPr>
        <p:txBody>
          <a:bodyPr wrap="square" lIns="36576" tIns="27432" rIns="36576" bIns="27432" anchor="ctr">
            <a:spAutoFit/>
          </a:bodyPr>
          <a:lstStyle/>
          <a:p>
            <a:pPr>
              <a:lnSpc>
                <a:spcPct val="112000"/>
              </a:lnSpc>
              <a:spcBef>
                <a:spcPts val="0"/>
              </a:spcBef>
              <a:spcAft>
                <a:spcPts val="0"/>
              </a:spcAft>
              <a:defRPr sz="1800" b="0">
                <a:solidFill>
                  <a:srgbClr val="22272D"/>
                </a:solidFill>
                <a:latin typeface="Arial"/>
              </a:defRPr>
            </a:pPr>
            <a:r>
              <a:t>Last service: 50,000 mi</a:t>
            </a:r>
          </a:p>
          <a:p>
            <a:pPr>
              <a:lnSpc>
                <a:spcPct val="112000"/>
              </a:lnSpc>
              <a:spcBef>
                <a:spcPts val="0"/>
              </a:spcBef>
              <a:spcAft>
                <a:spcPts val="0"/>
              </a:spcAft>
              <a:defRPr sz="1800" b="0">
                <a:solidFill>
                  <a:srgbClr val="22272D"/>
                </a:solidFill>
                <a:latin typeface="Arial"/>
              </a:defRPr>
            </a:pPr>
            <a:r>
              <a:t>Due at: 55,000 mi</a:t>
            </a:r>
          </a:p>
          <a:p>
            <a:pPr>
              <a:lnSpc>
                <a:spcPct val="112000"/>
              </a:lnSpc>
              <a:spcBef>
                <a:spcPts val="0"/>
              </a:spcBef>
              <a:spcAft>
                <a:spcPts val="0"/>
              </a:spcAft>
              <a:defRPr sz="1800" b="0">
                <a:solidFill>
                  <a:srgbClr val="22272D"/>
                </a:solidFill>
                <a:latin typeface="Arial"/>
              </a:defRPr>
            </a:pPr>
            <a:r>
              <a:t>Current: 52,000 → 3,000 left</a:t>
            </a:r>
          </a:p>
          <a:p>
            <a:pPr>
              <a:lnSpc>
                <a:spcPct val="112000"/>
              </a:lnSpc>
              <a:spcBef>
                <a:spcPts val="0"/>
              </a:spcBef>
              <a:spcAft>
                <a:spcPts val="0"/>
              </a:spcAft>
              <a:defRPr sz="1800" b="0">
                <a:solidFill>
                  <a:srgbClr val="22272D"/>
                </a:solidFill>
                <a:latin typeface="Arial"/>
              </a:defRPr>
            </a:pPr>
            <a:r>
              <a:t>Current: 56,000 → 1,000 overdue</a:t>
            </a:r>
          </a:p>
        </p:txBody>
      </p:sp>
      <p:sp>
        <p:nvSpPr>
          <p:cNvPr id="8" name="TextBox 7"/>
          <p:cNvSpPr txBox="1"/>
          <p:nvPr/>
        </p:nvSpPr>
        <p:spPr>
          <a:xfrm>
            <a:off x="7488936" y="5120640"/>
            <a:ext cx="3429000" cy="758952"/>
          </a:xfrm>
          <a:prstGeom prst="rect">
            <a:avLst/>
          </a:prstGeom>
          <a:noFill/>
        </p:spPr>
        <p:txBody>
          <a:bodyPr wrap="square" lIns="36576" tIns="27432" rIns="36576" bIns="27432" anchor="ctr">
            <a:spAutoFit/>
          </a:bodyPr>
          <a:lstStyle/>
          <a:p>
            <a:pPr>
              <a:lnSpc>
                <a:spcPct val="112000"/>
              </a:lnSpc>
              <a:spcBef>
                <a:spcPts val="0"/>
              </a:spcBef>
              <a:spcAft>
                <a:spcPts val="0"/>
              </a:spcAft>
              <a:defRPr sz="1600" b="0">
                <a:solidFill>
                  <a:srgbClr val="5C646E"/>
                </a:solidFill>
                <a:latin typeface="Arial"/>
              </a:defRPr>
            </a:pPr>
            <a:r>
              <a:t>T12 normal case and T14 overdue case</a:t>
            </a:r>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AFBFC"/>
        </a:solidFill>
        <a:effectLst/>
      </p:bgPr>
    </p:bg>
    <p:spTree>
      <p:nvGrpSpPr>
        <p:cNvPr id="1" name=""/>
        <p:cNvGrpSpPr/>
        <p:nvPr/>
      </p:nvGrpSpPr>
      <p:grpSpPr>
        <a:xfrm>
          <a:off x="0" y="0"/>
          <a:ext cx="0" cy="0"/>
          <a:chOff x="0" y="0"/>
          <a:chExt cx="0" cy="0"/>
        </a:xfrm>
      </p:grpSpPr>
      <p:sp>
        <p:nvSpPr>
          <p:cNvPr id="2" name="TextBox 1"/>
          <p:cNvSpPr txBox="1"/>
          <p:nvPr/>
        </p:nvSpPr>
        <p:spPr>
          <a:xfrm>
            <a:off x="667512" y="365760"/>
            <a:ext cx="10972800" cy="548640"/>
          </a:xfrm>
          <a:prstGeom prst="rect">
            <a:avLst/>
          </a:prstGeom>
          <a:noFill/>
        </p:spPr>
        <p:txBody>
          <a:bodyPr wrap="square" lIns="36576" tIns="27432" rIns="36576" bIns="27432" anchor="ctr">
            <a:spAutoFit/>
          </a:bodyPr>
          <a:lstStyle/>
          <a:p>
            <a:pPr>
              <a:lnSpc>
                <a:spcPct val="112000"/>
              </a:lnSpc>
              <a:spcBef>
                <a:spcPts val="0"/>
              </a:spcBef>
              <a:spcAft>
                <a:spcPts val="0"/>
              </a:spcAft>
              <a:defRPr sz="3000" b="1">
                <a:solidFill>
                  <a:srgbClr val="1A3048"/>
                </a:solidFill>
                <a:latin typeface="Arial"/>
              </a:defRPr>
            </a:pPr>
            <a:r>
              <a:t>Required smart helper — how it works</a:t>
            </a:r>
          </a:p>
        </p:txBody>
      </p:sp>
      <p:cxnSp>
        <p:nvCxnSpPr>
          <p:cNvPr id="3" name="Connector 2"/>
          <p:cNvCxnSpPr/>
          <p:nvPr/>
        </p:nvCxnSpPr>
        <p:spPr>
          <a:xfrm>
            <a:off x="694944" y="1069848"/>
            <a:ext cx="10799064" cy="0"/>
          </a:xfrm>
          <a:prstGeom prst="line">
            <a:avLst/>
          </a:prstGeom>
          <a:ln w="12700">
            <a:solidFill>
              <a:srgbClr val="D5DDE6"/>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813816" y="1527048"/>
            <a:ext cx="10607040" cy="4334256"/>
          </a:xfrm>
          <a:prstGeom prst="roundRect">
            <a:avLst>
              <a:gd name="adj" fmla="val 9000"/>
            </a:avLst>
          </a:prstGeom>
          <a:solidFill>
            <a:srgbClr val="FFFFFF"/>
          </a:solidFill>
          <a:ln w="10160">
            <a:solidFill>
              <a:srgbClr val="D5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78992" y="1728216"/>
            <a:ext cx="9875520" cy="585216"/>
          </a:xfrm>
          <a:prstGeom prst="rect">
            <a:avLst/>
          </a:prstGeom>
          <a:noFill/>
        </p:spPr>
        <p:txBody>
          <a:bodyPr wrap="square" lIns="36576" tIns="27432" rIns="36576" bIns="27432" anchor="ctr">
            <a:spAutoFit/>
          </a:bodyPr>
          <a:lstStyle/>
          <a:p>
            <a:pPr>
              <a:lnSpc>
                <a:spcPct val="112000"/>
              </a:lnSpc>
              <a:spcBef>
                <a:spcPts val="0"/>
              </a:spcBef>
              <a:spcAft>
                <a:spcPts val="0"/>
              </a:spcAft>
              <a:defRPr sz="2400" b="1">
                <a:solidFill>
                  <a:srgbClr val="1A3048"/>
                </a:solidFill>
                <a:latin typeface="Arial"/>
              </a:defRPr>
            </a:pPr>
            <a:r>
              <a:t>Rule-based and fully on the device</a:t>
            </a:r>
          </a:p>
        </p:txBody>
      </p:sp>
      <p:sp>
        <p:nvSpPr>
          <p:cNvPr id="6" name="TextBox 5"/>
          <p:cNvSpPr txBox="1"/>
          <p:nvPr/>
        </p:nvSpPr>
        <p:spPr>
          <a:xfrm>
            <a:off x="1088136" y="2542032"/>
            <a:ext cx="1508760" cy="475488"/>
          </a:xfrm>
          <a:prstGeom prst="rect">
            <a:avLst/>
          </a:prstGeom>
          <a:noFill/>
        </p:spPr>
        <p:txBody>
          <a:bodyPr wrap="square" lIns="36576" tIns="27432" rIns="36576" bIns="27432" anchor="ctr">
            <a:spAutoFit/>
          </a:bodyPr>
          <a:lstStyle/>
          <a:p>
            <a:pPr>
              <a:lnSpc>
                <a:spcPct val="112000"/>
              </a:lnSpc>
              <a:spcBef>
                <a:spcPts val="0"/>
              </a:spcBef>
              <a:spcAft>
                <a:spcPts val="0"/>
              </a:spcAft>
              <a:defRPr sz="1800" b="1">
                <a:solidFill>
                  <a:srgbClr val="355B87"/>
                </a:solidFill>
                <a:latin typeface="Arial"/>
              </a:defRPr>
            </a:pPr>
            <a:r>
              <a:t>Input</a:t>
            </a:r>
          </a:p>
        </p:txBody>
      </p:sp>
      <p:sp>
        <p:nvSpPr>
          <p:cNvPr id="7" name="TextBox 6"/>
          <p:cNvSpPr txBox="1"/>
          <p:nvPr/>
        </p:nvSpPr>
        <p:spPr>
          <a:xfrm>
            <a:off x="2651760" y="2542032"/>
            <a:ext cx="8412480" cy="475488"/>
          </a:xfrm>
          <a:prstGeom prst="rect">
            <a:avLst/>
          </a:prstGeom>
          <a:noFill/>
        </p:spPr>
        <p:txBody>
          <a:bodyPr wrap="square" lIns="36576" tIns="27432" rIns="36576" bIns="27432" anchor="ctr">
            <a:spAutoFit/>
          </a:bodyPr>
          <a:lstStyle/>
          <a:p>
            <a:pPr>
              <a:lnSpc>
                <a:spcPct val="112000"/>
              </a:lnSpc>
              <a:spcBef>
                <a:spcPts val="0"/>
              </a:spcBef>
              <a:spcAft>
                <a:spcPts val="0"/>
              </a:spcAft>
              <a:defRPr sz="1800" b="0">
                <a:solidFill>
                  <a:srgbClr val="22272D"/>
                </a:solidFill>
                <a:latin typeface="Arial"/>
              </a:defRPr>
            </a:pPr>
            <a:r>
              <a:t>Mileage, the most recent valid service record and a warning distance</a:t>
            </a:r>
          </a:p>
        </p:txBody>
      </p:sp>
      <p:sp>
        <p:nvSpPr>
          <p:cNvPr id="8" name="TextBox 7"/>
          <p:cNvSpPr txBox="1"/>
          <p:nvPr/>
        </p:nvSpPr>
        <p:spPr>
          <a:xfrm>
            <a:off x="1088136" y="3246120"/>
            <a:ext cx="1508760" cy="475488"/>
          </a:xfrm>
          <a:prstGeom prst="rect">
            <a:avLst/>
          </a:prstGeom>
          <a:noFill/>
        </p:spPr>
        <p:txBody>
          <a:bodyPr wrap="square" lIns="36576" tIns="27432" rIns="36576" bIns="27432" anchor="ctr">
            <a:spAutoFit/>
          </a:bodyPr>
          <a:lstStyle/>
          <a:p>
            <a:pPr>
              <a:lnSpc>
                <a:spcPct val="112000"/>
              </a:lnSpc>
              <a:spcBef>
                <a:spcPts val="0"/>
              </a:spcBef>
              <a:spcAft>
                <a:spcPts val="0"/>
              </a:spcAft>
              <a:defRPr sz="1800" b="1">
                <a:solidFill>
                  <a:srgbClr val="355B87"/>
                </a:solidFill>
                <a:latin typeface="Arial"/>
              </a:defRPr>
            </a:pPr>
            <a:r>
              <a:t>Logic</a:t>
            </a:r>
          </a:p>
        </p:txBody>
      </p:sp>
      <p:sp>
        <p:nvSpPr>
          <p:cNvPr id="9" name="TextBox 8"/>
          <p:cNvSpPr txBox="1"/>
          <p:nvPr/>
        </p:nvSpPr>
        <p:spPr>
          <a:xfrm>
            <a:off x="2651760" y="3246120"/>
            <a:ext cx="8412480" cy="475488"/>
          </a:xfrm>
          <a:prstGeom prst="rect">
            <a:avLst/>
          </a:prstGeom>
          <a:noFill/>
        </p:spPr>
        <p:txBody>
          <a:bodyPr wrap="square" lIns="36576" tIns="27432" rIns="36576" bIns="27432" anchor="ctr">
            <a:spAutoFit/>
          </a:bodyPr>
          <a:lstStyle/>
          <a:p>
            <a:pPr>
              <a:lnSpc>
                <a:spcPct val="112000"/>
              </a:lnSpc>
              <a:spcBef>
                <a:spcPts val="0"/>
              </a:spcBef>
              <a:spcAft>
                <a:spcPts val="0"/>
              </a:spcAft>
              <a:defRPr sz="1800" b="0">
                <a:solidFill>
                  <a:srgbClr val="22272D"/>
                </a:solidFill>
                <a:latin typeface="Arial"/>
              </a:defRPr>
            </a:pPr>
            <a:r>
              <a:t>Find the next estimated service and compare miles left to a threshold</a:t>
            </a:r>
          </a:p>
        </p:txBody>
      </p:sp>
      <p:sp>
        <p:nvSpPr>
          <p:cNvPr id="10" name="TextBox 9"/>
          <p:cNvSpPr txBox="1"/>
          <p:nvPr/>
        </p:nvSpPr>
        <p:spPr>
          <a:xfrm>
            <a:off x="1088136" y="3950208"/>
            <a:ext cx="1508760" cy="475488"/>
          </a:xfrm>
          <a:prstGeom prst="rect">
            <a:avLst/>
          </a:prstGeom>
          <a:noFill/>
        </p:spPr>
        <p:txBody>
          <a:bodyPr wrap="square" lIns="36576" tIns="27432" rIns="36576" bIns="27432" anchor="ctr">
            <a:spAutoFit/>
          </a:bodyPr>
          <a:lstStyle/>
          <a:p>
            <a:pPr>
              <a:lnSpc>
                <a:spcPct val="112000"/>
              </a:lnSpc>
              <a:spcBef>
                <a:spcPts val="0"/>
              </a:spcBef>
              <a:spcAft>
                <a:spcPts val="0"/>
              </a:spcAft>
              <a:defRPr sz="1800" b="1">
                <a:solidFill>
                  <a:srgbClr val="355B87"/>
                </a:solidFill>
                <a:latin typeface="Arial"/>
              </a:defRPr>
            </a:pPr>
            <a:r>
              <a:t>Output</a:t>
            </a:r>
          </a:p>
        </p:txBody>
      </p:sp>
      <p:sp>
        <p:nvSpPr>
          <p:cNvPr id="11" name="TextBox 10"/>
          <p:cNvSpPr txBox="1"/>
          <p:nvPr/>
        </p:nvSpPr>
        <p:spPr>
          <a:xfrm>
            <a:off x="2651760" y="3950208"/>
            <a:ext cx="8412480" cy="475488"/>
          </a:xfrm>
          <a:prstGeom prst="rect">
            <a:avLst/>
          </a:prstGeom>
          <a:noFill/>
        </p:spPr>
        <p:txBody>
          <a:bodyPr wrap="square" lIns="36576" tIns="27432" rIns="36576" bIns="27432" anchor="ctr">
            <a:spAutoFit/>
          </a:bodyPr>
          <a:lstStyle/>
          <a:p>
            <a:pPr>
              <a:lnSpc>
                <a:spcPct val="112000"/>
              </a:lnSpc>
              <a:spcBef>
                <a:spcPts val="0"/>
              </a:spcBef>
              <a:spcAft>
                <a:spcPts val="0"/>
              </a:spcAft>
              <a:defRPr sz="1800" b="0">
                <a:solidFill>
                  <a:srgbClr val="22272D"/>
                </a:solidFill>
                <a:latin typeface="Arial"/>
              </a:defRPr>
            </a:pPr>
            <a:r>
              <a:rPr dirty="0"/>
              <a:t>Overdue, Upcoming or On track — plus an explanation</a:t>
            </a:r>
          </a:p>
        </p:txBody>
      </p:sp>
      <p:sp>
        <p:nvSpPr>
          <p:cNvPr id="12" name="TextBox 11"/>
          <p:cNvSpPr txBox="1"/>
          <p:nvPr/>
        </p:nvSpPr>
        <p:spPr>
          <a:xfrm>
            <a:off x="1088136" y="4654296"/>
            <a:ext cx="1508760" cy="475488"/>
          </a:xfrm>
          <a:prstGeom prst="rect">
            <a:avLst/>
          </a:prstGeom>
          <a:noFill/>
        </p:spPr>
        <p:txBody>
          <a:bodyPr wrap="square" lIns="36576" tIns="27432" rIns="36576" bIns="27432" anchor="ctr">
            <a:spAutoFit/>
          </a:bodyPr>
          <a:lstStyle/>
          <a:p>
            <a:pPr>
              <a:lnSpc>
                <a:spcPct val="112000"/>
              </a:lnSpc>
              <a:spcBef>
                <a:spcPts val="0"/>
              </a:spcBef>
              <a:spcAft>
                <a:spcPts val="0"/>
              </a:spcAft>
              <a:defRPr sz="1800" b="1">
                <a:solidFill>
                  <a:srgbClr val="355B87"/>
                </a:solidFill>
                <a:latin typeface="Arial"/>
              </a:defRPr>
            </a:pPr>
            <a:r>
              <a:t>Control</a:t>
            </a:r>
          </a:p>
        </p:txBody>
      </p:sp>
      <p:sp>
        <p:nvSpPr>
          <p:cNvPr id="13" name="TextBox 12"/>
          <p:cNvSpPr txBox="1"/>
          <p:nvPr/>
        </p:nvSpPr>
        <p:spPr>
          <a:xfrm>
            <a:off x="2651760" y="4654296"/>
            <a:ext cx="8412480" cy="475488"/>
          </a:xfrm>
          <a:prstGeom prst="rect">
            <a:avLst/>
          </a:prstGeom>
          <a:noFill/>
        </p:spPr>
        <p:txBody>
          <a:bodyPr wrap="square" lIns="36576" tIns="27432" rIns="36576" bIns="27432" anchor="ctr">
            <a:spAutoFit/>
          </a:bodyPr>
          <a:lstStyle/>
          <a:p>
            <a:pPr>
              <a:lnSpc>
                <a:spcPct val="112000"/>
              </a:lnSpc>
              <a:spcBef>
                <a:spcPts val="0"/>
              </a:spcBef>
              <a:spcAft>
                <a:spcPts val="0"/>
              </a:spcAft>
              <a:defRPr sz="1800" b="0">
                <a:solidFill>
                  <a:srgbClr val="22272D"/>
                </a:solidFill>
                <a:latin typeface="Arial"/>
              </a:defRPr>
            </a:pPr>
            <a:r>
              <a:rPr dirty="0"/>
              <a:t>Dismiss the suggestion or temporarily change the threshold</a:t>
            </a:r>
          </a:p>
        </p:txBody>
      </p:sp>
      <p:sp>
        <p:nvSpPr>
          <p:cNvPr id="14" name="TextBox 13"/>
          <p:cNvSpPr txBox="1"/>
          <p:nvPr/>
        </p:nvSpPr>
        <p:spPr>
          <a:xfrm>
            <a:off x="905256" y="6062472"/>
            <a:ext cx="10351008" cy="320040"/>
          </a:xfrm>
          <a:prstGeom prst="rect">
            <a:avLst/>
          </a:prstGeom>
          <a:noFill/>
        </p:spPr>
        <p:txBody>
          <a:bodyPr wrap="square" lIns="36576" tIns="27432" rIns="36576" bIns="27432" anchor="ctr">
            <a:spAutoFit/>
          </a:bodyPr>
          <a:lstStyle/>
          <a:p>
            <a:pPr>
              <a:lnSpc>
                <a:spcPct val="112000"/>
              </a:lnSpc>
              <a:spcBef>
                <a:spcPts val="0"/>
              </a:spcBef>
              <a:spcAft>
                <a:spcPts val="0"/>
              </a:spcAft>
              <a:defRPr sz="1400" b="0">
                <a:solidFill>
                  <a:srgbClr val="5C646E"/>
                </a:solidFill>
                <a:latin typeface="Arial"/>
              </a:defRPr>
            </a:pPr>
            <a:r>
              <a:rPr dirty="0"/>
              <a:t>This is a rules-based helper, not a trained ML model. No internet connection or external AI API is needed.</a:t>
            </a:r>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AFBFC"/>
        </a:solidFill>
        <a:effectLst/>
      </p:bgPr>
    </p:bg>
    <p:spTree>
      <p:nvGrpSpPr>
        <p:cNvPr id="1" name=""/>
        <p:cNvGrpSpPr/>
        <p:nvPr/>
      </p:nvGrpSpPr>
      <p:grpSpPr>
        <a:xfrm>
          <a:off x="0" y="0"/>
          <a:ext cx="0" cy="0"/>
          <a:chOff x="0" y="0"/>
          <a:chExt cx="0" cy="0"/>
        </a:xfrm>
      </p:grpSpPr>
      <p:sp>
        <p:nvSpPr>
          <p:cNvPr id="2" name="TextBox 1"/>
          <p:cNvSpPr txBox="1"/>
          <p:nvPr/>
        </p:nvSpPr>
        <p:spPr>
          <a:xfrm>
            <a:off x="667512" y="365760"/>
            <a:ext cx="10972800" cy="548640"/>
          </a:xfrm>
          <a:prstGeom prst="rect">
            <a:avLst/>
          </a:prstGeom>
          <a:noFill/>
        </p:spPr>
        <p:txBody>
          <a:bodyPr wrap="square" lIns="36576" tIns="27432" rIns="36576" bIns="27432" anchor="ctr">
            <a:spAutoFit/>
          </a:bodyPr>
          <a:lstStyle/>
          <a:p>
            <a:pPr>
              <a:lnSpc>
                <a:spcPct val="112000"/>
              </a:lnSpc>
              <a:spcBef>
                <a:spcPts val="0"/>
              </a:spcBef>
              <a:spcAft>
                <a:spcPts val="0"/>
              </a:spcAft>
              <a:defRPr sz="3000" b="1">
                <a:solidFill>
                  <a:srgbClr val="1A3048"/>
                </a:solidFill>
                <a:latin typeface="Arial"/>
              </a:defRPr>
            </a:pPr>
            <a:r>
              <a:t>Smart helper decision code</a:t>
            </a:r>
          </a:p>
        </p:txBody>
      </p:sp>
      <p:cxnSp>
        <p:nvCxnSpPr>
          <p:cNvPr id="3" name="Connector 2"/>
          <p:cNvCxnSpPr/>
          <p:nvPr/>
        </p:nvCxnSpPr>
        <p:spPr>
          <a:xfrm>
            <a:off x="694944" y="1069848"/>
            <a:ext cx="10799064" cy="0"/>
          </a:xfrm>
          <a:prstGeom prst="line">
            <a:avLst/>
          </a:prstGeom>
          <a:ln w="12700">
            <a:solidFill>
              <a:srgbClr val="D5DDE6"/>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813816" y="1408176"/>
            <a:ext cx="10543032" cy="4809744"/>
          </a:xfrm>
          <a:prstGeom prst="roundRect">
            <a:avLst>
              <a:gd name="adj" fmla="val 9000"/>
            </a:avLst>
          </a:prstGeom>
          <a:solidFill>
            <a:srgbClr val="F2F5F9"/>
          </a:solidFill>
          <a:ln w="10160">
            <a:solidFill>
              <a:srgbClr val="D5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33271" y="1609344"/>
            <a:ext cx="10104119" cy="4425696"/>
          </a:xfrm>
          <a:prstGeom prst="rect">
            <a:avLst/>
          </a:prstGeom>
          <a:noFill/>
        </p:spPr>
        <p:txBody>
          <a:bodyPr wrap="square" lIns="36576" tIns="27432" rIns="36576" bIns="27432" anchor="t">
            <a:spAutoFit/>
          </a:bodyPr>
          <a:lstStyle/>
          <a:p>
            <a:pPr>
              <a:lnSpc>
                <a:spcPct val="112000"/>
              </a:lnSpc>
              <a:spcBef>
                <a:spcPts val="0"/>
              </a:spcBef>
              <a:spcAft>
                <a:spcPts val="0"/>
              </a:spcAft>
              <a:defRPr sz="1700" b="0">
                <a:solidFill>
                  <a:srgbClr val="22272D"/>
                </a:solidFill>
                <a:latin typeface="Consolas"/>
              </a:defRPr>
            </a:pPr>
            <a:r>
              <a:t>known.sort(</a:t>
            </a:r>
          </a:p>
          <a:p>
            <a:pPr>
              <a:lnSpc>
                <a:spcPct val="112000"/>
              </a:lnSpc>
              <a:spcBef>
                <a:spcPts val="0"/>
              </a:spcBef>
              <a:spcAft>
                <a:spcPts val="0"/>
              </a:spcAft>
              <a:defRPr sz="1700" b="0">
                <a:solidFill>
                  <a:srgbClr val="22272D"/>
                </a:solidFill>
                <a:latin typeface="Consolas"/>
              </a:defRPr>
            </a:pPr>
            <a:r>
              <a:t>  (a, b) =&gt; a.milesLeft!.compareTo(b.milesLeft!),</a:t>
            </a:r>
          </a:p>
          <a:p>
            <a:pPr>
              <a:lnSpc>
                <a:spcPct val="112000"/>
              </a:lnSpc>
              <a:spcBef>
                <a:spcPts val="0"/>
              </a:spcBef>
              <a:spcAft>
                <a:spcPts val="0"/>
              </a:spcAft>
              <a:defRPr sz="1700" b="0">
                <a:solidFill>
                  <a:srgbClr val="22272D"/>
                </a:solidFill>
                <a:latin typeface="Consolas"/>
              </a:defRPr>
            </a:pPr>
            <a:r>
              <a:t>);</a:t>
            </a:r>
          </a:p>
          <a:p>
            <a:pPr>
              <a:lnSpc>
                <a:spcPct val="112000"/>
              </a:lnSpc>
              <a:spcBef>
                <a:spcPts val="0"/>
              </a:spcBef>
              <a:spcAft>
                <a:spcPts val="0"/>
              </a:spcAft>
              <a:defRPr sz="1700" b="0">
                <a:solidFill>
                  <a:srgbClr val="22272D"/>
                </a:solidFill>
                <a:latin typeface="Consolas"/>
              </a:defRPr>
            </a:pPr>
            <a:endParaRPr/>
          </a:p>
          <a:p>
            <a:pPr>
              <a:lnSpc>
                <a:spcPct val="112000"/>
              </a:lnSpc>
              <a:spcBef>
                <a:spcPts val="0"/>
              </a:spcBef>
              <a:spcAft>
                <a:spcPts val="0"/>
              </a:spcAft>
              <a:defRPr sz="1700" b="0">
                <a:solidFill>
                  <a:srgbClr val="22272D"/>
                </a:solidFill>
                <a:latin typeface="Consolas"/>
              </a:defRPr>
            </a:pPr>
            <a:r>
              <a:t>final next = known.first;</a:t>
            </a:r>
          </a:p>
          <a:p>
            <a:pPr>
              <a:lnSpc>
                <a:spcPct val="112000"/>
              </a:lnSpc>
              <a:spcBef>
                <a:spcPts val="0"/>
              </a:spcBef>
              <a:spcAft>
                <a:spcPts val="0"/>
              </a:spcAft>
              <a:defRPr sz="1700" b="0">
                <a:solidFill>
                  <a:srgbClr val="22272D"/>
                </a:solidFill>
                <a:latin typeface="Consolas"/>
              </a:defRPr>
            </a:pPr>
            <a:r>
              <a:t>final remaining = next.milesLeft!;</a:t>
            </a:r>
          </a:p>
          <a:p>
            <a:pPr>
              <a:lnSpc>
                <a:spcPct val="112000"/>
              </a:lnSpc>
              <a:spcBef>
                <a:spcPts val="0"/>
              </a:spcBef>
              <a:spcAft>
                <a:spcPts val="0"/>
              </a:spcAft>
              <a:defRPr sz="1700" b="0">
                <a:solidFill>
                  <a:srgbClr val="22272D"/>
                </a:solidFill>
                <a:latin typeface="Consolas"/>
              </a:defRPr>
            </a:pPr>
            <a:endParaRPr/>
          </a:p>
          <a:p>
            <a:pPr>
              <a:lnSpc>
                <a:spcPct val="112000"/>
              </a:lnSpc>
              <a:spcBef>
                <a:spcPts val="0"/>
              </a:spcBef>
              <a:spcAft>
                <a:spcPts val="0"/>
              </a:spcAft>
              <a:defRPr sz="1700" b="0">
                <a:solidFill>
                  <a:srgbClr val="22272D"/>
                </a:solidFill>
                <a:latin typeface="Consolas"/>
              </a:defRPr>
            </a:pPr>
            <a:r>
              <a:t>if (remaining &lt; 0) {</a:t>
            </a:r>
          </a:p>
          <a:p>
            <a:pPr>
              <a:lnSpc>
                <a:spcPct val="112000"/>
              </a:lnSpc>
              <a:spcBef>
                <a:spcPts val="0"/>
              </a:spcBef>
              <a:spcAft>
                <a:spcPts val="0"/>
              </a:spcAft>
              <a:defRPr sz="1700" b="0">
                <a:solidFill>
                  <a:srgbClr val="22272D"/>
                </a:solidFill>
                <a:latin typeface="Consolas"/>
              </a:defRPr>
            </a:pPr>
            <a:r>
              <a:t>  return MaintenanceSuggestion(</a:t>
            </a:r>
          </a:p>
          <a:p>
            <a:pPr>
              <a:lnSpc>
                <a:spcPct val="112000"/>
              </a:lnSpc>
              <a:spcBef>
                <a:spcPts val="0"/>
              </a:spcBef>
              <a:spcAft>
                <a:spcPts val="0"/>
              </a:spcAft>
              <a:defRPr sz="1700" b="0">
                <a:solidFill>
                  <a:srgbClr val="22272D"/>
                </a:solidFill>
                <a:latin typeface="Consolas"/>
              </a:defRPr>
            </a:pPr>
            <a:r>
              <a:t>    service: next.name, priority: 'Overdue', ...</a:t>
            </a:r>
          </a:p>
          <a:p>
            <a:pPr>
              <a:lnSpc>
                <a:spcPct val="112000"/>
              </a:lnSpc>
              <a:spcBef>
                <a:spcPts val="0"/>
              </a:spcBef>
              <a:spcAft>
                <a:spcPts val="0"/>
              </a:spcAft>
              <a:defRPr sz="1700" b="0">
                <a:solidFill>
                  <a:srgbClr val="22272D"/>
                </a:solidFill>
                <a:latin typeface="Consolas"/>
              </a:defRPr>
            </a:pPr>
            <a:r>
              <a:t>  );</a:t>
            </a:r>
          </a:p>
          <a:p>
            <a:pPr>
              <a:lnSpc>
                <a:spcPct val="112000"/>
              </a:lnSpc>
              <a:spcBef>
                <a:spcPts val="0"/>
              </a:spcBef>
              <a:spcAft>
                <a:spcPts val="0"/>
              </a:spcAft>
              <a:defRPr sz="1700" b="0">
                <a:solidFill>
                  <a:srgbClr val="22272D"/>
                </a:solidFill>
                <a:latin typeface="Consolas"/>
              </a:defRPr>
            </a:pPr>
            <a:r>
              <a:t>}</a:t>
            </a:r>
          </a:p>
          <a:p>
            <a:pPr>
              <a:lnSpc>
                <a:spcPct val="112000"/>
              </a:lnSpc>
              <a:spcBef>
                <a:spcPts val="0"/>
              </a:spcBef>
              <a:spcAft>
                <a:spcPts val="0"/>
              </a:spcAft>
              <a:defRPr sz="1700" b="0">
                <a:solidFill>
                  <a:srgbClr val="22272D"/>
                </a:solidFill>
                <a:latin typeface="Consolas"/>
              </a:defRPr>
            </a:pPr>
            <a:r>
              <a:t>if (remaining &lt;= warningMiles) {</a:t>
            </a:r>
          </a:p>
          <a:p>
            <a:pPr>
              <a:lnSpc>
                <a:spcPct val="112000"/>
              </a:lnSpc>
              <a:spcBef>
                <a:spcPts val="0"/>
              </a:spcBef>
              <a:spcAft>
                <a:spcPts val="0"/>
              </a:spcAft>
              <a:defRPr sz="1700" b="0">
                <a:solidFill>
                  <a:srgbClr val="22272D"/>
                </a:solidFill>
                <a:latin typeface="Consolas"/>
              </a:defRPr>
            </a:pPr>
            <a:r>
              <a:t>  return MaintenanceSuggestion(</a:t>
            </a:r>
          </a:p>
          <a:p>
            <a:pPr>
              <a:lnSpc>
                <a:spcPct val="112000"/>
              </a:lnSpc>
              <a:spcBef>
                <a:spcPts val="0"/>
              </a:spcBef>
              <a:spcAft>
                <a:spcPts val="0"/>
              </a:spcAft>
              <a:defRPr sz="1700" b="0">
                <a:solidFill>
                  <a:srgbClr val="22272D"/>
                </a:solidFill>
                <a:latin typeface="Consolas"/>
              </a:defRPr>
            </a:pPr>
            <a:r>
              <a:t>    service: next.name, priority: 'Upcoming', ...</a:t>
            </a:r>
          </a:p>
          <a:p>
            <a:pPr>
              <a:lnSpc>
                <a:spcPct val="112000"/>
              </a:lnSpc>
              <a:spcBef>
                <a:spcPts val="0"/>
              </a:spcBef>
              <a:spcAft>
                <a:spcPts val="0"/>
              </a:spcAft>
              <a:defRPr sz="1700" b="0">
                <a:solidFill>
                  <a:srgbClr val="22272D"/>
                </a:solidFill>
                <a:latin typeface="Consolas"/>
              </a:defRPr>
            </a:pPr>
            <a:r>
              <a:t>  );</a:t>
            </a:r>
          </a:p>
          <a:p>
            <a:pPr>
              <a:lnSpc>
                <a:spcPct val="112000"/>
              </a:lnSpc>
              <a:spcBef>
                <a:spcPts val="0"/>
              </a:spcBef>
              <a:spcAft>
                <a:spcPts val="0"/>
              </a:spcAft>
              <a:defRPr sz="1700" b="0">
                <a:solidFill>
                  <a:srgbClr val="22272D"/>
                </a:solidFill>
                <a:latin typeface="Consolas"/>
              </a:defRPr>
            </a:pPr>
            <a:r>
              <a:t>}</a:t>
            </a:r>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AFBFC"/>
        </a:solidFill>
        <a:effectLst/>
      </p:bgPr>
    </p:bg>
    <p:spTree>
      <p:nvGrpSpPr>
        <p:cNvPr id="1" name=""/>
        <p:cNvGrpSpPr/>
        <p:nvPr/>
      </p:nvGrpSpPr>
      <p:grpSpPr>
        <a:xfrm>
          <a:off x="0" y="0"/>
          <a:ext cx="0" cy="0"/>
          <a:chOff x="0" y="0"/>
          <a:chExt cx="0" cy="0"/>
        </a:xfrm>
      </p:grpSpPr>
      <p:sp>
        <p:nvSpPr>
          <p:cNvPr id="2" name="TextBox 1"/>
          <p:cNvSpPr txBox="1"/>
          <p:nvPr/>
        </p:nvSpPr>
        <p:spPr>
          <a:xfrm>
            <a:off x="667512" y="365760"/>
            <a:ext cx="10972800" cy="548640"/>
          </a:xfrm>
          <a:prstGeom prst="rect">
            <a:avLst/>
          </a:prstGeom>
          <a:noFill/>
        </p:spPr>
        <p:txBody>
          <a:bodyPr wrap="square" lIns="36576" tIns="27432" rIns="36576" bIns="27432" anchor="ctr">
            <a:spAutoFit/>
          </a:bodyPr>
          <a:lstStyle/>
          <a:p>
            <a:pPr>
              <a:lnSpc>
                <a:spcPct val="112000"/>
              </a:lnSpc>
              <a:spcBef>
                <a:spcPts val="0"/>
              </a:spcBef>
              <a:spcAft>
                <a:spcPts val="0"/>
              </a:spcAft>
              <a:defRPr sz="3000" b="1">
                <a:solidFill>
                  <a:srgbClr val="1A3048"/>
                </a:solidFill>
                <a:latin typeface="Arial"/>
              </a:defRPr>
            </a:pPr>
            <a:r>
              <a:t>Helper compared with a simple baseline</a:t>
            </a:r>
          </a:p>
        </p:txBody>
      </p:sp>
      <p:cxnSp>
        <p:nvCxnSpPr>
          <p:cNvPr id="3" name="Connector 2"/>
          <p:cNvCxnSpPr/>
          <p:nvPr/>
        </p:nvCxnSpPr>
        <p:spPr>
          <a:xfrm>
            <a:off x="694944" y="1069848"/>
            <a:ext cx="10799064" cy="0"/>
          </a:xfrm>
          <a:prstGeom prst="line">
            <a:avLst/>
          </a:prstGeom>
          <a:ln w="12700">
            <a:solidFill>
              <a:srgbClr val="D5DDE6"/>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68680" y="1508760"/>
            <a:ext cx="10378440" cy="548640"/>
          </a:xfrm>
          <a:prstGeom prst="rect">
            <a:avLst/>
          </a:prstGeom>
          <a:noFill/>
        </p:spPr>
        <p:txBody>
          <a:bodyPr wrap="square" lIns="36576" tIns="27432" rIns="36576" bIns="27432" anchor="ctr">
            <a:spAutoFit/>
          </a:bodyPr>
          <a:lstStyle/>
          <a:p>
            <a:pPr>
              <a:lnSpc>
                <a:spcPct val="112000"/>
              </a:lnSpc>
              <a:spcBef>
                <a:spcPts val="0"/>
              </a:spcBef>
              <a:spcAft>
                <a:spcPts val="0"/>
              </a:spcAft>
              <a:defRPr sz="2100" b="1">
                <a:solidFill>
                  <a:srgbClr val="1A3048"/>
                </a:solidFill>
                <a:latin typeface="Arial"/>
              </a:defRPr>
            </a:pPr>
            <a:r>
              <a:t>Same vehicle and service: Camry at 54,000 mi, oil change at 50,000 mi</a:t>
            </a:r>
          </a:p>
        </p:txBody>
      </p:sp>
      <p:sp>
        <p:nvSpPr>
          <p:cNvPr id="5" name="Rounded Rectangle 4"/>
          <p:cNvSpPr/>
          <p:nvPr/>
        </p:nvSpPr>
        <p:spPr>
          <a:xfrm>
            <a:off x="923544" y="2432304"/>
            <a:ext cx="4873752" cy="2194560"/>
          </a:xfrm>
          <a:prstGeom prst="roundRect">
            <a:avLst>
              <a:gd name="adj" fmla="val 9000"/>
            </a:avLst>
          </a:prstGeom>
          <a:solidFill>
            <a:srgbClr val="FFFFFF"/>
          </a:solidFill>
          <a:ln w="10160">
            <a:solidFill>
              <a:srgbClr val="D5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79576" y="2642616"/>
            <a:ext cx="4389120" cy="475488"/>
          </a:xfrm>
          <a:prstGeom prst="rect">
            <a:avLst/>
          </a:prstGeom>
          <a:noFill/>
        </p:spPr>
        <p:txBody>
          <a:bodyPr wrap="square" lIns="36576" tIns="27432" rIns="36576" bIns="27432" anchor="ctr">
            <a:spAutoFit/>
          </a:bodyPr>
          <a:lstStyle/>
          <a:p>
            <a:pPr>
              <a:lnSpc>
                <a:spcPct val="112000"/>
              </a:lnSpc>
              <a:spcBef>
                <a:spcPts val="0"/>
              </a:spcBef>
              <a:spcAft>
                <a:spcPts val="0"/>
              </a:spcAft>
              <a:defRPr sz="2300" b="1">
                <a:solidFill>
                  <a:srgbClr val="355B87"/>
                </a:solidFill>
                <a:latin typeface="Arial"/>
              </a:defRPr>
            </a:pPr>
            <a:r>
              <a:t>Fixed baseline</a:t>
            </a:r>
          </a:p>
        </p:txBody>
      </p:sp>
      <p:sp>
        <p:nvSpPr>
          <p:cNvPr id="7" name="TextBox 6"/>
          <p:cNvSpPr txBox="1"/>
          <p:nvPr/>
        </p:nvSpPr>
        <p:spPr>
          <a:xfrm>
            <a:off x="1179576" y="3246120"/>
            <a:ext cx="4389120" cy="438912"/>
          </a:xfrm>
          <a:prstGeom prst="rect">
            <a:avLst/>
          </a:prstGeom>
          <a:noFill/>
        </p:spPr>
        <p:txBody>
          <a:bodyPr wrap="square" lIns="36576" tIns="27432" rIns="36576" bIns="27432" anchor="ctr">
            <a:spAutoFit/>
          </a:bodyPr>
          <a:lstStyle/>
          <a:p>
            <a:pPr>
              <a:lnSpc>
                <a:spcPct val="112000"/>
              </a:lnSpc>
              <a:spcBef>
                <a:spcPts val="0"/>
              </a:spcBef>
              <a:spcAft>
                <a:spcPts val="0"/>
              </a:spcAft>
              <a:defRPr sz="1800" b="0">
                <a:solidFill>
                  <a:srgbClr val="22272D"/>
                </a:solidFill>
                <a:latin typeface="Arial"/>
              </a:defRPr>
            </a:pPr>
            <a:r>
              <a:t>Warning distance: 500 miles</a:t>
            </a:r>
          </a:p>
        </p:txBody>
      </p:sp>
      <p:sp>
        <p:nvSpPr>
          <p:cNvPr id="8" name="TextBox 7"/>
          <p:cNvSpPr txBox="1"/>
          <p:nvPr/>
        </p:nvSpPr>
        <p:spPr>
          <a:xfrm>
            <a:off x="1179576" y="3867912"/>
            <a:ext cx="4389120" cy="429768"/>
          </a:xfrm>
          <a:prstGeom prst="rect">
            <a:avLst/>
          </a:prstGeom>
          <a:noFill/>
        </p:spPr>
        <p:txBody>
          <a:bodyPr wrap="square" lIns="36576" tIns="27432" rIns="36576" bIns="27432" anchor="ctr">
            <a:spAutoFit/>
          </a:bodyPr>
          <a:lstStyle/>
          <a:p>
            <a:pPr>
              <a:lnSpc>
                <a:spcPct val="112000"/>
              </a:lnSpc>
              <a:spcBef>
                <a:spcPts val="0"/>
              </a:spcBef>
              <a:spcAft>
                <a:spcPts val="0"/>
              </a:spcAft>
              <a:defRPr sz="1900" b="1">
                <a:solidFill>
                  <a:srgbClr val="1A3048"/>
                </a:solidFill>
                <a:latin typeface="Arial"/>
              </a:defRPr>
            </a:pPr>
            <a:r>
              <a:t>Result: On track</a:t>
            </a:r>
          </a:p>
        </p:txBody>
      </p:sp>
      <p:sp>
        <p:nvSpPr>
          <p:cNvPr id="9" name="Rounded Rectangle 8"/>
          <p:cNvSpPr/>
          <p:nvPr/>
        </p:nvSpPr>
        <p:spPr>
          <a:xfrm>
            <a:off x="6208776" y="2432304"/>
            <a:ext cx="4873752" cy="2194560"/>
          </a:xfrm>
          <a:prstGeom prst="roundRect">
            <a:avLst>
              <a:gd name="adj" fmla="val 9000"/>
            </a:avLst>
          </a:prstGeom>
          <a:solidFill>
            <a:srgbClr val="FFFFFF"/>
          </a:solidFill>
          <a:ln w="10160">
            <a:solidFill>
              <a:srgbClr val="D5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64808" y="2642616"/>
            <a:ext cx="4389120" cy="475488"/>
          </a:xfrm>
          <a:prstGeom prst="rect">
            <a:avLst/>
          </a:prstGeom>
          <a:noFill/>
        </p:spPr>
        <p:txBody>
          <a:bodyPr wrap="square" lIns="36576" tIns="27432" rIns="36576" bIns="27432" anchor="ctr">
            <a:spAutoFit/>
          </a:bodyPr>
          <a:lstStyle/>
          <a:p>
            <a:pPr>
              <a:lnSpc>
                <a:spcPct val="112000"/>
              </a:lnSpc>
              <a:spcBef>
                <a:spcPts val="0"/>
              </a:spcBef>
              <a:spcAft>
                <a:spcPts val="0"/>
              </a:spcAft>
              <a:defRPr sz="2300" b="1">
                <a:solidFill>
                  <a:srgbClr val="355B87"/>
                </a:solidFill>
                <a:latin typeface="Arial"/>
              </a:defRPr>
            </a:pPr>
            <a:r>
              <a:t>Adjustable helper</a:t>
            </a:r>
          </a:p>
        </p:txBody>
      </p:sp>
      <p:sp>
        <p:nvSpPr>
          <p:cNvPr id="11" name="TextBox 10"/>
          <p:cNvSpPr txBox="1"/>
          <p:nvPr/>
        </p:nvSpPr>
        <p:spPr>
          <a:xfrm>
            <a:off x="6464808" y="3246120"/>
            <a:ext cx="4389120" cy="438912"/>
          </a:xfrm>
          <a:prstGeom prst="rect">
            <a:avLst/>
          </a:prstGeom>
          <a:noFill/>
        </p:spPr>
        <p:txBody>
          <a:bodyPr wrap="square" lIns="36576" tIns="27432" rIns="36576" bIns="27432" anchor="ctr">
            <a:spAutoFit/>
          </a:bodyPr>
          <a:lstStyle/>
          <a:p>
            <a:pPr>
              <a:lnSpc>
                <a:spcPct val="112000"/>
              </a:lnSpc>
              <a:spcBef>
                <a:spcPts val="0"/>
              </a:spcBef>
              <a:spcAft>
                <a:spcPts val="0"/>
              </a:spcAft>
              <a:defRPr sz="1800" b="0">
                <a:solidFill>
                  <a:srgbClr val="22272D"/>
                </a:solidFill>
                <a:latin typeface="Arial"/>
              </a:defRPr>
            </a:pPr>
            <a:r>
              <a:t>Warning distance: 1,200 miles</a:t>
            </a:r>
          </a:p>
        </p:txBody>
      </p:sp>
      <p:sp>
        <p:nvSpPr>
          <p:cNvPr id="12" name="TextBox 11"/>
          <p:cNvSpPr txBox="1"/>
          <p:nvPr/>
        </p:nvSpPr>
        <p:spPr>
          <a:xfrm>
            <a:off x="6464808" y="3867912"/>
            <a:ext cx="4389120" cy="429768"/>
          </a:xfrm>
          <a:prstGeom prst="rect">
            <a:avLst/>
          </a:prstGeom>
          <a:noFill/>
        </p:spPr>
        <p:txBody>
          <a:bodyPr wrap="square" lIns="36576" tIns="27432" rIns="36576" bIns="27432" anchor="ctr">
            <a:spAutoFit/>
          </a:bodyPr>
          <a:lstStyle/>
          <a:p>
            <a:pPr>
              <a:lnSpc>
                <a:spcPct val="112000"/>
              </a:lnSpc>
              <a:spcBef>
                <a:spcPts val="0"/>
              </a:spcBef>
              <a:spcAft>
                <a:spcPts val="0"/>
              </a:spcAft>
              <a:defRPr sz="1900" b="1">
                <a:solidFill>
                  <a:srgbClr val="1A3048"/>
                </a:solidFill>
                <a:latin typeface="Arial"/>
              </a:defRPr>
            </a:pPr>
            <a:r>
              <a:t>Result: Upcoming</a:t>
            </a:r>
          </a:p>
        </p:txBody>
      </p:sp>
      <p:sp>
        <p:nvSpPr>
          <p:cNvPr id="13" name="TextBox 12"/>
          <p:cNvSpPr txBox="1"/>
          <p:nvPr/>
        </p:nvSpPr>
        <p:spPr>
          <a:xfrm>
            <a:off x="1014984" y="5093208"/>
            <a:ext cx="10149840" cy="640080"/>
          </a:xfrm>
          <a:prstGeom prst="rect">
            <a:avLst/>
          </a:prstGeom>
          <a:noFill/>
        </p:spPr>
        <p:txBody>
          <a:bodyPr wrap="square" lIns="36576" tIns="27432" rIns="36576" bIns="27432" anchor="ctr">
            <a:spAutoFit/>
          </a:bodyPr>
          <a:lstStyle/>
          <a:p>
            <a:pPr>
              <a:lnSpc>
                <a:spcPct val="112000"/>
              </a:lnSpc>
              <a:spcBef>
                <a:spcPts val="0"/>
              </a:spcBef>
              <a:spcAft>
                <a:spcPts val="0"/>
              </a:spcAft>
              <a:defRPr sz="1900" b="0">
                <a:solidFill>
                  <a:srgbClr val="22272D"/>
                </a:solidFill>
                <a:latin typeface="Arial"/>
              </a:defRPr>
            </a:pPr>
            <a:r>
              <a:t>The estimated service is 1,000 miles away. Changing the warning threshold changes the warning, not the saved service record.</a:t>
            </a:r>
          </a:p>
        </p:txBody>
      </p:sp>
      <p:sp>
        <p:nvSpPr>
          <p:cNvPr id="14" name="TextBox 13"/>
          <p:cNvSpPr txBox="1"/>
          <p:nvPr/>
        </p:nvSpPr>
        <p:spPr>
          <a:xfrm>
            <a:off x="932688" y="5980176"/>
            <a:ext cx="10241280" cy="274320"/>
          </a:xfrm>
          <a:prstGeom prst="rect">
            <a:avLst/>
          </a:prstGeom>
          <a:noFill/>
        </p:spPr>
        <p:txBody>
          <a:bodyPr wrap="square" lIns="36576" tIns="27432" rIns="36576" bIns="27432" anchor="ctr">
            <a:spAutoFit/>
          </a:bodyPr>
          <a:lstStyle/>
          <a:p>
            <a:pPr>
              <a:lnSpc>
                <a:spcPct val="112000"/>
              </a:lnSpc>
              <a:spcBef>
                <a:spcPts val="0"/>
              </a:spcBef>
              <a:spcAft>
                <a:spcPts val="0"/>
              </a:spcAft>
              <a:defRPr sz="1300" b="0">
                <a:solidFill>
                  <a:srgbClr val="5C646E"/>
                </a:solidFill>
                <a:latin typeface="Arial"/>
              </a:defRPr>
            </a:pPr>
            <a:r>
              <a:t>T16 was reported passed. The provided screenshot does not independently display both comparison labels.</a:t>
            </a:r>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AFBFC"/>
        </a:solidFill>
        <a:effectLst/>
      </p:bgPr>
    </p:bg>
    <p:spTree>
      <p:nvGrpSpPr>
        <p:cNvPr id="1" name=""/>
        <p:cNvGrpSpPr/>
        <p:nvPr/>
      </p:nvGrpSpPr>
      <p:grpSpPr>
        <a:xfrm>
          <a:off x="0" y="0"/>
          <a:ext cx="0" cy="0"/>
          <a:chOff x="0" y="0"/>
          <a:chExt cx="0" cy="0"/>
        </a:xfrm>
      </p:grpSpPr>
      <p:sp>
        <p:nvSpPr>
          <p:cNvPr id="2" name="TextBox 1"/>
          <p:cNvSpPr txBox="1"/>
          <p:nvPr/>
        </p:nvSpPr>
        <p:spPr>
          <a:xfrm>
            <a:off x="667512" y="365760"/>
            <a:ext cx="10972800" cy="548640"/>
          </a:xfrm>
          <a:prstGeom prst="rect">
            <a:avLst/>
          </a:prstGeom>
          <a:noFill/>
        </p:spPr>
        <p:txBody>
          <a:bodyPr wrap="square" lIns="36576" tIns="27432" rIns="36576" bIns="27432" anchor="ctr">
            <a:spAutoFit/>
          </a:bodyPr>
          <a:lstStyle/>
          <a:p>
            <a:pPr>
              <a:lnSpc>
                <a:spcPct val="112000"/>
              </a:lnSpc>
              <a:spcBef>
                <a:spcPts val="0"/>
              </a:spcBef>
              <a:spcAft>
                <a:spcPts val="0"/>
              </a:spcAft>
              <a:defRPr sz="3000" b="1">
                <a:solidFill>
                  <a:srgbClr val="1A3048"/>
                </a:solidFill>
                <a:latin typeface="Arial"/>
              </a:defRPr>
            </a:pPr>
            <a:r>
              <a:t>User control and explaining results</a:t>
            </a:r>
          </a:p>
        </p:txBody>
      </p:sp>
      <p:cxnSp>
        <p:nvCxnSpPr>
          <p:cNvPr id="3" name="Connector 2"/>
          <p:cNvCxnSpPr/>
          <p:nvPr/>
        </p:nvCxnSpPr>
        <p:spPr>
          <a:xfrm>
            <a:off x="694944" y="1069848"/>
            <a:ext cx="10799064" cy="0"/>
          </a:xfrm>
          <a:prstGeom prst="line">
            <a:avLst/>
          </a:prstGeom>
          <a:ln w="12700">
            <a:solidFill>
              <a:srgbClr val="D5DDE6"/>
            </a:solidFill>
          </a:ln>
        </p:spPr>
        <p:style>
          <a:lnRef idx="2">
            <a:schemeClr val="accent1"/>
          </a:lnRef>
          <a:fillRef idx="0">
            <a:schemeClr val="accent1"/>
          </a:fillRef>
          <a:effectRef idx="1">
            <a:schemeClr val="accent1"/>
          </a:effectRef>
          <a:fontRef idx="minor">
            <a:schemeClr val="tx1"/>
          </a:fontRef>
        </p:style>
      </p:cxnSp>
      <p:pic>
        <p:nvPicPr>
          <p:cNvPr id="4" name="Picture 3" descr="T19_helper_override.png"/>
          <p:cNvPicPr>
            <a:picLocks noChangeAspect="1"/>
          </p:cNvPicPr>
          <p:nvPr/>
        </p:nvPicPr>
        <p:blipFill>
          <a:blip r:embed="rId3"/>
          <a:stretch>
            <a:fillRect/>
          </a:stretch>
        </p:blipFill>
        <p:spPr>
          <a:xfrm>
            <a:off x="1274097" y="1344168"/>
            <a:ext cx="2334700" cy="5010912"/>
          </a:xfrm>
          <a:prstGeom prst="rect">
            <a:avLst/>
          </a:prstGeom>
        </p:spPr>
      </p:pic>
      <p:sp>
        <p:nvSpPr>
          <p:cNvPr id="5" name="TextBox 4"/>
          <p:cNvSpPr txBox="1"/>
          <p:nvPr/>
        </p:nvSpPr>
        <p:spPr>
          <a:xfrm>
            <a:off x="4709160" y="1682496"/>
            <a:ext cx="6190488" cy="512064"/>
          </a:xfrm>
          <a:prstGeom prst="rect">
            <a:avLst/>
          </a:prstGeom>
          <a:noFill/>
        </p:spPr>
        <p:txBody>
          <a:bodyPr wrap="square" lIns="36576" tIns="27432" rIns="36576" bIns="27432" anchor="ctr">
            <a:spAutoFit/>
          </a:bodyPr>
          <a:lstStyle/>
          <a:p>
            <a:pPr>
              <a:lnSpc>
                <a:spcPct val="112000"/>
              </a:lnSpc>
              <a:spcBef>
                <a:spcPts val="0"/>
              </a:spcBef>
              <a:spcAft>
                <a:spcPts val="0"/>
              </a:spcAft>
              <a:defRPr sz="2300" b="1">
                <a:solidFill>
                  <a:srgbClr val="1A3048"/>
                </a:solidFill>
                <a:latin typeface="Arial"/>
              </a:defRPr>
            </a:pPr>
            <a:r>
              <a:rPr dirty="0"/>
              <a:t>A user can disagree with the warning</a:t>
            </a:r>
          </a:p>
        </p:txBody>
      </p:sp>
      <p:sp>
        <p:nvSpPr>
          <p:cNvPr id="6" name="TextBox 5"/>
          <p:cNvSpPr txBox="1"/>
          <p:nvPr/>
        </p:nvSpPr>
        <p:spPr>
          <a:xfrm>
            <a:off x="4709160" y="2496312"/>
            <a:ext cx="6245352" cy="621792"/>
          </a:xfrm>
          <a:prstGeom prst="rect">
            <a:avLst/>
          </a:prstGeom>
          <a:noFill/>
        </p:spPr>
        <p:txBody>
          <a:bodyPr wrap="square" lIns="36576" tIns="27432" rIns="36576" bIns="27432" anchor="ctr">
            <a:spAutoFit/>
          </a:bodyPr>
          <a:lstStyle/>
          <a:p>
            <a:pPr>
              <a:lnSpc>
                <a:spcPct val="112000"/>
              </a:lnSpc>
              <a:spcBef>
                <a:spcPts val="0"/>
              </a:spcBef>
              <a:spcAft>
                <a:spcPts val="0"/>
              </a:spcAft>
              <a:defRPr sz="1800" b="0">
                <a:solidFill>
                  <a:srgbClr val="22272D"/>
                </a:solidFill>
                <a:latin typeface="Arial"/>
              </a:defRPr>
            </a:pPr>
            <a:r>
              <a:t>•  The helper states the reason for its recommendation.</a:t>
            </a:r>
          </a:p>
        </p:txBody>
      </p:sp>
      <p:sp>
        <p:nvSpPr>
          <p:cNvPr id="7" name="TextBox 6"/>
          <p:cNvSpPr txBox="1"/>
          <p:nvPr/>
        </p:nvSpPr>
        <p:spPr>
          <a:xfrm>
            <a:off x="4709160" y="3172968"/>
            <a:ext cx="6245352" cy="621792"/>
          </a:xfrm>
          <a:prstGeom prst="rect">
            <a:avLst/>
          </a:prstGeom>
          <a:noFill/>
        </p:spPr>
        <p:txBody>
          <a:bodyPr wrap="square" lIns="36576" tIns="27432" rIns="36576" bIns="27432" anchor="ctr">
            <a:spAutoFit/>
          </a:bodyPr>
          <a:lstStyle/>
          <a:p>
            <a:pPr>
              <a:lnSpc>
                <a:spcPct val="112000"/>
              </a:lnSpc>
              <a:spcBef>
                <a:spcPts val="0"/>
              </a:spcBef>
              <a:spcAft>
                <a:spcPts val="0"/>
              </a:spcAft>
              <a:defRPr sz="1800" b="0">
                <a:solidFill>
                  <a:srgbClr val="22272D"/>
                </a:solidFill>
                <a:latin typeface="Arial"/>
              </a:defRPr>
            </a:pPr>
            <a:r>
              <a:t>•  Dismiss Suggestion hides the helper card.</a:t>
            </a:r>
          </a:p>
        </p:txBody>
      </p:sp>
      <p:sp>
        <p:nvSpPr>
          <p:cNvPr id="8" name="TextBox 7"/>
          <p:cNvSpPr txBox="1"/>
          <p:nvPr/>
        </p:nvSpPr>
        <p:spPr>
          <a:xfrm>
            <a:off x="4709160" y="3849624"/>
            <a:ext cx="6245352" cy="621792"/>
          </a:xfrm>
          <a:prstGeom prst="rect">
            <a:avLst/>
          </a:prstGeom>
          <a:noFill/>
        </p:spPr>
        <p:txBody>
          <a:bodyPr wrap="square" lIns="36576" tIns="27432" rIns="36576" bIns="27432" anchor="ctr">
            <a:spAutoFit/>
          </a:bodyPr>
          <a:lstStyle/>
          <a:p>
            <a:pPr>
              <a:lnSpc>
                <a:spcPct val="112000"/>
              </a:lnSpc>
              <a:spcBef>
                <a:spcPts val="0"/>
              </a:spcBef>
              <a:spcAft>
                <a:spcPts val="0"/>
              </a:spcAft>
              <a:defRPr sz="1800" b="0">
                <a:solidFill>
                  <a:srgbClr val="22272D"/>
                </a:solidFill>
                <a:latin typeface="Arial"/>
              </a:defRPr>
            </a:pPr>
            <a:r>
              <a:t>•  A slider changes warning distance for this screen only.</a:t>
            </a:r>
          </a:p>
        </p:txBody>
      </p:sp>
      <p:sp>
        <p:nvSpPr>
          <p:cNvPr id="9" name="TextBox 8"/>
          <p:cNvSpPr txBox="1"/>
          <p:nvPr/>
        </p:nvSpPr>
        <p:spPr>
          <a:xfrm>
            <a:off x="4709160" y="4526279"/>
            <a:ext cx="6245352" cy="621792"/>
          </a:xfrm>
          <a:prstGeom prst="rect">
            <a:avLst/>
          </a:prstGeom>
          <a:noFill/>
        </p:spPr>
        <p:txBody>
          <a:bodyPr wrap="square" lIns="36576" tIns="27432" rIns="36576" bIns="27432" anchor="ctr">
            <a:spAutoFit/>
          </a:bodyPr>
          <a:lstStyle/>
          <a:p>
            <a:pPr>
              <a:lnSpc>
                <a:spcPct val="112000"/>
              </a:lnSpc>
              <a:spcBef>
                <a:spcPts val="0"/>
              </a:spcBef>
              <a:spcAft>
                <a:spcPts val="0"/>
              </a:spcAft>
              <a:defRPr sz="1800" b="0">
                <a:solidFill>
                  <a:srgbClr val="22272D"/>
                </a:solidFill>
                <a:latin typeface="Arial"/>
              </a:defRPr>
            </a:pPr>
            <a:r>
              <a:t>•  Use Saved Warning Distance restores the setting.</a:t>
            </a:r>
          </a:p>
        </p:txBody>
      </p:sp>
      <p:sp>
        <p:nvSpPr>
          <p:cNvPr id="10" name="TextBox 9"/>
          <p:cNvSpPr txBox="1"/>
          <p:nvPr/>
        </p:nvSpPr>
        <p:spPr>
          <a:xfrm>
            <a:off x="4709160" y="5202936"/>
            <a:ext cx="6245352" cy="621792"/>
          </a:xfrm>
          <a:prstGeom prst="rect">
            <a:avLst/>
          </a:prstGeom>
          <a:noFill/>
        </p:spPr>
        <p:txBody>
          <a:bodyPr wrap="square" lIns="36576" tIns="27432" rIns="36576" bIns="27432" anchor="ctr">
            <a:spAutoFit/>
          </a:bodyPr>
          <a:lstStyle/>
          <a:p>
            <a:pPr>
              <a:lnSpc>
                <a:spcPct val="112000"/>
              </a:lnSpc>
              <a:spcBef>
                <a:spcPts val="0"/>
              </a:spcBef>
              <a:spcAft>
                <a:spcPts val="0"/>
              </a:spcAft>
              <a:defRPr sz="1800" b="0">
                <a:solidFill>
                  <a:srgbClr val="22272D"/>
                </a:solidFill>
                <a:latin typeface="Arial"/>
              </a:defRPr>
            </a:pPr>
            <a:r>
              <a:t>•  The helper never edits a saved service automatically.</a:t>
            </a:r>
          </a:p>
        </p:txBody>
      </p:sp>
      <p:sp>
        <p:nvSpPr>
          <p:cNvPr id="11" name="TextBox 10"/>
          <p:cNvSpPr txBox="1"/>
          <p:nvPr/>
        </p:nvSpPr>
        <p:spPr>
          <a:xfrm>
            <a:off x="4736592" y="6016752"/>
            <a:ext cx="6163056" cy="265176"/>
          </a:xfrm>
          <a:prstGeom prst="rect">
            <a:avLst/>
          </a:prstGeom>
          <a:noFill/>
        </p:spPr>
        <p:txBody>
          <a:bodyPr wrap="square" lIns="36576" tIns="27432" rIns="36576" bIns="27432" anchor="ctr">
            <a:spAutoFit/>
          </a:bodyPr>
          <a:lstStyle/>
          <a:p>
            <a:pPr>
              <a:lnSpc>
                <a:spcPct val="112000"/>
              </a:lnSpc>
              <a:spcBef>
                <a:spcPts val="0"/>
              </a:spcBef>
              <a:spcAft>
                <a:spcPts val="0"/>
              </a:spcAft>
              <a:defRPr sz="1300" b="0">
                <a:solidFill>
                  <a:srgbClr val="5C646E"/>
                </a:solidFill>
                <a:latin typeface="Arial"/>
              </a:defRPr>
            </a:pPr>
            <a:r>
              <a:t>Screenshot T19 • user-adjustable warning</a:t>
            </a:r>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AFBFC"/>
        </a:solidFill>
        <a:effectLst/>
      </p:bgPr>
    </p:bg>
    <p:spTree>
      <p:nvGrpSpPr>
        <p:cNvPr id="1" name=""/>
        <p:cNvGrpSpPr/>
        <p:nvPr/>
      </p:nvGrpSpPr>
      <p:grpSpPr>
        <a:xfrm>
          <a:off x="0" y="0"/>
          <a:ext cx="0" cy="0"/>
          <a:chOff x="0" y="0"/>
          <a:chExt cx="0" cy="0"/>
        </a:xfrm>
      </p:grpSpPr>
      <p:sp>
        <p:nvSpPr>
          <p:cNvPr id="2" name="TextBox 1"/>
          <p:cNvSpPr txBox="1"/>
          <p:nvPr/>
        </p:nvSpPr>
        <p:spPr>
          <a:xfrm>
            <a:off x="667512" y="365760"/>
            <a:ext cx="10972800" cy="548640"/>
          </a:xfrm>
          <a:prstGeom prst="rect">
            <a:avLst/>
          </a:prstGeom>
          <a:noFill/>
        </p:spPr>
        <p:txBody>
          <a:bodyPr wrap="square" lIns="36576" tIns="27432" rIns="36576" bIns="27432" anchor="ctr">
            <a:spAutoFit/>
          </a:bodyPr>
          <a:lstStyle/>
          <a:p>
            <a:pPr>
              <a:lnSpc>
                <a:spcPct val="112000"/>
              </a:lnSpc>
              <a:spcBef>
                <a:spcPts val="0"/>
              </a:spcBef>
              <a:spcAft>
                <a:spcPts val="0"/>
              </a:spcAft>
              <a:defRPr sz="3000" b="1">
                <a:solidFill>
                  <a:srgbClr val="1A3048"/>
                </a:solidFill>
                <a:latin typeface="Arial"/>
              </a:defRPr>
            </a:pPr>
            <a:r>
              <a:t>Settings saved with SharedPreferences</a:t>
            </a:r>
          </a:p>
        </p:txBody>
      </p:sp>
      <p:cxnSp>
        <p:nvCxnSpPr>
          <p:cNvPr id="3" name="Connector 2"/>
          <p:cNvCxnSpPr/>
          <p:nvPr/>
        </p:nvCxnSpPr>
        <p:spPr>
          <a:xfrm>
            <a:off x="694944" y="1069848"/>
            <a:ext cx="10799064" cy="0"/>
          </a:xfrm>
          <a:prstGeom prst="line">
            <a:avLst/>
          </a:prstGeom>
          <a:ln w="12700">
            <a:solidFill>
              <a:srgbClr val="D5DDE6"/>
            </a:solidFill>
          </a:ln>
        </p:spPr>
        <p:style>
          <a:lnRef idx="2">
            <a:schemeClr val="accent1"/>
          </a:lnRef>
          <a:fillRef idx="0">
            <a:schemeClr val="accent1"/>
          </a:fillRef>
          <a:effectRef idx="1">
            <a:schemeClr val="accent1"/>
          </a:effectRef>
          <a:fontRef idx="minor">
            <a:schemeClr val="tx1"/>
          </a:fontRef>
        </p:style>
      </p:cxnSp>
      <p:pic>
        <p:nvPicPr>
          <p:cNvPr id="4" name="Picture 3" descr="T17_dark_mode.png"/>
          <p:cNvPicPr>
            <a:picLocks noChangeAspect="1"/>
          </p:cNvPicPr>
          <p:nvPr/>
        </p:nvPicPr>
        <p:blipFill>
          <a:blip r:embed="rId3"/>
          <a:stretch>
            <a:fillRect/>
          </a:stretch>
        </p:blipFill>
        <p:spPr>
          <a:xfrm>
            <a:off x="1070720" y="1316736"/>
            <a:ext cx="2384839" cy="5020056"/>
          </a:xfrm>
          <a:prstGeom prst="rect">
            <a:avLst/>
          </a:prstGeom>
        </p:spPr>
      </p:pic>
      <p:pic>
        <p:nvPicPr>
          <p:cNvPr id="5" name="Picture 4" descr="T18_hide_costs.png"/>
          <p:cNvPicPr>
            <a:picLocks noChangeAspect="1"/>
          </p:cNvPicPr>
          <p:nvPr/>
        </p:nvPicPr>
        <p:blipFill>
          <a:blip r:embed="rId4"/>
          <a:stretch>
            <a:fillRect/>
          </a:stretch>
        </p:blipFill>
        <p:spPr>
          <a:xfrm>
            <a:off x="4067221" y="1316736"/>
            <a:ext cx="2353725" cy="5020056"/>
          </a:xfrm>
          <a:prstGeom prst="rect">
            <a:avLst/>
          </a:prstGeom>
        </p:spPr>
      </p:pic>
      <p:sp>
        <p:nvSpPr>
          <p:cNvPr id="6" name="Rounded Rectangle 5"/>
          <p:cNvSpPr/>
          <p:nvPr/>
        </p:nvSpPr>
        <p:spPr>
          <a:xfrm>
            <a:off x="6839712" y="1920240"/>
            <a:ext cx="4334256" cy="2331720"/>
          </a:xfrm>
          <a:prstGeom prst="roundRect">
            <a:avLst>
              <a:gd name="adj" fmla="val 9000"/>
            </a:avLst>
          </a:prstGeom>
          <a:solidFill>
            <a:srgbClr val="F2F5F9"/>
          </a:solidFill>
          <a:ln w="10160">
            <a:solidFill>
              <a:srgbClr val="D5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059168" y="2121408"/>
            <a:ext cx="3895344" cy="1947672"/>
          </a:xfrm>
          <a:prstGeom prst="rect">
            <a:avLst/>
          </a:prstGeom>
          <a:noFill/>
        </p:spPr>
        <p:txBody>
          <a:bodyPr wrap="square" lIns="36576" tIns="27432" rIns="36576" bIns="27432" anchor="t">
            <a:spAutoFit/>
          </a:bodyPr>
          <a:lstStyle/>
          <a:p>
            <a:pPr>
              <a:lnSpc>
                <a:spcPct val="112000"/>
              </a:lnSpc>
              <a:spcBef>
                <a:spcPts val="0"/>
              </a:spcBef>
              <a:spcAft>
                <a:spcPts val="0"/>
              </a:spcAft>
              <a:defRPr sz="1300" b="0">
                <a:solidFill>
                  <a:srgbClr val="22272D"/>
                </a:solidFill>
                <a:latin typeface="Consolas"/>
              </a:defRPr>
            </a:pPr>
            <a:r>
              <a:t>final prefs = await SharedPreferences.getInstance();</a:t>
            </a:r>
          </a:p>
          <a:p>
            <a:pPr>
              <a:lnSpc>
                <a:spcPct val="112000"/>
              </a:lnSpc>
              <a:spcBef>
                <a:spcPts val="0"/>
              </a:spcBef>
              <a:spcAft>
                <a:spcPts val="0"/>
              </a:spcAft>
              <a:defRPr sz="1300" b="0">
                <a:solidFill>
                  <a:srgbClr val="22272D"/>
                </a:solidFill>
                <a:latin typeface="Consolas"/>
              </a:defRPr>
            </a:pPr>
            <a:r>
              <a:t>darkMode = prefs.getBool('darkMode') ?? false;</a:t>
            </a:r>
          </a:p>
          <a:p>
            <a:pPr>
              <a:lnSpc>
                <a:spcPct val="112000"/>
              </a:lnSpc>
              <a:spcBef>
                <a:spcPts val="0"/>
              </a:spcBef>
              <a:spcAft>
                <a:spcPts val="0"/>
              </a:spcAft>
              <a:defRPr sz="1300" b="0">
                <a:solidFill>
                  <a:srgbClr val="22272D"/>
                </a:solidFill>
                <a:latin typeface="Consolas"/>
              </a:defRPr>
            </a:pPr>
            <a:r>
              <a:t>warningMiles = prefs.getDouble('warningMiles') ?? 500;</a:t>
            </a:r>
          </a:p>
          <a:p>
            <a:pPr>
              <a:lnSpc>
                <a:spcPct val="112000"/>
              </a:lnSpc>
              <a:spcBef>
                <a:spcPts val="0"/>
              </a:spcBef>
              <a:spcAft>
                <a:spcPts val="0"/>
              </a:spcAft>
              <a:defRPr sz="1300" b="0">
                <a:solidFill>
                  <a:srgbClr val="22272D"/>
                </a:solidFill>
                <a:latin typeface="Consolas"/>
              </a:defRPr>
            </a:pPr>
            <a:endParaRPr/>
          </a:p>
          <a:p>
            <a:pPr>
              <a:lnSpc>
                <a:spcPct val="112000"/>
              </a:lnSpc>
              <a:spcBef>
                <a:spcPts val="0"/>
              </a:spcBef>
              <a:spcAft>
                <a:spcPts val="0"/>
              </a:spcAft>
              <a:defRPr sz="1300" b="0">
                <a:solidFill>
                  <a:srgbClr val="22272D"/>
                </a:solidFill>
                <a:latin typeface="Consolas"/>
              </a:defRPr>
            </a:pPr>
            <a:r>
              <a:t>await prefs.setBool('darkMode', value);</a:t>
            </a:r>
          </a:p>
        </p:txBody>
      </p:sp>
      <p:sp>
        <p:nvSpPr>
          <p:cNvPr id="8" name="TextBox 7"/>
          <p:cNvSpPr txBox="1"/>
          <p:nvPr/>
        </p:nvSpPr>
        <p:spPr>
          <a:xfrm>
            <a:off x="6949440" y="4736592"/>
            <a:ext cx="4114800" cy="960120"/>
          </a:xfrm>
          <a:prstGeom prst="rect">
            <a:avLst/>
          </a:prstGeom>
          <a:noFill/>
        </p:spPr>
        <p:txBody>
          <a:bodyPr wrap="square" lIns="36576" tIns="27432" rIns="36576" bIns="27432" anchor="ctr">
            <a:spAutoFit/>
          </a:bodyPr>
          <a:lstStyle/>
          <a:p>
            <a:pPr>
              <a:lnSpc>
                <a:spcPct val="112000"/>
              </a:lnSpc>
              <a:spcBef>
                <a:spcPts val="0"/>
              </a:spcBef>
              <a:spcAft>
                <a:spcPts val="0"/>
              </a:spcAft>
              <a:defRPr sz="1800" b="0">
                <a:solidFill>
                  <a:srgbClr val="22272D"/>
                </a:solidFill>
                <a:latin typeface="Arial"/>
              </a:defRPr>
            </a:pPr>
            <a:r>
              <a:t>Dark mode and cost visibility are optional. Preferences stay saved locally.</a:t>
            </a:r>
          </a:p>
        </p:txBody>
      </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AFBFC"/>
        </a:solidFill>
        <a:effectLst/>
      </p:bgPr>
    </p:bg>
    <p:spTree>
      <p:nvGrpSpPr>
        <p:cNvPr id="1" name=""/>
        <p:cNvGrpSpPr/>
        <p:nvPr/>
      </p:nvGrpSpPr>
      <p:grpSpPr>
        <a:xfrm>
          <a:off x="0" y="0"/>
          <a:ext cx="0" cy="0"/>
          <a:chOff x="0" y="0"/>
          <a:chExt cx="0" cy="0"/>
        </a:xfrm>
      </p:grpSpPr>
      <p:sp>
        <p:nvSpPr>
          <p:cNvPr id="2" name="TextBox 1"/>
          <p:cNvSpPr txBox="1"/>
          <p:nvPr/>
        </p:nvSpPr>
        <p:spPr>
          <a:xfrm>
            <a:off x="667512" y="365760"/>
            <a:ext cx="10972800" cy="548640"/>
          </a:xfrm>
          <a:prstGeom prst="rect">
            <a:avLst/>
          </a:prstGeom>
          <a:noFill/>
        </p:spPr>
        <p:txBody>
          <a:bodyPr wrap="square" lIns="36576" tIns="27432" rIns="36576" bIns="27432" anchor="ctr">
            <a:spAutoFit/>
          </a:bodyPr>
          <a:lstStyle/>
          <a:p>
            <a:pPr>
              <a:lnSpc>
                <a:spcPct val="112000"/>
              </a:lnSpc>
              <a:spcBef>
                <a:spcPts val="0"/>
              </a:spcBef>
              <a:spcAft>
                <a:spcPts val="0"/>
              </a:spcAft>
              <a:defRPr sz="3000" b="1">
                <a:solidFill>
                  <a:srgbClr val="1A3048"/>
                </a:solidFill>
                <a:latin typeface="Arial"/>
              </a:defRPr>
            </a:pPr>
            <a:r>
              <a:rPr dirty="0"/>
              <a:t>How </a:t>
            </a:r>
            <a:r>
              <a:rPr lang="en-US" dirty="0"/>
              <a:t>I</a:t>
            </a:r>
            <a:r>
              <a:rPr dirty="0"/>
              <a:t> tested the app</a:t>
            </a:r>
          </a:p>
        </p:txBody>
      </p:sp>
      <p:cxnSp>
        <p:nvCxnSpPr>
          <p:cNvPr id="3" name="Connector 2"/>
          <p:cNvCxnSpPr/>
          <p:nvPr/>
        </p:nvCxnSpPr>
        <p:spPr>
          <a:xfrm>
            <a:off x="694944" y="1069848"/>
            <a:ext cx="10799064" cy="0"/>
          </a:xfrm>
          <a:prstGeom prst="line">
            <a:avLst/>
          </a:prstGeom>
          <a:ln w="12700">
            <a:solidFill>
              <a:srgbClr val="D5DDE6"/>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822960" y="1508760"/>
            <a:ext cx="10552176" cy="914400"/>
          </a:xfrm>
          <a:prstGeom prst="roundRect">
            <a:avLst>
              <a:gd name="adj" fmla="val 9000"/>
            </a:avLst>
          </a:prstGeom>
          <a:solidFill>
            <a:srgbClr val="E7EE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97280" y="1682496"/>
            <a:ext cx="7223760" cy="548640"/>
          </a:xfrm>
          <a:prstGeom prst="rect">
            <a:avLst/>
          </a:prstGeom>
          <a:noFill/>
        </p:spPr>
        <p:txBody>
          <a:bodyPr wrap="square" lIns="36576" tIns="27432" rIns="36576" bIns="27432" anchor="ctr">
            <a:spAutoFit/>
          </a:bodyPr>
          <a:lstStyle/>
          <a:p>
            <a:pPr>
              <a:lnSpc>
                <a:spcPct val="112000"/>
              </a:lnSpc>
              <a:spcBef>
                <a:spcPts val="0"/>
              </a:spcBef>
              <a:spcAft>
                <a:spcPts val="0"/>
              </a:spcAft>
              <a:defRPr sz="2500" b="1">
                <a:solidFill>
                  <a:srgbClr val="1A3048"/>
                </a:solidFill>
                <a:latin typeface="Arial"/>
              </a:defRPr>
            </a:pPr>
            <a:r>
              <a:t>20 manual test cases reported passed</a:t>
            </a:r>
          </a:p>
        </p:txBody>
      </p:sp>
      <p:sp>
        <p:nvSpPr>
          <p:cNvPr id="6" name="TextBox 5"/>
          <p:cNvSpPr txBox="1"/>
          <p:nvPr/>
        </p:nvSpPr>
        <p:spPr>
          <a:xfrm>
            <a:off x="8778240" y="1773936"/>
            <a:ext cx="2194560" cy="402336"/>
          </a:xfrm>
          <a:prstGeom prst="rect">
            <a:avLst/>
          </a:prstGeom>
          <a:noFill/>
        </p:spPr>
        <p:txBody>
          <a:bodyPr wrap="square" lIns="36576" tIns="27432" rIns="36576" bIns="27432" anchor="ctr">
            <a:spAutoFit/>
          </a:bodyPr>
          <a:lstStyle/>
          <a:p>
            <a:pPr algn="r">
              <a:lnSpc>
                <a:spcPct val="112000"/>
              </a:lnSpc>
              <a:spcBef>
                <a:spcPts val="0"/>
              </a:spcBef>
              <a:spcAft>
                <a:spcPts val="0"/>
              </a:spcAft>
              <a:defRPr sz="2000" b="1">
                <a:solidFill>
                  <a:srgbClr val="355B87"/>
                </a:solidFill>
                <a:latin typeface="Arial"/>
              </a:defRPr>
            </a:pPr>
            <a:r>
              <a:t>T1–T20</a:t>
            </a:r>
          </a:p>
        </p:txBody>
      </p:sp>
      <p:sp>
        <p:nvSpPr>
          <p:cNvPr id="7" name="TextBox 6"/>
          <p:cNvSpPr txBox="1"/>
          <p:nvPr/>
        </p:nvSpPr>
        <p:spPr>
          <a:xfrm>
            <a:off x="996696" y="2724912"/>
            <a:ext cx="1225296" cy="411480"/>
          </a:xfrm>
          <a:prstGeom prst="rect">
            <a:avLst/>
          </a:prstGeom>
          <a:noFill/>
        </p:spPr>
        <p:txBody>
          <a:bodyPr wrap="square" lIns="36576" tIns="27432" rIns="36576" bIns="27432" anchor="ctr">
            <a:spAutoFit/>
          </a:bodyPr>
          <a:lstStyle/>
          <a:p>
            <a:pPr>
              <a:lnSpc>
                <a:spcPct val="112000"/>
              </a:lnSpc>
              <a:spcBef>
                <a:spcPts val="0"/>
              </a:spcBef>
              <a:spcAft>
                <a:spcPts val="0"/>
              </a:spcAft>
              <a:defRPr sz="1700" b="1">
                <a:solidFill>
                  <a:srgbClr val="355B87"/>
                </a:solidFill>
                <a:latin typeface="Arial"/>
              </a:defRPr>
            </a:pPr>
            <a:r>
              <a:t>T1–T5</a:t>
            </a:r>
          </a:p>
        </p:txBody>
      </p:sp>
      <p:sp>
        <p:nvSpPr>
          <p:cNvPr id="8" name="TextBox 7"/>
          <p:cNvSpPr txBox="1"/>
          <p:nvPr/>
        </p:nvSpPr>
        <p:spPr>
          <a:xfrm>
            <a:off x="2514600" y="2724912"/>
            <a:ext cx="8385048" cy="411480"/>
          </a:xfrm>
          <a:prstGeom prst="rect">
            <a:avLst/>
          </a:prstGeom>
          <a:noFill/>
        </p:spPr>
        <p:txBody>
          <a:bodyPr wrap="square" lIns="36576" tIns="27432" rIns="36576" bIns="27432" anchor="ctr">
            <a:spAutoFit/>
          </a:bodyPr>
          <a:lstStyle/>
          <a:p>
            <a:pPr>
              <a:lnSpc>
                <a:spcPct val="112000"/>
              </a:lnSpc>
              <a:spcBef>
                <a:spcPts val="0"/>
              </a:spcBef>
              <a:spcAft>
                <a:spcPts val="0"/>
              </a:spcAft>
              <a:defRPr sz="1800" b="0">
                <a:solidFill>
                  <a:srgbClr val="22272D"/>
                </a:solidFill>
                <a:latin typeface="Arial"/>
              </a:defRPr>
            </a:pPr>
            <a:r>
              <a:t>Vehicles: add, edit, validation and delete</a:t>
            </a:r>
          </a:p>
        </p:txBody>
      </p:sp>
      <p:sp>
        <p:nvSpPr>
          <p:cNvPr id="9" name="TextBox 8"/>
          <p:cNvSpPr txBox="1"/>
          <p:nvPr/>
        </p:nvSpPr>
        <p:spPr>
          <a:xfrm>
            <a:off x="996696" y="3328416"/>
            <a:ext cx="1225296" cy="411480"/>
          </a:xfrm>
          <a:prstGeom prst="rect">
            <a:avLst/>
          </a:prstGeom>
          <a:noFill/>
        </p:spPr>
        <p:txBody>
          <a:bodyPr wrap="square" lIns="36576" tIns="27432" rIns="36576" bIns="27432" anchor="ctr">
            <a:spAutoFit/>
          </a:bodyPr>
          <a:lstStyle/>
          <a:p>
            <a:pPr>
              <a:lnSpc>
                <a:spcPct val="112000"/>
              </a:lnSpc>
              <a:spcBef>
                <a:spcPts val="0"/>
              </a:spcBef>
              <a:spcAft>
                <a:spcPts val="0"/>
              </a:spcAft>
              <a:defRPr sz="1700" b="1">
                <a:solidFill>
                  <a:srgbClr val="355B87"/>
                </a:solidFill>
                <a:latin typeface="Arial"/>
              </a:defRPr>
            </a:pPr>
            <a:r>
              <a:t>T6–T9</a:t>
            </a:r>
          </a:p>
        </p:txBody>
      </p:sp>
      <p:sp>
        <p:nvSpPr>
          <p:cNvPr id="10" name="TextBox 9"/>
          <p:cNvSpPr txBox="1"/>
          <p:nvPr/>
        </p:nvSpPr>
        <p:spPr>
          <a:xfrm>
            <a:off x="2514600" y="3328416"/>
            <a:ext cx="8385048" cy="411480"/>
          </a:xfrm>
          <a:prstGeom prst="rect">
            <a:avLst/>
          </a:prstGeom>
          <a:noFill/>
        </p:spPr>
        <p:txBody>
          <a:bodyPr wrap="square" lIns="36576" tIns="27432" rIns="36576" bIns="27432" anchor="ctr">
            <a:spAutoFit/>
          </a:bodyPr>
          <a:lstStyle/>
          <a:p>
            <a:pPr>
              <a:lnSpc>
                <a:spcPct val="112000"/>
              </a:lnSpc>
              <a:spcBef>
                <a:spcPts val="0"/>
              </a:spcBef>
              <a:spcAft>
                <a:spcPts val="0"/>
              </a:spcAft>
              <a:defRPr sz="1800" b="0">
                <a:solidFill>
                  <a:srgbClr val="22272D"/>
                </a:solidFill>
                <a:latin typeface="Arial"/>
              </a:defRPr>
            </a:pPr>
            <a:r>
              <a:t>Services: add, invalid cost, edit and delete</a:t>
            </a:r>
          </a:p>
        </p:txBody>
      </p:sp>
      <p:sp>
        <p:nvSpPr>
          <p:cNvPr id="11" name="TextBox 10"/>
          <p:cNvSpPr txBox="1"/>
          <p:nvPr/>
        </p:nvSpPr>
        <p:spPr>
          <a:xfrm>
            <a:off x="996696" y="3931920"/>
            <a:ext cx="1225296" cy="411480"/>
          </a:xfrm>
          <a:prstGeom prst="rect">
            <a:avLst/>
          </a:prstGeom>
          <a:noFill/>
        </p:spPr>
        <p:txBody>
          <a:bodyPr wrap="square" lIns="36576" tIns="27432" rIns="36576" bIns="27432" anchor="ctr">
            <a:spAutoFit/>
          </a:bodyPr>
          <a:lstStyle/>
          <a:p>
            <a:pPr>
              <a:lnSpc>
                <a:spcPct val="112000"/>
              </a:lnSpc>
              <a:spcBef>
                <a:spcPts val="0"/>
              </a:spcBef>
              <a:spcAft>
                <a:spcPts val="0"/>
              </a:spcAft>
              <a:defRPr sz="1700" b="1">
                <a:solidFill>
                  <a:srgbClr val="355B87"/>
                </a:solidFill>
                <a:latin typeface="Arial"/>
              </a:defRPr>
            </a:pPr>
            <a:r>
              <a:t>T10–T11</a:t>
            </a:r>
          </a:p>
        </p:txBody>
      </p:sp>
      <p:sp>
        <p:nvSpPr>
          <p:cNvPr id="12" name="TextBox 11"/>
          <p:cNvSpPr txBox="1"/>
          <p:nvPr/>
        </p:nvSpPr>
        <p:spPr>
          <a:xfrm>
            <a:off x="2514600" y="3931920"/>
            <a:ext cx="8385048" cy="411480"/>
          </a:xfrm>
          <a:prstGeom prst="rect">
            <a:avLst/>
          </a:prstGeom>
          <a:noFill/>
        </p:spPr>
        <p:txBody>
          <a:bodyPr wrap="square" lIns="36576" tIns="27432" rIns="36576" bIns="27432" anchor="ctr">
            <a:spAutoFit/>
          </a:bodyPr>
          <a:lstStyle/>
          <a:p>
            <a:pPr>
              <a:lnSpc>
                <a:spcPct val="112000"/>
              </a:lnSpc>
              <a:spcBef>
                <a:spcPts val="0"/>
              </a:spcBef>
              <a:spcAft>
                <a:spcPts val="0"/>
              </a:spcAft>
              <a:defRPr sz="1800" b="0">
                <a:solidFill>
                  <a:srgbClr val="22272D"/>
                </a:solidFill>
                <a:latin typeface="Arial"/>
              </a:defRPr>
            </a:pPr>
            <a:r>
              <a:t>Offline restart and cascade deletion</a:t>
            </a:r>
          </a:p>
        </p:txBody>
      </p:sp>
      <p:sp>
        <p:nvSpPr>
          <p:cNvPr id="13" name="TextBox 12"/>
          <p:cNvSpPr txBox="1"/>
          <p:nvPr/>
        </p:nvSpPr>
        <p:spPr>
          <a:xfrm>
            <a:off x="996696" y="4535424"/>
            <a:ext cx="1225296" cy="411480"/>
          </a:xfrm>
          <a:prstGeom prst="rect">
            <a:avLst/>
          </a:prstGeom>
          <a:noFill/>
        </p:spPr>
        <p:txBody>
          <a:bodyPr wrap="square" lIns="36576" tIns="27432" rIns="36576" bIns="27432" anchor="ctr">
            <a:spAutoFit/>
          </a:bodyPr>
          <a:lstStyle/>
          <a:p>
            <a:pPr>
              <a:lnSpc>
                <a:spcPct val="112000"/>
              </a:lnSpc>
              <a:spcBef>
                <a:spcPts val="0"/>
              </a:spcBef>
              <a:spcAft>
                <a:spcPts val="0"/>
              </a:spcAft>
              <a:defRPr sz="1700" b="1">
                <a:solidFill>
                  <a:srgbClr val="355B87"/>
                </a:solidFill>
                <a:latin typeface="Arial"/>
              </a:defRPr>
            </a:pPr>
            <a:r>
              <a:t>T12–T16</a:t>
            </a:r>
          </a:p>
        </p:txBody>
      </p:sp>
      <p:sp>
        <p:nvSpPr>
          <p:cNvPr id="14" name="TextBox 13"/>
          <p:cNvSpPr txBox="1"/>
          <p:nvPr/>
        </p:nvSpPr>
        <p:spPr>
          <a:xfrm>
            <a:off x="2514600" y="4535424"/>
            <a:ext cx="8385048" cy="411480"/>
          </a:xfrm>
          <a:prstGeom prst="rect">
            <a:avLst/>
          </a:prstGeom>
          <a:noFill/>
        </p:spPr>
        <p:txBody>
          <a:bodyPr wrap="square" lIns="36576" tIns="27432" rIns="36576" bIns="27432" anchor="ctr">
            <a:spAutoFit/>
          </a:bodyPr>
          <a:lstStyle/>
          <a:p>
            <a:pPr>
              <a:lnSpc>
                <a:spcPct val="112000"/>
              </a:lnSpc>
              <a:spcBef>
                <a:spcPts val="0"/>
              </a:spcBef>
              <a:spcAft>
                <a:spcPts val="0"/>
              </a:spcAft>
              <a:defRPr sz="1800" b="0">
                <a:solidFill>
                  <a:srgbClr val="22272D"/>
                </a:solidFill>
                <a:latin typeface="Arial"/>
              </a:defRPr>
            </a:pPr>
            <a:r>
              <a:t>Helper: normal, boundary, overdue, no-data and comparison</a:t>
            </a:r>
          </a:p>
        </p:txBody>
      </p:sp>
      <p:sp>
        <p:nvSpPr>
          <p:cNvPr id="15" name="TextBox 14"/>
          <p:cNvSpPr txBox="1"/>
          <p:nvPr/>
        </p:nvSpPr>
        <p:spPr>
          <a:xfrm>
            <a:off x="996696" y="5138928"/>
            <a:ext cx="1225296" cy="411480"/>
          </a:xfrm>
          <a:prstGeom prst="rect">
            <a:avLst/>
          </a:prstGeom>
          <a:noFill/>
        </p:spPr>
        <p:txBody>
          <a:bodyPr wrap="square" lIns="36576" tIns="27432" rIns="36576" bIns="27432" anchor="ctr">
            <a:spAutoFit/>
          </a:bodyPr>
          <a:lstStyle/>
          <a:p>
            <a:pPr>
              <a:lnSpc>
                <a:spcPct val="112000"/>
              </a:lnSpc>
              <a:spcBef>
                <a:spcPts val="0"/>
              </a:spcBef>
              <a:spcAft>
                <a:spcPts val="0"/>
              </a:spcAft>
              <a:defRPr sz="1700" b="1">
                <a:solidFill>
                  <a:srgbClr val="355B87"/>
                </a:solidFill>
                <a:latin typeface="Arial"/>
              </a:defRPr>
            </a:pPr>
            <a:r>
              <a:t>T17–T20</a:t>
            </a:r>
          </a:p>
        </p:txBody>
      </p:sp>
      <p:sp>
        <p:nvSpPr>
          <p:cNvPr id="16" name="TextBox 15"/>
          <p:cNvSpPr txBox="1"/>
          <p:nvPr/>
        </p:nvSpPr>
        <p:spPr>
          <a:xfrm>
            <a:off x="2514600" y="5138928"/>
            <a:ext cx="8385048" cy="411480"/>
          </a:xfrm>
          <a:prstGeom prst="rect">
            <a:avLst/>
          </a:prstGeom>
          <a:noFill/>
        </p:spPr>
        <p:txBody>
          <a:bodyPr wrap="square" lIns="36576" tIns="27432" rIns="36576" bIns="27432" anchor="ctr">
            <a:spAutoFit/>
          </a:bodyPr>
          <a:lstStyle/>
          <a:p>
            <a:pPr>
              <a:lnSpc>
                <a:spcPct val="112000"/>
              </a:lnSpc>
              <a:spcBef>
                <a:spcPts val="0"/>
              </a:spcBef>
              <a:spcAft>
                <a:spcPts val="0"/>
              </a:spcAft>
              <a:defRPr sz="1800" b="0">
                <a:solidFill>
                  <a:srgbClr val="22272D"/>
                </a:solidFill>
                <a:latin typeface="Arial"/>
              </a:defRPr>
            </a:pPr>
            <a:r>
              <a:t>Preferences, override and responsive layout</a:t>
            </a:r>
          </a:p>
        </p:txBody>
      </p:sp>
      <p:sp>
        <p:nvSpPr>
          <p:cNvPr id="17" name="TextBox 16"/>
          <p:cNvSpPr txBox="1"/>
          <p:nvPr/>
        </p:nvSpPr>
        <p:spPr>
          <a:xfrm>
            <a:off x="886968" y="5952744"/>
            <a:ext cx="10241280" cy="384048"/>
          </a:xfrm>
          <a:prstGeom prst="rect">
            <a:avLst/>
          </a:prstGeom>
          <a:noFill/>
        </p:spPr>
        <p:txBody>
          <a:bodyPr wrap="square" lIns="36576" tIns="27432" rIns="36576" bIns="27432" anchor="ctr">
            <a:spAutoFit/>
          </a:bodyPr>
          <a:lstStyle/>
          <a:p>
            <a:pPr>
              <a:lnSpc>
                <a:spcPct val="112000"/>
              </a:lnSpc>
              <a:spcBef>
                <a:spcPts val="0"/>
              </a:spcBef>
              <a:spcAft>
                <a:spcPts val="0"/>
              </a:spcAft>
              <a:defRPr sz="1400" b="0">
                <a:solidFill>
                  <a:srgbClr val="5C646E"/>
                </a:solidFill>
                <a:latin typeface="Arial"/>
              </a:defRPr>
            </a:pPr>
            <a:r>
              <a:t>Screenshots show selected results. Actions such as restart and cancel were confirmed in the test log.</a:t>
            </a:r>
          </a:p>
        </p:txBody>
      </p:sp>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AFBFC"/>
        </a:solidFill>
        <a:effectLst/>
      </p:bgPr>
    </p:bg>
    <p:spTree>
      <p:nvGrpSpPr>
        <p:cNvPr id="1" name=""/>
        <p:cNvGrpSpPr/>
        <p:nvPr/>
      </p:nvGrpSpPr>
      <p:grpSpPr>
        <a:xfrm>
          <a:off x="0" y="0"/>
          <a:ext cx="0" cy="0"/>
          <a:chOff x="0" y="0"/>
          <a:chExt cx="0" cy="0"/>
        </a:xfrm>
      </p:grpSpPr>
      <p:sp>
        <p:nvSpPr>
          <p:cNvPr id="2" name="TextBox 1"/>
          <p:cNvSpPr txBox="1"/>
          <p:nvPr/>
        </p:nvSpPr>
        <p:spPr>
          <a:xfrm>
            <a:off x="667512" y="365760"/>
            <a:ext cx="10972800" cy="548640"/>
          </a:xfrm>
          <a:prstGeom prst="rect">
            <a:avLst/>
          </a:prstGeom>
          <a:noFill/>
        </p:spPr>
        <p:txBody>
          <a:bodyPr wrap="square" lIns="36576" tIns="27432" rIns="36576" bIns="27432" anchor="ctr">
            <a:spAutoFit/>
          </a:bodyPr>
          <a:lstStyle/>
          <a:p>
            <a:pPr>
              <a:lnSpc>
                <a:spcPct val="112000"/>
              </a:lnSpc>
              <a:spcBef>
                <a:spcPts val="0"/>
              </a:spcBef>
              <a:spcAft>
                <a:spcPts val="0"/>
              </a:spcAft>
              <a:defRPr sz="3000" b="1">
                <a:solidFill>
                  <a:srgbClr val="1A3048"/>
                </a:solidFill>
                <a:latin typeface="Arial"/>
              </a:defRPr>
            </a:pPr>
            <a:r>
              <a:t>Testing: bad input should not save</a:t>
            </a:r>
          </a:p>
        </p:txBody>
      </p:sp>
      <p:cxnSp>
        <p:nvCxnSpPr>
          <p:cNvPr id="3" name="Connector 2"/>
          <p:cNvCxnSpPr/>
          <p:nvPr/>
        </p:nvCxnSpPr>
        <p:spPr>
          <a:xfrm>
            <a:off x="694944" y="1069848"/>
            <a:ext cx="10799064" cy="0"/>
          </a:xfrm>
          <a:prstGeom prst="line">
            <a:avLst/>
          </a:prstGeom>
          <a:ln w="12700">
            <a:solidFill>
              <a:srgbClr val="D5DDE6"/>
            </a:solidFill>
          </a:ln>
        </p:spPr>
        <p:style>
          <a:lnRef idx="2">
            <a:schemeClr val="accent1"/>
          </a:lnRef>
          <a:fillRef idx="0">
            <a:schemeClr val="accent1"/>
          </a:fillRef>
          <a:effectRef idx="1">
            <a:schemeClr val="accent1"/>
          </a:effectRef>
          <a:fontRef idx="minor">
            <a:schemeClr val="tx1"/>
          </a:fontRef>
        </p:style>
      </p:cxnSp>
      <p:pic>
        <p:nvPicPr>
          <p:cNvPr id="4" name="Picture 3" descr="T2_invalid_vehicle.png"/>
          <p:cNvPicPr>
            <a:picLocks noChangeAspect="1"/>
          </p:cNvPicPr>
          <p:nvPr/>
        </p:nvPicPr>
        <p:blipFill>
          <a:blip r:embed="rId3"/>
          <a:stretch>
            <a:fillRect/>
          </a:stretch>
        </p:blipFill>
        <p:spPr>
          <a:xfrm>
            <a:off x="1254495" y="1399032"/>
            <a:ext cx="2255032" cy="4882896"/>
          </a:xfrm>
          <a:prstGeom prst="rect">
            <a:avLst/>
          </a:prstGeom>
        </p:spPr>
      </p:pic>
      <p:pic>
        <p:nvPicPr>
          <p:cNvPr id="5" name="Picture 4" descr="T7_invalid_service.png"/>
          <p:cNvPicPr>
            <a:picLocks noChangeAspect="1"/>
          </p:cNvPicPr>
          <p:nvPr/>
        </p:nvPicPr>
        <p:blipFill>
          <a:blip r:embed="rId4"/>
          <a:stretch>
            <a:fillRect/>
          </a:stretch>
        </p:blipFill>
        <p:spPr>
          <a:xfrm>
            <a:off x="4444293" y="1399032"/>
            <a:ext cx="2276237" cy="4882896"/>
          </a:xfrm>
          <a:prstGeom prst="rect">
            <a:avLst/>
          </a:prstGeom>
        </p:spPr>
      </p:pic>
      <p:sp>
        <p:nvSpPr>
          <p:cNvPr id="6" name="TextBox 5"/>
          <p:cNvSpPr txBox="1"/>
          <p:nvPr/>
        </p:nvSpPr>
        <p:spPr>
          <a:xfrm>
            <a:off x="7443216" y="1737360"/>
            <a:ext cx="3639312" cy="521207"/>
          </a:xfrm>
          <a:prstGeom prst="rect">
            <a:avLst/>
          </a:prstGeom>
          <a:noFill/>
        </p:spPr>
        <p:txBody>
          <a:bodyPr wrap="square" lIns="36576" tIns="27432" rIns="36576" bIns="27432" anchor="ctr">
            <a:spAutoFit/>
          </a:bodyPr>
          <a:lstStyle/>
          <a:p>
            <a:pPr>
              <a:lnSpc>
                <a:spcPct val="112000"/>
              </a:lnSpc>
              <a:spcBef>
                <a:spcPts val="0"/>
              </a:spcBef>
              <a:spcAft>
                <a:spcPts val="0"/>
              </a:spcAft>
              <a:defRPr sz="2200" b="1">
                <a:solidFill>
                  <a:srgbClr val="1A3048"/>
                </a:solidFill>
                <a:latin typeface="Arial"/>
              </a:defRPr>
            </a:pPr>
            <a:r>
              <a:t>What we observed</a:t>
            </a:r>
          </a:p>
        </p:txBody>
      </p:sp>
      <p:sp>
        <p:nvSpPr>
          <p:cNvPr id="7" name="TextBox 6"/>
          <p:cNvSpPr txBox="1"/>
          <p:nvPr/>
        </p:nvSpPr>
        <p:spPr>
          <a:xfrm>
            <a:off x="7443216" y="2423160"/>
            <a:ext cx="3712463" cy="786384"/>
          </a:xfrm>
          <a:prstGeom prst="rect">
            <a:avLst/>
          </a:prstGeom>
          <a:noFill/>
        </p:spPr>
        <p:txBody>
          <a:bodyPr wrap="square" lIns="36576" tIns="27432" rIns="36576" bIns="27432" anchor="ctr">
            <a:spAutoFit/>
          </a:bodyPr>
          <a:lstStyle/>
          <a:p>
            <a:pPr>
              <a:lnSpc>
                <a:spcPct val="112000"/>
              </a:lnSpc>
              <a:spcBef>
                <a:spcPts val="0"/>
              </a:spcBef>
              <a:spcAft>
                <a:spcPts val="0"/>
              </a:spcAft>
              <a:defRPr sz="1800" b="0">
                <a:solidFill>
                  <a:srgbClr val="22272D"/>
                </a:solidFill>
                <a:latin typeface="Arial"/>
              </a:defRPr>
            </a:pPr>
            <a:r>
              <a:t>•  Vehicle form rejects blank make and negative mileage.</a:t>
            </a:r>
          </a:p>
        </p:txBody>
      </p:sp>
      <p:sp>
        <p:nvSpPr>
          <p:cNvPr id="8" name="TextBox 7"/>
          <p:cNvSpPr txBox="1"/>
          <p:nvPr/>
        </p:nvSpPr>
        <p:spPr>
          <a:xfrm>
            <a:off x="7443216" y="3264408"/>
            <a:ext cx="3712463" cy="786384"/>
          </a:xfrm>
          <a:prstGeom prst="rect">
            <a:avLst/>
          </a:prstGeom>
          <a:noFill/>
        </p:spPr>
        <p:txBody>
          <a:bodyPr wrap="square" lIns="36576" tIns="27432" rIns="36576" bIns="27432" anchor="ctr">
            <a:spAutoFit/>
          </a:bodyPr>
          <a:lstStyle/>
          <a:p>
            <a:pPr>
              <a:lnSpc>
                <a:spcPct val="112000"/>
              </a:lnSpc>
              <a:spcBef>
                <a:spcPts val="0"/>
              </a:spcBef>
              <a:spcAft>
                <a:spcPts val="0"/>
              </a:spcAft>
              <a:defRPr sz="1800" b="0">
                <a:solidFill>
                  <a:srgbClr val="22272D"/>
                </a:solidFill>
                <a:latin typeface="Arial"/>
              </a:defRPr>
            </a:pPr>
            <a:r>
              <a:t>•  Service form rejects a negative cost.</a:t>
            </a:r>
          </a:p>
        </p:txBody>
      </p:sp>
      <p:sp>
        <p:nvSpPr>
          <p:cNvPr id="9" name="TextBox 8"/>
          <p:cNvSpPr txBox="1"/>
          <p:nvPr/>
        </p:nvSpPr>
        <p:spPr>
          <a:xfrm>
            <a:off x="7443216" y="4105656"/>
            <a:ext cx="3712463" cy="786384"/>
          </a:xfrm>
          <a:prstGeom prst="rect">
            <a:avLst/>
          </a:prstGeom>
          <a:noFill/>
        </p:spPr>
        <p:txBody>
          <a:bodyPr wrap="square" lIns="36576" tIns="27432" rIns="36576" bIns="27432" anchor="ctr">
            <a:spAutoFit/>
          </a:bodyPr>
          <a:lstStyle/>
          <a:p>
            <a:pPr>
              <a:lnSpc>
                <a:spcPct val="112000"/>
              </a:lnSpc>
              <a:spcBef>
                <a:spcPts val="0"/>
              </a:spcBef>
              <a:spcAft>
                <a:spcPts val="0"/>
              </a:spcAft>
              <a:defRPr sz="1800" b="0">
                <a:solidFill>
                  <a:srgbClr val="22272D"/>
                </a:solidFill>
                <a:latin typeface="Arial"/>
              </a:defRPr>
            </a:pPr>
            <a:r>
              <a:t>•  The form stays open so the value can be corrected.</a:t>
            </a:r>
          </a:p>
        </p:txBody>
      </p:sp>
      <p:sp>
        <p:nvSpPr>
          <p:cNvPr id="10" name="TextBox 9"/>
          <p:cNvSpPr txBox="1"/>
          <p:nvPr/>
        </p:nvSpPr>
        <p:spPr>
          <a:xfrm>
            <a:off x="7479792" y="5669280"/>
            <a:ext cx="3383280" cy="365760"/>
          </a:xfrm>
          <a:prstGeom prst="rect">
            <a:avLst/>
          </a:prstGeom>
          <a:noFill/>
        </p:spPr>
        <p:txBody>
          <a:bodyPr wrap="square" lIns="36576" tIns="27432" rIns="36576" bIns="27432" anchor="ctr">
            <a:spAutoFit/>
          </a:bodyPr>
          <a:lstStyle/>
          <a:p>
            <a:pPr>
              <a:lnSpc>
                <a:spcPct val="112000"/>
              </a:lnSpc>
              <a:spcBef>
                <a:spcPts val="0"/>
              </a:spcBef>
              <a:spcAft>
                <a:spcPts val="0"/>
              </a:spcAft>
              <a:defRPr sz="1500" b="0">
                <a:solidFill>
                  <a:srgbClr val="5C646E"/>
                </a:solidFill>
                <a:latin typeface="Arial"/>
              </a:defRPr>
            </a:pPr>
            <a:r>
              <a:t>T2 and T7</a:t>
            </a:r>
          </a:p>
        </p:txBody>
      </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AFBFC"/>
        </a:solidFill>
        <a:effectLst/>
      </p:bgPr>
    </p:bg>
    <p:spTree>
      <p:nvGrpSpPr>
        <p:cNvPr id="1" name=""/>
        <p:cNvGrpSpPr/>
        <p:nvPr/>
      </p:nvGrpSpPr>
      <p:grpSpPr>
        <a:xfrm>
          <a:off x="0" y="0"/>
          <a:ext cx="0" cy="0"/>
          <a:chOff x="0" y="0"/>
          <a:chExt cx="0" cy="0"/>
        </a:xfrm>
      </p:grpSpPr>
      <p:sp>
        <p:nvSpPr>
          <p:cNvPr id="2" name="TextBox 1"/>
          <p:cNvSpPr txBox="1"/>
          <p:nvPr/>
        </p:nvSpPr>
        <p:spPr>
          <a:xfrm>
            <a:off x="667512" y="365760"/>
            <a:ext cx="10972800" cy="548640"/>
          </a:xfrm>
          <a:prstGeom prst="rect">
            <a:avLst/>
          </a:prstGeom>
          <a:noFill/>
        </p:spPr>
        <p:txBody>
          <a:bodyPr wrap="square" lIns="36576" tIns="27432" rIns="36576" bIns="27432" anchor="ctr">
            <a:spAutoFit/>
          </a:bodyPr>
          <a:lstStyle/>
          <a:p>
            <a:pPr>
              <a:lnSpc>
                <a:spcPct val="112000"/>
              </a:lnSpc>
              <a:spcBef>
                <a:spcPts val="0"/>
              </a:spcBef>
              <a:spcAft>
                <a:spcPts val="0"/>
              </a:spcAft>
              <a:defRPr sz="3000" b="1">
                <a:solidFill>
                  <a:srgbClr val="1A3048"/>
                </a:solidFill>
                <a:latin typeface="Arial"/>
              </a:defRPr>
            </a:pPr>
            <a:r>
              <a:t>Offline storage and related records</a:t>
            </a:r>
          </a:p>
        </p:txBody>
      </p:sp>
      <p:cxnSp>
        <p:nvCxnSpPr>
          <p:cNvPr id="3" name="Connector 2"/>
          <p:cNvCxnSpPr/>
          <p:nvPr/>
        </p:nvCxnSpPr>
        <p:spPr>
          <a:xfrm>
            <a:off x="694944" y="1069848"/>
            <a:ext cx="10799064" cy="0"/>
          </a:xfrm>
          <a:prstGeom prst="line">
            <a:avLst/>
          </a:prstGeom>
          <a:ln w="12700">
            <a:solidFill>
              <a:srgbClr val="D5DDE6"/>
            </a:solidFill>
          </a:ln>
        </p:spPr>
        <p:style>
          <a:lnRef idx="2">
            <a:schemeClr val="accent1"/>
          </a:lnRef>
          <a:fillRef idx="0">
            <a:schemeClr val="accent1"/>
          </a:fillRef>
          <a:effectRef idx="1">
            <a:schemeClr val="accent1"/>
          </a:effectRef>
          <a:fontRef idx="minor">
            <a:schemeClr val="tx1"/>
          </a:fontRef>
        </p:style>
      </p:cxnSp>
      <p:pic>
        <p:nvPicPr>
          <p:cNvPr id="4" name="Picture 3" descr="T10_offline_restart.png"/>
          <p:cNvPicPr>
            <a:picLocks noChangeAspect="1"/>
          </p:cNvPicPr>
          <p:nvPr/>
        </p:nvPicPr>
        <p:blipFill>
          <a:blip r:embed="rId3"/>
          <a:stretch>
            <a:fillRect/>
          </a:stretch>
        </p:blipFill>
        <p:spPr>
          <a:xfrm>
            <a:off x="1305193" y="1389888"/>
            <a:ext cx="2217645" cy="4901184"/>
          </a:xfrm>
          <a:prstGeom prst="rect">
            <a:avLst/>
          </a:prstGeom>
        </p:spPr>
      </p:pic>
      <p:pic>
        <p:nvPicPr>
          <p:cNvPr id="5" name="Picture 4" descr="T11_cascade_delete.png"/>
          <p:cNvPicPr>
            <a:picLocks noChangeAspect="1"/>
          </p:cNvPicPr>
          <p:nvPr/>
        </p:nvPicPr>
        <p:blipFill>
          <a:blip r:embed="rId4"/>
          <a:stretch>
            <a:fillRect/>
          </a:stretch>
        </p:blipFill>
        <p:spPr>
          <a:xfrm>
            <a:off x="4526782" y="1389888"/>
            <a:ext cx="2248418" cy="4901184"/>
          </a:xfrm>
          <a:prstGeom prst="rect">
            <a:avLst/>
          </a:prstGeom>
        </p:spPr>
      </p:pic>
      <p:sp>
        <p:nvSpPr>
          <p:cNvPr id="6" name="TextBox 5"/>
          <p:cNvSpPr txBox="1"/>
          <p:nvPr/>
        </p:nvSpPr>
        <p:spPr>
          <a:xfrm>
            <a:off x="7470648" y="1746504"/>
            <a:ext cx="3767328" cy="493776"/>
          </a:xfrm>
          <a:prstGeom prst="rect">
            <a:avLst/>
          </a:prstGeom>
          <a:noFill/>
        </p:spPr>
        <p:txBody>
          <a:bodyPr wrap="square" lIns="36576" tIns="27432" rIns="36576" bIns="27432" anchor="ctr">
            <a:spAutoFit/>
          </a:bodyPr>
          <a:lstStyle/>
          <a:p>
            <a:pPr>
              <a:lnSpc>
                <a:spcPct val="112000"/>
              </a:lnSpc>
              <a:spcBef>
                <a:spcPts val="0"/>
              </a:spcBef>
              <a:spcAft>
                <a:spcPts val="0"/>
              </a:spcAft>
              <a:defRPr sz="2200" b="1">
                <a:solidFill>
                  <a:srgbClr val="1A3048"/>
                </a:solidFill>
                <a:latin typeface="Arial"/>
              </a:defRPr>
            </a:pPr>
            <a:r>
              <a:t>Two useful checks</a:t>
            </a:r>
          </a:p>
        </p:txBody>
      </p:sp>
      <p:sp>
        <p:nvSpPr>
          <p:cNvPr id="7" name="TextBox 6"/>
          <p:cNvSpPr txBox="1"/>
          <p:nvPr/>
        </p:nvSpPr>
        <p:spPr>
          <a:xfrm>
            <a:off x="7470648" y="2450592"/>
            <a:ext cx="3739896" cy="758952"/>
          </a:xfrm>
          <a:prstGeom prst="rect">
            <a:avLst/>
          </a:prstGeom>
          <a:noFill/>
        </p:spPr>
        <p:txBody>
          <a:bodyPr wrap="square" lIns="36576" tIns="27432" rIns="36576" bIns="27432" anchor="ctr">
            <a:spAutoFit/>
          </a:bodyPr>
          <a:lstStyle/>
          <a:p>
            <a:pPr>
              <a:lnSpc>
                <a:spcPct val="112000"/>
              </a:lnSpc>
              <a:spcBef>
                <a:spcPts val="0"/>
              </a:spcBef>
              <a:spcAft>
                <a:spcPts val="0"/>
              </a:spcAft>
              <a:defRPr sz="1800" b="0">
                <a:solidFill>
                  <a:srgbClr val="22272D"/>
                </a:solidFill>
                <a:latin typeface="Arial"/>
              </a:defRPr>
            </a:pPr>
            <a:r>
              <a:t>•  T10: records remained after an offline restart.</a:t>
            </a:r>
          </a:p>
        </p:txBody>
      </p:sp>
      <p:sp>
        <p:nvSpPr>
          <p:cNvPr id="8" name="TextBox 7"/>
          <p:cNvSpPr txBox="1"/>
          <p:nvPr/>
        </p:nvSpPr>
        <p:spPr>
          <a:xfrm>
            <a:off x="7470648" y="3264408"/>
            <a:ext cx="3739896" cy="758952"/>
          </a:xfrm>
          <a:prstGeom prst="rect">
            <a:avLst/>
          </a:prstGeom>
          <a:noFill/>
        </p:spPr>
        <p:txBody>
          <a:bodyPr wrap="square" lIns="36576" tIns="27432" rIns="36576" bIns="27432" anchor="ctr">
            <a:spAutoFit/>
          </a:bodyPr>
          <a:lstStyle/>
          <a:p>
            <a:pPr>
              <a:lnSpc>
                <a:spcPct val="112000"/>
              </a:lnSpc>
              <a:spcBef>
                <a:spcPts val="0"/>
              </a:spcBef>
              <a:spcAft>
                <a:spcPts val="0"/>
              </a:spcAft>
              <a:defRPr sz="1800" b="0">
                <a:solidFill>
                  <a:srgbClr val="22272D"/>
                </a:solidFill>
                <a:latin typeface="Arial"/>
              </a:defRPr>
            </a:pPr>
            <a:r>
              <a:t>•  T11: deleting a temporary vehicle removed its linked service.</a:t>
            </a:r>
          </a:p>
        </p:txBody>
      </p:sp>
      <p:sp>
        <p:nvSpPr>
          <p:cNvPr id="9" name="TextBox 8"/>
          <p:cNvSpPr txBox="1"/>
          <p:nvPr/>
        </p:nvSpPr>
        <p:spPr>
          <a:xfrm>
            <a:off x="7470648" y="4078224"/>
            <a:ext cx="3739896" cy="758952"/>
          </a:xfrm>
          <a:prstGeom prst="rect">
            <a:avLst/>
          </a:prstGeom>
          <a:noFill/>
        </p:spPr>
        <p:txBody>
          <a:bodyPr wrap="square" lIns="36576" tIns="27432" rIns="36576" bIns="27432" anchor="ctr">
            <a:spAutoFit/>
          </a:bodyPr>
          <a:lstStyle/>
          <a:p>
            <a:pPr>
              <a:lnSpc>
                <a:spcPct val="112000"/>
              </a:lnSpc>
              <a:spcBef>
                <a:spcPts val="0"/>
              </a:spcBef>
              <a:spcAft>
                <a:spcPts val="0"/>
              </a:spcAft>
              <a:defRPr sz="1800" b="0">
                <a:solidFill>
                  <a:srgbClr val="22272D"/>
                </a:solidFill>
                <a:latin typeface="Arial"/>
              </a:defRPr>
            </a:pPr>
            <a:r>
              <a:t>•  The Camry service was still shown afterward.</a:t>
            </a:r>
          </a:p>
        </p:txBody>
      </p:sp>
      <p:sp>
        <p:nvSpPr>
          <p:cNvPr id="10" name="TextBox 9"/>
          <p:cNvSpPr txBox="1"/>
          <p:nvPr/>
        </p:nvSpPr>
        <p:spPr>
          <a:xfrm>
            <a:off x="7488936" y="5696712"/>
            <a:ext cx="3593592" cy="393192"/>
          </a:xfrm>
          <a:prstGeom prst="rect">
            <a:avLst/>
          </a:prstGeom>
          <a:noFill/>
        </p:spPr>
        <p:txBody>
          <a:bodyPr wrap="square" lIns="36576" tIns="27432" rIns="36576" bIns="27432" anchor="ctr">
            <a:spAutoFit/>
          </a:bodyPr>
          <a:lstStyle/>
          <a:p>
            <a:pPr>
              <a:lnSpc>
                <a:spcPct val="112000"/>
              </a:lnSpc>
              <a:spcBef>
                <a:spcPts val="0"/>
              </a:spcBef>
              <a:spcAft>
                <a:spcPts val="0"/>
              </a:spcAft>
              <a:defRPr sz="1400" b="0">
                <a:solidFill>
                  <a:srgbClr val="5C646E"/>
                </a:solidFill>
                <a:latin typeface="Arial"/>
              </a:defRPr>
            </a:pPr>
            <a:r>
              <a:t>After-action screenshots</a:t>
            </a:r>
          </a:p>
        </p:txBody>
      </p:sp>
    </p:spTree>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AFBFC"/>
        </a:solidFill>
        <a:effectLst/>
      </p:bgPr>
    </p:bg>
    <p:spTree>
      <p:nvGrpSpPr>
        <p:cNvPr id="1" name=""/>
        <p:cNvGrpSpPr/>
        <p:nvPr/>
      </p:nvGrpSpPr>
      <p:grpSpPr>
        <a:xfrm>
          <a:off x="0" y="0"/>
          <a:ext cx="0" cy="0"/>
          <a:chOff x="0" y="0"/>
          <a:chExt cx="0" cy="0"/>
        </a:xfrm>
      </p:grpSpPr>
      <p:sp>
        <p:nvSpPr>
          <p:cNvPr id="2" name="TextBox 1"/>
          <p:cNvSpPr txBox="1"/>
          <p:nvPr/>
        </p:nvSpPr>
        <p:spPr>
          <a:xfrm>
            <a:off x="667512" y="365760"/>
            <a:ext cx="10972800" cy="548640"/>
          </a:xfrm>
          <a:prstGeom prst="rect">
            <a:avLst/>
          </a:prstGeom>
          <a:noFill/>
        </p:spPr>
        <p:txBody>
          <a:bodyPr wrap="square" lIns="36576" tIns="27432" rIns="36576" bIns="27432" anchor="ctr">
            <a:spAutoFit/>
          </a:bodyPr>
          <a:lstStyle/>
          <a:p>
            <a:pPr>
              <a:lnSpc>
                <a:spcPct val="112000"/>
              </a:lnSpc>
              <a:spcBef>
                <a:spcPts val="0"/>
              </a:spcBef>
              <a:spcAft>
                <a:spcPts val="0"/>
              </a:spcAft>
              <a:defRPr sz="3000" b="1">
                <a:solidFill>
                  <a:srgbClr val="1A3048"/>
                </a:solidFill>
                <a:latin typeface="Arial"/>
              </a:defRPr>
            </a:pPr>
            <a:r>
              <a:t>Testing gaps and known limitations</a:t>
            </a:r>
          </a:p>
        </p:txBody>
      </p:sp>
      <p:cxnSp>
        <p:nvCxnSpPr>
          <p:cNvPr id="3" name="Connector 2"/>
          <p:cNvCxnSpPr/>
          <p:nvPr/>
        </p:nvCxnSpPr>
        <p:spPr>
          <a:xfrm>
            <a:off x="694944" y="1069848"/>
            <a:ext cx="10799064" cy="0"/>
          </a:xfrm>
          <a:prstGeom prst="line">
            <a:avLst/>
          </a:prstGeom>
          <a:ln w="12700">
            <a:solidFill>
              <a:srgbClr val="D5DDE6"/>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68680" y="1417320"/>
            <a:ext cx="2743200" cy="475488"/>
          </a:xfrm>
          <a:prstGeom prst="rect">
            <a:avLst/>
          </a:prstGeom>
          <a:noFill/>
        </p:spPr>
        <p:txBody>
          <a:bodyPr wrap="square" lIns="36576" tIns="27432" rIns="36576" bIns="27432" anchor="ctr">
            <a:spAutoFit/>
          </a:bodyPr>
          <a:lstStyle/>
          <a:p>
            <a:pPr>
              <a:lnSpc>
                <a:spcPct val="112000"/>
              </a:lnSpc>
              <a:spcBef>
                <a:spcPts val="0"/>
              </a:spcBef>
              <a:spcAft>
                <a:spcPts val="0"/>
              </a:spcAft>
              <a:defRPr sz="1900" b="1">
                <a:solidFill>
                  <a:srgbClr val="1A3048"/>
                </a:solidFill>
                <a:latin typeface="Arial"/>
              </a:defRPr>
            </a:pPr>
            <a:r>
              <a:t>Automated runs</a:t>
            </a:r>
          </a:p>
        </p:txBody>
      </p:sp>
      <p:sp>
        <p:nvSpPr>
          <p:cNvPr id="5" name="TextBox 4"/>
          <p:cNvSpPr txBox="1"/>
          <p:nvPr/>
        </p:nvSpPr>
        <p:spPr>
          <a:xfrm>
            <a:off x="3657600" y="1417320"/>
            <a:ext cx="7516368" cy="576072"/>
          </a:xfrm>
          <a:prstGeom prst="rect">
            <a:avLst/>
          </a:prstGeom>
          <a:noFill/>
        </p:spPr>
        <p:txBody>
          <a:bodyPr wrap="square" lIns="36576" tIns="27432" rIns="36576" bIns="27432" anchor="ctr">
            <a:spAutoFit/>
          </a:bodyPr>
          <a:lstStyle/>
          <a:p>
            <a:pPr>
              <a:lnSpc>
                <a:spcPct val="112000"/>
              </a:lnSpc>
              <a:spcBef>
                <a:spcPts val="0"/>
              </a:spcBef>
              <a:spcAft>
                <a:spcPts val="0"/>
              </a:spcAft>
              <a:defRPr sz="1800" b="0">
                <a:solidFill>
                  <a:srgbClr val="22272D"/>
                </a:solidFill>
                <a:latin typeface="Arial"/>
              </a:defRPr>
            </a:pPr>
            <a:r>
              <a:t>flutter analyze and flutter test need final recorded terminal results.</a:t>
            </a:r>
          </a:p>
        </p:txBody>
      </p:sp>
      <p:cxnSp>
        <p:nvCxnSpPr>
          <p:cNvPr id="6" name="Connector 5"/>
          <p:cNvCxnSpPr/>
          <p:nvPr/>
        </p:nvCxnSpPr>
        <p:spPr>
          <a:xfrm>
            <a:off x="905256" y="2121408"/>
            <a:ext cx="10314432" cy="0"/>
          </a:xfrm>
          <a:prstGeom prst="line">
            <a:avLst/>
          </a:prstGeom>
          <a:ln w="7620">
            <a:solidFill>
              <a:srgbClr val="D5DDE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868680" y="2304288"/>
            <a:ext cx="2743200" cy="475488"/>
          </a:xfrm>
          <a:prstGeom prst="rect">
            <a:avLst/>
          </a:prstGeom>
          <a:noFill/>
        </p:spPr>
        <p:txBody>
          <a:bodyPr wrap="square" lIns="36576" tIns="27432" rIns="36576" bIns="27432" anchor="ctr">
            <a:spAutoFit/>
          </a:bodyPr>
          <a:lstStyle/>
          <a:p>
            <a:pPr>
              <a:lnSpc>
                <a:spcPct val="112000"/>
              </a:lnSpc>
              <a:spcBef>
                <a:spcPts val="0"/>
              </a:spcBef>
              <a:spcAft>
                <a:spcPts val="0"/>
              </a:spcAft>
              <a:defRPr sz="1900" b="1">
                <a:solidFill>
                  <a:srgbClr val="1A3048"/>
                </a:solidFill>
                <a:latin typeface="Arial"/>
              </a:defRPr>
            </a:pPr>
            <a:r>
              <a:t>Device coverage</a:t>
            </a:r>
          </a:p>
        </p:txBody>
      </p:sp>
      <p:sp>
        <p:nvSpPr>
          <p:cNvPr id="8" name="TextBox 7"/>
          <p:cNvSpPr txBox="1"/>
          <p:nvPr/>
        </p:nvSpPr>
        <p:spPr>
          <a:xfrm>
            <a:off x="3657600" y="2304288"/>
            <a:ext cx="7516368" cy="576072"/>
          </a:xfrm>
          <a:prstGeom prst="rect">
            <a:avLst/>
          </a:prstGeom>
          <a:noFill/>
        </p:spPr>
        <p:txBody>
          <a:bodyPr wrap="square" lIns="36576" tIns="27432" rIns="36576" bIns="27432" anchor="ctr">
            <a:spAutoFit/>
          </a:bodyPr>
          <a:lstStyle/>
          <a:p>
            <a:pPr>
              <a:lnSpc>
                <a:spcPct val="112000"/>
              </a:lnSpc>
              <a:spcBef>
                <a:spcPts val="0"/>
              </a:spcBef>
              <a:spcAft>
                <a:spcPts val="0"/>
              </a:spcAft>
              <a:defRPr sz="1800" b="0">
                <a:solidFill>
                  <a:srgbClr val="22272D"/>
                </a:solidFill>
                <a:latin typeface="Arial"/>
              </a:defRPr>
            </a:pPr>
            <a:r>
              <a:t>Current screenshots are from an Android emulator; a second device test should be documented.</a:t>
            </a:r>
          </a:p>
        </p:txBody>
      </p:sp>
      <p:cxnSp>
        <p:nvCxnSpPr>
          <p:cNvPr id="9" name="Connector 8"/>
          <p:cNvCxnSpPr/>
          <p:nvPr/>
        </p:nvCxnSpPr>
        <p:spPr>
          <a:xfrm>
            <a:off x="905256" y="3008376"/>
            <a:ext cx="10314432" cy="0"/>
          </a:xfrm>
          <a:prstGeom prst="line">
            <a:avLst/>
          </a:prstGeom>
          <a:ln w="7620">
            <a:solidFill>
              <a:srgbClr val="D5DDE6"/>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868680" y="3191256"/>
            <a:ext cx="2743200" cy="475488"/>
          </a:xfrm>
          <a:prstGeom prst="rect">
            <a:avLst/>
          </a:prstGeom>
          <a:noFill/>
        </p:spPr>
        <p:txBody>
          <a:bodyPr wrap="square" lIns="36576" tIns="27432" rIns="36576" bIns="27432" anchor="ctr">
            <a:spAutoFit/>
          </a:bodyPr>
          <a:lstStyle/>
          <a:p>
            <a:pPr>
              <a:lnSpc>
                <a:spcPct val="112000"/>
              </a:lnSpc>
              <a:spcBef>
                <a:spcPts val="0"/>
              </a:spcBef>
              <a:spcAft>
                <a:spcPts val="0"/>
              </a:spcAft>
              <a:defRPr sz="1900" b="1">
                <a:solidFill>
                  <a:srgbClr val="1A3048"/>
                </a:solidFill>
                <a:latin typeface="Arial"/>
              </a:defRPr>
            </a:pPr>
            <a:r>
              <a:t>Maintenance estimates</a:t>
            </a:r>
          </a:p>
        </p:txBody>
      </p:sp>
      <p:sp>
        <p:nvSpPr>
          <p:cNvPr id="11" name="TextBox 10"/>
          <p:cNvSpPr txBox="1"/>
          <p:nvPr/>
        </p:nvSpPr>
        <p:spPr>
          <a:xfrm>
            <a:off x="3657600" y="3191256"/>
            <a:ext cx="7516368" cy="576072"/>
          </a:xfrm>
          <a:prstGeom prst="rect">
            <a:avLst/>
          </a:prstGeom>
          <a:noFill/>
        </p:spPr>
        <p:txBody>
          <a:bodyPr wrap="square" lIns="36576" tIns="27432" rIns="36576" bIns="27432" anchor="ctr">
            <a:spAutoFit/>
          </a:bodyPr>
          <a:lstStyle/>
          <a:p>
            <a:pPr>
              <a:lnSpc>
                <a:spcPct val="112000"/>
              </a:lnSpc>
              <a:spcBef>
                <a:spcPts val="0"/>
              </a:spcBef>
              <a:spcAft>
                <a:spcPts val="0"/>
              </a:spcAft>
              <a:defRPr sz="1800" b="0">
                <a:solidFill>
                  <a:srgbClr val="22272D"/>
                </a:solidFill>
                <a:latin typeface="Arial"/>
              </a:defRPr>
            </a:pPr>
            <a:r>
              <a:t>These are example mileage intervals, not vehicle manufacturer schedules.</a:t>
            </a:r>
          </a:p>
        </p:txBody>
      </p:sp>
      <p:cxnSp>
        <p:nvCxnSpPr>
          <p:cNvPr id="12" name="Connector 11"/>
          <p:cNvCxnSpPr/>
          <p:nvPr/>
        </p:nvCxnSpPr>
        <p:spPr>
          <a:xfrm>
            <a:off x="905256" y="3895344"/>
            <a:ext cx="10314432" cy="0"/>
          </a:xfrm>
          <a:prstGeom prst="line">
            <a:avLst/>
          </a:prstGeom>
          <a:ln w="7620">
            <a:solidFill>
              <a:srgbClr val="D5DDE6"/>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68680" y="4078224"/>
            <a:ext cx="2743200" cy="475488"/>
          </a:xfrm>
          <a:prstGeom prst="rect">
            <a:avLst/>
          </a:prstGeom>
          <a:noFill/>
        </p:spPr>
        <p:txBody>
          <a:bodyPr wrap="square" lIns="36576" tIns="27432" rIns="36576" bIns="27432" anchor="ctr">
            <a:spAutoFit/>
          </a:bodyPr>
          <a:lstStyle/>
          <a:p>
            <a:pPr>
              <a:lnSpc>
                <a:spcPct val="112000"/>
              </a:lnSpc>
              <a:spcBef>
                <a:spcPts val="0"/>
              </a:spcBef>
              <a:spcAft>
                <a:spcPts val="0"/>
              </a:spcAft>
              <a:defRPr sz="1900" b="1">
                <a:solidFill>
                  <a:srgbClr val="1A3048"/>
                </a:solidFill>
                <a:latin typeface="Arial"/>
              </a:defRPr>
            </a:pPr>
            <a:r>
              <a:t>Usability</a:t>
            </a:r>
          </a:p>
        </p:txBody>
      </p:sp>
      <p:sp>
        <p:nvSpPr>
          <p:cNvPr id="14" name="TextBox 13"/>
          <p:cNvSpPr txBox="1"/>
          <p:nvPr/>
        </p:nvSpPr>
        <p:spPr>
          <a:xfrm>
            <a:off x="3657600" y="4078224"/>
            <a:ext cx="7516368" cy="576072"/>
          </a:xfrm>
          <a:prstGeom prst="rect">
            <a:avLst/>
          </a:prstGeom>
          <a:noFill/>
        </p:spPr>
        <p:txBody>
          <a:bodyPr wrap="square" lIns="36576" tIns="27432" rIns="36576" bIns="27432" anchor="ctr">
            <a:spAutoFit/>
          </a:bodyPr>
          <a:lstStyle/>
          <a:p>
            <a:pPr>
              <a:lnSpc>
                <a:spcPct val="112000"/>
              </a:lnSpc>
              <a:spcBef>
                <a:spcPts val="0"/>
              </a:spcBef>
              <a:spcAft>
                <a:spcPts val="0"/>
              </a:spcAft>
              <a:defRPr sz="1800" b="0">
                <a:solidFill>
                  <a:srgbClr val="22272D"/>
                </a:solidFill>
                <a:latin typeface="Arial"/>
              </a:defRPr>
            </a:pPr>
            <a:r>
              <a:t>Manual refresh is sometimes needed after editing data on another tab.</a:t>
            </a:r>
          </a:p>
        </p:txBody>
      </p:sp>
      <p:cxnSp>
        <p:nvCxnSpPr>
          <p:cNvPr id="15" name="Connector 14"/>
          <p:cNvCxnSpPr/>
          <p:nvPr/>
        </p:nvCxnSpPr>
        <p:spPr>
          <a:xfrm>
            <a:off x="905256" y="4782312"/>
            <a:ext cx="10314432" cy="0"/>
          </a:xfrm>
          <a:prstGeom prst="line">
            <a:avLst/>
          </a:prstGeom>
          <a:ln w="7620">
            <a:solidFill>
              <a:srgbClr val="D5DDE6"/>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68680" y="4965192"/>
            <a:ext cx="2743200" cy="475488"/>
          </a:xfrm>
          <a:prstGeom prst="rect">
            <a:avLst/>
          </a:prstGeom>
          <a:noFill/>
        </p:spPr>
        <p:txBody>
          <a:bodyPr wrap="square" lIns="36576" tIns="27432" rIns="36576" bIns="27432" anchor="ctr">
            <a:spAutoFit/>
          </a:bodyPr>
          <a:lstStyle/>
          <a:p>
            <a:pPr>
              <a:lnSpc>
                <a:spcPct val="112000"/>
              </a:lnSpc>
              <a:spcBef>
                <a:spcPts val="0"/>
              </a:spcBef>
              <a:spcAft>
                <a:spcPts val="0"/>
              </a:spcAft>
              <a:defRPr sz="1900" b="1">
                <a:solidFill>
                  <a:srgbClr val="1A3048"/>
                </a:solidFill>
                <a:latin typeface="Arial"/>
              </a:defRPr>
            </a:pPr>
            <a:r>
              <a:t>Helper evaluation</a:t>
            </a:r>
          </a:p>
        </p:txBody>
      </p:sp>
      <p:sp>
        <p:nvSpPr>
          <p:cNvPr id="17" name="TextBox 16"/>
          <p:cNvSpPr txBox="1"/>
          <p:nvPr/>
        </p:nvSpPr>
        <p:spPr>
          <a:xfrm>
            <a:off x="3657600" y="4965192"/>
            <a:ext cx="7516368" cy="576072"/>
          </a:xfrm>
          <a:prstGeom prst="rect">
            <a:avLst/>
          </a:prstGeom>
          <a:noFill/>
        </p:spPr>
        <p:txBody>
          <a:bodyPr wrap="square" lIns="36576" tIns="27432" rIns="36576" bIns="27432" anchor="ctr">
            <a:spAutoFit/>
          </a:bodyPr>
          <a:lstStyle/>
          <a:p>
            <a:pPr>
              <a:lnSpc>
                <a:spcPct val="112000"/>
              </a:lnSpc>
              <a:spcBef>
                <a:spcPts val="0"/>
              </a:spcBef>
              <a:spcAft>
                <a:spcPts val="0"/>
              </a:spcAft>
              <a:defRPr sz="1800" b="0">
                <a:solidFill>
                  <a:srgbClr val="22272D"/>
                </a:solidFill>
                <a:latin typeface="Arial"/>
              </a:defRPr>
            </a:pPr>
            <a:r>
              <a:t>The baseline comparison should be captured with both labels visible.</a:t>
            </a:r>
          </a:p>
        </p:txBody>
      </p:sp>
      <p:cxnSp>
        <p:nvCxnSpPr>
          <p:cNvPr id="18" name="Connector 17"/>
          <p:cNvCxnSpPr/>
          <p:nvPr/>
        </p:nvCxnSpPr>
        <p:spPr>
          <a:xfrm>
            <a:off x="905256" y="5669279"/>
            <a:ext cx="10314432" cy="0"/>
          </a:xfrm>
          <a:prstGeom prst="line">
            <a:avLst/>
          </a:prstGeom>
          <a:ln w="7620">
            <a:solidFill>
              <a:srgbClr val="D5DD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AFBFC"/>
        </a:solidFill>
        <a:effectLst/>
      </p:bgPr>
    </p:bg>
    <p:spTree>
      <p:nvGrpSpPr>
        <p:cNvPr id="1" name=""/>
        <p:cNvGrpSpPr/>
        <p:nvPr/>
      </p:nvGrpSpPr>
      <p:grpSpPr>
        <a:xfrm>
          <a:off x="0" y="0"/>
          <a:ext cx="0" cy="0"/>
          <a:chOff x="0" y="0"/>
          <a:chExt cx="0" cy="0"/>
        </a:xfrm>
      </p:grpSpPr>
      <p:sp>
        <p:nvSpPr>
          <p:cNvPr id="2" name="TextBox 1"/>
          <p:cNvSpPr txBox="1"/>
          <p:nvPr/>
        </p:nvSpPr>
        <p:spPr>
          <a:xfrm>
            <a:off x="667512" y="365760"/>
            <a:ext cx="10972800" cy="548640"/>
          </a:xfrm>
          <a:prstGeom prst="rect">
            <a:avLst/>
          </a:prstGeom>
          <a:noFill/>
        </p:spPr>
        <p:txBody>
          <a:bodyPr wrap="square" lIns="36576" tIns="27432" rIns="36576" bIns="27432" anchor="ctr">
            <a:spAutoFit/>
          </a:bodyPr>
          <a:lstStyle/>
          <a:p>
            <a:pPr>
              <a:lnSpc>
                <a:spcPct val="112000"/>
              </a:lnSpc>
              <a:spcBef>
                <a:spcPts val="0"/>
              </a:spcBef>
              <a:spcAft>
                <a:spcPts val="0"/>
              </a:spcAft>
              <a:defRPr sz="3000" b="1">
                <a:solidFill>
                  <a:srgbClr val="1A3048"/>
                </a:solidFill>
                <a:latin typeface="Arial"/>
              </a:defRPr>
            </a:pPr>
            <a:r>
              <a:t>Project workflow and team contribution</a:t>
            </a:r>
          </a:p>
        </p:txBody>
      </p:sp>
      <p:cxnSp>
        <p:nvCxnSpPr>
          <p:cNvPr id="3" name="Connector 2"/>
          <p:cNvCxnSpPr/>
          <p:nvPr/>
        </p:nvCxnSpPr>
        <p:spPr>
          <a:xfrm>
            <a:off x="694944" y="1069848"/>
            <a:ext cx="10799064" cy="0"/>
          </a:xfrm>
          <a:prstGeom prst="line">
            <a:avLst/>
          </a:prstGeom>
          <a:ln w="12700">
            <a:solidFill>
              <a:srgbClr val="D5DDE6"/>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77824" y="1380744"/>
            <a:ext cx="10241280" cy="557784"/>
          </a:xfrm>
          <a:prstGeom prst="rect">
            <a:avLst/>
          </a:prstGeom>
          <a:noFill/>
        </p:spPr>
        <p:txBody>
          <a:bodyPr wrap="square" lIns="36576" tIns="27432" rIns="36576" bIns="27432" anchor="ctr">
            <a:spAutoFit/>
          </a:bodyPr>
          <a:lstStyle/>
          <a:p>
            <a:pPr>
              <a:lnSpc>
                <a:spcPct val="112000"/>
              </a:lnSpc>
              <a:spcBef>
                <a:spcPts val="0"/>
              </a:spcBef>
              <a:spcAft>
                <a:spcPts val="0"/>
              </a:spcAft>
              <a:defRPr sz="2200" b="1">
                <a:solidFill>
                  <a:srgbClr val="1A3048"/>
                </a:solidFill>
                <a:latin typeface="Arial"/>
              </a:defRPr>
            </a:pPr>
            <a:r>
              <a:t>GitHub and ClickUp track what each person worked on.</a:t>
            </a:r>
          </a:p>
        </p:txBody>
      </p:sp>
      <p:sp>
        <p:nvSpPr>
          <p:cNvPr id="5" name="Rounded Rectangle 4"/>
          <p:cNvSpPr/>
          <p:nvPr/>
        </p:nvSpPr>
        <p:spPr>
          <a:xfrm>
            <a:off x="877824" y="2167128"/>
            <a:ext cx="10442448" cy="2395728"/>
          </a:xfrm>
          <a:prstGeom prst="roundRect">
            <a:avLst>
              <a:gd name="adj" fmla="val 9000"/>
            </a:avLst>
          </a:prstGeom>
          <a:solidFill>
            <a:srgbClr val="FFFFFF"/>
          </a:solidFill>
          <a:ln w="10160">
            <a:solidFill>
              <a:srgbClr val="D5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52144" y="2423160"/>
            <a:ext cx="9875520" cy="448056"/>
          </a:xfrm>
          <a:prstGeom prst="rect">
            <a:avLst/>
          </a:prstGeom>
          <a:noFill/>
        </p:spPr>
        <p:txBody>
          <a:bodyPr wrap="square" lIns="36576" tIns="27432" rIns="36576" bIns="27432" anchor="ctr">
            <a:spAutoFit/>
          </a:bodyPr>
          <a:lstStyle/>
          <a:p>
            <a:pPr>
              <a:lnSpc>
                <a:spcPct val="112000"/>
              </a:lnSpc>
              <a:spcBef>
                <a:spcPts val="0"/>
              </a:spcBef>
              <a:spcAft>
                <a:spcPts val="0"/>
              </a:spcAft>
              <a:defRPr sz="2000" b="1">
                <a:solidFill>
                  <a:srgbClr val="355B87"/>
                </a:solidFill>
                <a:latin typeface="Arial"/>
              </a:defRPr>
            </a:pPr>
            <a:r>
              <a:t>Example completed trace</a:t>
            </a:r>
          </a:p>
        </p:txBody>
      </p:sp>
      <p:sp>
        <p:nvSpPr>
          <p:cNvPr id="7" name="TextBox 6"/>
          <p:cNvSpPr txBox="1"/>
          <p:nvPr/>
        </p:nvSpPr>
        <p:spPr>
          <a:xfrm>
            <a:off x="1152144" y="3286438"/>
            <a:ext cx="9848088" cy="650884"/>
          </a:xfrm>
          <a:prstGeom prst="rect">
            <a:avLst/>
          </a:prstGeom>
          <a:noFill/>
        </p:spPr>
        <p:txBody>
          <a:bodyPr wrap="square" lIns="36576" tIns="27432" rIns="36576" bIns="27432" anchor="ctr">
            <a:spAutoFit/>
          </a:bodyPr>
          <a:lstStyle/>
          <a:p>
            <a:pPr>
              <a:lnSpc>
                <a:spcPct val="112000"/>
              </a:lnSpc>
              <a:spcBef>
                <a:spcPts val="0"/>
              </a:spcBef>
              <a:spcAft>
                <a:spcPts val="0"/>
              </a:spcAft>
              <a:defRPr sz="1800" b="0">
                <a:solidFill>
                  <a:srgbClr val="22272D"/>
                </a:solidFill>
                <a:latin typeface="Arial"/>
              </a:defRPr>
            </a:pPr>
            <a:r>
              <a:rPr dirty="0" err="1"/>
              <a:t>ClickUp</a:t>
            </a:r>
            <a:r>
              <a:rPr dirty="0"/>
              <a:t> task </a:t>
            </a:r>
            <a:r>
              <a:rPr lang="en-US" dirty="0"/>
              <a:t>[work on navigation that uses router]</a:t>
            </a:r>
            <a:r>
              <a:rPr dirty="0"/>
              <a:t>  →  </a:t>
            </a:r>
            <a:r>
              <a:rPr lang="en-US" dirty="0"/>
              <a:t>app navigation route in lib/</a:t>
            </a:r>
            <a:r>
              <a:rPr lang="en-US" dirty="0" err="1"/>
              <a:t>main.dart</a:t>
            </a:r>
            <a:r>
              <a:rPr lang="en-US" dirty="0"/>
              <a:t>  </a:t>
            </a:r>
            <a:r>
              <a:rPr dirty="0"/>
              <a:t>→  Git commit 5102b94  →  tab navigation check</a:t>
            </a:r>
          </a:p>
        </p:txBody>
      </p:sp>
    </p:spTree>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AFBFC"/>
        </a:solidFill>
        <a:effectLst/>
      </p:bgPr>
    </p:bg>
    <p:spTree>
      <p:nvGrpSpPr>
        <p:cNvPr id="1" name=""/>
        <p:cNvGrpSpPr/>
        <p:nvPr/>
      </p:nvGrpSpPr>
      <p:grpSpPr>
        <a:xfrm>
          <a:off x="0" y="0"/>
          <a:ext cx="0" cy="0"/>
          <a:chOff x="0" y="0"/>
          <a:chExt cx="0" cy="0"/>
        </a:xfrm>
      </p:grpSpPr>
      <p:sp>
        <p:nvSpPr>
          <p:cNvPr id="2" name="TextBox 1"/>
          <p:cNvSpPr txBox="1"/>
          <p:nvPr/>
        </p:nvSpPr>
        <p:spPr>
          <a:xfrm>
            <a:off x="667512" y="365760"/>
            <a:ext cx="10972800" cy="548640"/>
          </a:xfrm>
          <a:prstGeom prst="rect">
            <a:avLst/>
          </a:prstGeom>
          <a:noFill/>
        </p:spPr>
        <p:txBody>
          <a:bodyPr wrap="square" lIns="36576" tIns="27432" rIns="36576" bIns="27432" anchor="ctr">
            <a:spAutoFit/>
          </a:bodyPr>
          <a:lstStyle/>
          <a:p>
            <a:pPr>
              <a:lnSpc>
                <a:spcPct val="112000"/>
              </a:lnSpc>
              <a:spcBef>
                <a:spcPts val="0"/>
              </a:spcBef>
              <a:spcAft>
                <a:spcPts val="0"/>
              </a:spcAft>
              <a:defRPr sz="3000" b="1">
                <a:solidFill>
                  <a:srgbClr val="1A3048"/>
                </a:solidFill>
                <a:latin typeface="Arial"/>
              </a:defRPr>
            </a:pPr>
            <a:r>
              <a:t>Integrated Q&amp;A — required topics</a:t>
            </a:r>
          </a:p>
        </p:txBody>
      </p:sp>
      <p:cxnSp>
        <p:nvCxnSpPr>
          <p:cNvPr id="3" name="Connector 2"/>
          <p:cNvCxnSpPr/>
          <p:nvPr/>
        </p:nvCxnSpPr>
        <p:spPr>
          <a:xfrm>
            <a:off x="694944" y="1069848"/>
            <a:ext cx="10799064" cy="0"/>
          </a:xfrm>
          <a:prstGeom prst="line">
            <a:avLst/>
          </a:prstGeom>
          <a:ln w="12700">
            <a:solidFill>
              <a:srgbClr val="D5DDE6"/>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59536" y="1344168"/>
            <a:ext cx="10488168" cy="384048"/>
          </a:xfrm>
          <a:prstGeom prst="rect">
            <a:avLst/>
          </a:prstGeom>
          <a:noFill/>
        </p:spPr>
        <p:txBody>
          <a:bodyPr wrap="square" lIns="36576" tIns="27432" rIns="36576" bIns="27432" anchor="ctr">
            <a:spAutoFit/>
          </a:bodyPr>
          <a:lstStyle/>
          <a:p>
            <a:pPr>
              <a:lnSpc>
                <a:spcPct val="112000"/>
              </a:lnSpc>
              <a:spcBef>
                <a:spcPts val="0"/>
              </a:spcBef>
              <a:spcAft>
                <a:spcPts val="0"/>
              </a:spcAft>
              <a:defRPr sz="1700" b="0">
                <a:solidFill>
                  <a:srgbClr val="5C646E"/>
                </a:solidFill>
                <a:latin typeface="Arial"/>
              </a:defRPr>
            </a:pPr>
            <a:r>
              <a:t>The curated bank requires I1, I2, D1, D2 and R4. Use the exact question wording when recording.</a:t>
            </a:r>
          </a:p>
        </p:txBody>
      </p:sp>
      <p:sp>
        <p:nvSpPr>
          <p:cNvPr id="5" name="Rounded Rectangle 4"/>
          <p:cNvSpPr/>
          <p:nvPr/>
        </p:nvSpPr>
        <p:spPr>
          <a:xfrm>
            <a:off x="896112" y="1993392"/>
            <a:ext cx="10332720" cy="950976"/>
          </a:xfrm>
          <a:prstGeom prst="roundRect">
            <a:avLst>
              <a:gd name="adj" fmla="val 9000"/>
            </a:avLst>
          </a:prstGeom>
          <a:solidFill>
            <a:srgbClr val="FFFFFF"/>
          </a:solidFill>
          <a:ln w="10160">
            <a:solidFill>
              <a:srgbClr val="D5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70432" y="2167128"/>
            <a:ext cx="1783080" cy="521207"/>
          </a:xfrm>
          <a:prstGeom prst="rect">
            <a:avLst/>
          </a:prstGeom>
          <a:noFill/>
        </p:spPr>
        <p:txBody>
          <a:bodyPr wrap="square" lIns="36576" tIns="27432" rIns="36576" bIns="27432" anchor="ctr">
            <a:spAutoFit/>
          </a:bodyPr>
          <a:lstStyle/>
          <a:p>
            <a:pPr>
              <a:lnSpc>
                <a:spcPct val="112000"/>
              </a:lnSpc>
              <a:spcBef>
                <a:spcPts val="0"/>
              </a:spcBef>
              <a:spcAft>
                <a:spcPts val="0"/>
              </a:spcAft>
              <a:defRPr sz="2100" b="1">
                <a:solidFill>
                  <a:srgbClr val="355B87"/>
                </a:solidFill>
                <a:latin typeface="Arial"/>
              </a:defRPr>
            </a:pPr>
            <a:r>
              <a:t>I1 / I2</a:t>
            </a:r>
          </a:p>
        </p:txBody>
      </p:sp>
      <p:sp>
        <p:nvSpPr>
          <p:cNvPr id="7" name="TextBox 6"/>
          <p:cNvSpPr txBox="1"/>
          <p:nvPr/>
        </p:nvSpPr>
        <p:spPr>
          <a:xfrm>
            <a:off x="2862072" y="2084832"/>
            <a:ext cx="7955279" cy="731520"/>
          </a:xfrm>
          <a:prstGeom prst="rect">
            <a:avLst/>
          </a:prstGeom>
          <a:noFill/>
        </p:spPr>
        <p:txBody>
          <a:bodyPr wrap="square" lIns="36576" tIns="27432" rIns="36576" bIns="27432" anchor="ctr">
            <a:spAutoFit/>
          </a:bodyPr>
          <a:lstStyle/>
          <a:p>
            <a:pPr>
              <a:lnSpc>
                <a:spcPct val="112000"/>
              </a:lnSpc>
              <a:spcBef>
                <a:spcPts val="0"/>
              </a:spcBef>
              <a:spcAft>
                <a:spcPts val="0"/>
              </a:spcAft>
              <a:defRPr sz="1800" b="0">
                <a:solidFill>
                  <a:srgbClr val="22272D"/>
                </a:solidFill>
                <a:latin typeface="Arial"/>
              </a:defRPr>
            </a:pPr>
            <a:r>
              <a:t>Implementation: explain Flutter widgets, state changes and navigation.</a:t>
            </a:r>
          </a:p>
        </p:txBody>
      </p:sp>
      <p:sp>
        <p:nvSpPr>
          <p:cNvPr id="8" name="Rounded Rectangle 7"/>
          <p:cNvSpPr/>
          <p:nvPr/>
        </p:nvSpPr>
        <p:spPr>
          <a:xfrm>
            <a:off x="896112" y="3118104"/>
            <a:ext cx="10332720" cy="950976"/>
          </a:xfrm>
          <a:prstGeom prst="roundRect">
            <a:avLst>
              <a:gd name="adj" fmla="val 9000"/>
            </a:avLst>
          </a:prstGeom>
          <a:solidFill>
            <a:srgbClr val="FFFFFF"/>
          </a:solidFill>
          <a:ln w="10160">
            <a:solidFill>
              <a:srgbClr val="D5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70432" y="3291840"/>
            <a:ext cx="1783080" cy="521207"/>
          </a:xfrm>
          <a:prstGeom prst="rect">
            <a:avLst/>
          </a:prstGeom>
          <a:noFill/>
        </p:spPr>
        <p:txBody>
          <a:bodyPr wrap="square" lIns="36576" tIns="27432" rIns="36576" bIns="27432" anchor="ctr">
            <a:spAutoFit/>
          </a:bodyPr>
          <a:lstStyle/>
          <a:p>
            <a:pPr>
              <a:lnSpc>
                <a:spcPct val="112000"/>
              </a:lnSpc>
              <a:spcBef>
                <a:spcPts val="0"/>
              </a:spcBef>
              <a:spcAft>
                <a:spcPts val="0"/>
              </a:spcAft>
              <a:defRPr sz="2100" b="1">
                <a:solidFill>
                  <a:srgbClr val="355B87"/>
                </a:solidFill>
                <a:latin typeface="Arial"/>
              </a:defRPr>
            </a:pPr>
            <a:r>
              <a:t>D1 / D2</a:t>
            </a:r>
          </a:p>
        </p:txBody>
      </p:sp>
      <p:sp>
        <p:nvSpPr>
          <p:cNvPr id="10" name="TextBox 9"/>
          <p:cNvSpPr txBox="1"/>
          <p:nvPr/>
        </p:nvSpPr>
        <p:spPr>
          <a:xfrm>
            <a:off x="2862072" y="3209544"/>
            <a:ext cx="7955279" cy="731520"/>
          </a:xfrm>
          <a:prstGeom prst="rect">
            <a:avLst/>
          </a:prstGeom>
          <a:noFill/>
        </p:spPr>
        <p:txBody>
          <a:bodyPr wrap="square" lIns="36576" tIns="27432" rIns="36576" bIns="27432" anchor="ctr">
            <a:spAutoFit/>
          </a:bodyPr>
          <a:lstStyle/>
          <a:p>
            <a:pPr>
              <a:lnSpc>
                <a:spcPct val="112000"/>
              </a:lnSpc>
              <a:spcBef>
                <a:spcPts val="0"/>
              </a:spcBef>
              <a:spcAft>
                <a:spcPts val="0"/>
              </a:spcAft>
              <a:defRPr sz="1800" b="0">
                <a:solidFill>
                  <a:srgbClr val="22272D"/>
                </a:solidFill>
                <a:latin typeface="Arial"/>
              </a:defRPr>
            </a:pPr>
            <a:r>
              <a:t>Data: explain why SQLite + SharedPreferences, and how CRUD/restart works.</a:t>
            </a:r>
          </a:p>
        </p:txBody>
      </p:sp>
      <p:sp>
        <p:nvSpPr>
          <p:cNvPr id="11" name="Rounded Rectangle 10"/>
          <p:cNvSpPr/>
          <p:nvPr/>
        </p:nvSpPr>
        <p:spPr>
          <a:xfrm>
            <a:off x="896112" y="4242816"/>
            <a:ext cx="10332720" cy="950976"/>
          </a:xfrm>
          <a:prstGeom prst="roundRect">
            <a:avLst>
              <a:gd name="adj" fmla="val 9000"/>
            </a:avLst>
          </a:prstGeom>
          <a:solidFill>
            <a:srgbClr val="FFFFFF"/>
          </a:solidFill>
          <a:ln w="10160">
            <a:solidFill>
              <a:srgbClr val="D5DD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170432" y="4416552"/>
            <a:ext cx="1783080" cy="521207"/>
          </a:xfrm>
          <a:prstGeom prst="rect">
            <a:avLst/>
          </a:prstGeom>
          <a:noFill/>
        </p:spPr>
        <p:txBody>
          <a:bodyPr wrap="square" lIns="36576" tIns="27432" rIns="36576" bIns="27432" anchor="ctr">
            <a:spAutoFit/>
          </a:bodyPr>
          <a:lstStyle/>
          <a:p>
            <a:pPr>
              <a:lnSpc>
                <a:spcPct val="112000"/>
              </a:lnSpc>
              <a:spcBef>
                <a:spcPts val="0"/>
              </a:spcBef>
              <a:spcAft>
                <a:spcPts val="0"/>
              </a:spcAft>
              <a:defRPr sz="2100" b="1">
                <a:solidFill>
                  <a:srgbClr val="355B87"/>
                </a:solidFill>
                <a:latin typeface="Arial"/>
              </a:defRPr>
            </a:pPr>
            <a:r>
              <a:t>R4</a:t>
            </a:r>
          </a:p>
        </p:txBody>
      </p:sp>
      <p:sp>
        <p:nvSpPr>
          <p:cNvPr id="13" name="TextBox 12"/>
          <p:cNvSpPr txBox="1"/>
          <p:nvPr/>
        </p:nvSpPr>
        <p:spPr>
          <a:xfrm>
            <a:off x="2862072" y="4334256"/>
            <a:ext cx="7955279" cy="731520"/>
          </a:xfrm>
          <a:prstGeom prst="rect">
            <a:avLst/>
          </a:prstGeom>
          <a:noFill/>
        </p:spPr>
        <p:txBody>
          <a:bodyPr wrap="square" lIns="36576" tIns="27432" rIns="36576" bIns="27432" anchor="ctr">
            <a:spAutoFit/>
          </a:bodyPr>
          <a:lstStyle/>
          <a:p>
            <a:pPr>
              <a:lnSpc>
                <a:spcPct val="112000"/>
              </a:lnSpc>
              <a:spcBef>
                <a:spcPts val="0"/>
              </a:spcBef>
              <a:spcAft>
                <a:spcPts val="0"/>
              </a:spcAft>
              <a:defRPr sz="1800" b="0">
                <a:solidFill>
                  <a:srgbClr val="22272D"/>
                </a:solidFill>
                <a:latin typeface="Arial"/>
              </a:defRPr>
            </a:pPr>
            <a:r>
              <a:t>Required smart-helper question: rules, baseline, evidence, limitation, user control.</a:t>
            </a:r>
          </a:p>
        </p:txBody>
      </p:sp>
    </p:spTree>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AFBFC"/>
        </a:solidFill>
        <a:effectLst/>
      </p:bgPr>
    </p:bg>
    <p:spTree>
      <p:nvGrpSpPr>
        <p:cNvPr id="1" name=""/>
        <p:cNvGrpSpPr/>
        <p:nvPr/>
      </p:nvGrpSpPr>
      <p:grpSpPr>
        <a:xfrm>
          <a:off x="0" y="0"/>
          <a:ext cx="0" cy="0"/>
          <a:chOff x="0" y="0"/>
          <a:chExt cx="0" cy="0"/>
        </a:xfrm>
      </p:grpSpPr>
      <p:sp>
        <p:nvSpPr>
          <p:cNvPr id="2" name="TextBox 1"/>
          <p:cNvSpPr txBox="1"/>
          <p:nvPr/>
        </p:nvSpPr>
        <p:spPr>
          <a:xfrm>
            <a:off x="667512" y="365760"/>
            <a:ext cx="10972800" cy="548640"/>
          </a:xfrm>
          <a:prstGeom prst="rect">
            <a:avLst/>
          </a:prstGeom>
          <a:noFill/>
        </p:spPr>
        <p:txBody>
          <a:bodyPr wrap="square" lIns="36576" tIns="27432" rIns="36576" bIns="27432" anchor="ctr">
            <a:spAutoFit/>
          </a:bodyPr>
          <a:lstStyle/>
          <a:p>
            <a:pPr>
              <a:lnSpc>
                <a:spcPct val="112000"/>
              </a:lnSpc>
              <a:spcBef>
                <a:spcPts val="0"/>
              </a:spcBef>
              <a:spcAft>
                <a:spcPts val="0"/>
              </a:spcAft>
              <a:defRPr sz="3000" b="1">
                <a:solidFill>
                  <a:srgbClr val="1A3048"/>
                </a:solidFill>
                <a:latin typeface="Arial"/>
              </a:defRPr>
            </a:pPr>
            <a:r>
              <a:t>Other Q&amp;A topics for the recording</a:t>
            </a:r>
          </a:p>
        </p:txBody>
      </p:sp>
      <p:cxnSp>
        <p:nvCxnSpPr>
          <p:cNvPr id="3" name="Connector 2"/>
          <p:cNvCxnSpPr/>
          <p:nvPr/>
        </p:nvCxnSpPr>
        <p:spPr>
          <a:xfrm>
            <a:off x="694944" y="1069848"/>
            <a:ext cx="10799064" cy="0"/>
          </a:xfrm>
          <a:prstGeom prst="line">
            <a:avLst/>
          </a:prstGeom>
          <a:ln w="12700">
            <a:solidFill>
              <a:srgbClr val="D5DDE6"/>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77824" y="1353312"/>
            <a:ext cx="10149840" cy="411480"/>
          </a:xfrm>
          <a:prstGeom prst="rect">
            <a:avLst/>
          </a:prstGeom>
          <a:noFill/>
        </p:spPr>
        <p:txBody>
          <a:bodyPr wrap="square" lIns="36576" tIns="27432" rIns="36576" bIns="27432" anchor="ctr">
            <a:spAutoFit/>
          </a:bodyPr>
          <a:lstStyle/>
          <a:p>
            <a:pPr>
              <a:lnSpc>
                <a:spcPct val="112000"/>
              </a:lnSpc>
              <a:spcBef>
                <a:spcPts val="0"/>
              </a:spcBef>
              <a:spcAft>
                <a:spcPts val="0"/>
              </a:spcAft>
              <a:defRPr sz="1700" b="0">
                <a:solidFill>
                  <a:srgbClr val="5C646E"/>
                </a:solidFill>
                <a:latin typeface="Arial"/>
              </a:defRPr>
            </a:pPr>
            <a:r>
              <a:t>Choose 7 more from the official bank to reach 12 total; confirm at least two from each category.</a:t>
            </a:r>
          </a:p>
        </p:txBody>
      </p:sp>
      <p:sp>
        <p:nvSpPr>
          <p:cNvPr id="5" name="TextBox 4"/>
          <p:cNvSpPr txBox="1"/>
          <p:nvPr/>
        </p:nvSpPr>
        <p:spPr>
          <a:xfrm>
            <a:off x="1005840" y="1901952"/>
            <a:ext cx="4937760" cy="640080"/>
          </a:xfrm>
          <a:prstGeom prst="rect">
            <a:avLst/>
          </a:prstGeom>
          <a:noFill/>
        </p:spPr>
        <p:txBody>
          <a:bodyPr wrap="square" lIns="36576" tIns="27432" rIns="36576" bIns="27432" anchor="ctr">
            <a:spAutoFit/>
          </a:bodyPr>
          <a:lstStyle/>
          <a:p>
            <a:pPr>
              <a:lnSpc>
                <a:spcPct val="112000"/>
              </a:lnSpc>
              <a:spcBef>
                <a:spcPts val="0"/>
              </a:spcBef>
              <a:spcAft>
                <a:spcPts val="0"/>
              </a:spcAft>
              <a:defRPr sz="1800" b="0">
                <a:solidFill>
                  <a:srgbClr val="22272D"/>
                </a:solidFill>
                <a:latin typeface="Arial"/>
              </a:defRPr>
            </a:pPr>
            <a:r>
              <a:t>1.  Why does AppNavigation need state?</a:t>
            </a:r>
          </a:p>
        </p:txBody>
      </p:sp>
      <p:sp>
        <p:nvSpPr>
          <p:cNvPr id="6" name="TextBox 5"/>
          <p:cNvSpPr txBox="1"/>
          <p:nvPr/>
        </p:nvSpPr>
        <p:spPr>
          <a:xfrm>
            <a:off x="1005840" y="2651760"/>
            <a:ext cx="4937760" cy="640080"/>
          </a:xfrm>
          <a:prstGeom prst="rect">
            <a:avLst/>
          </a:prstGeom>
          <a:noFill/>
        </p:spPr>
        <p:txBody>
          <a:bodyPr wrap="square" lIns="36576" tIns="27432" rIns="36576" bIns="27432" anchor="ctr">
            <a:spAutoFit/>
          </a:bodyPr>
          <a:lstStyle/>
          <a:p>
            <a:pPr>
              <a:lnSpc>
                <a:spcPct val="112000"/>
              </a:lnSpc>
              <a:spcBef>
                <a:spcPts val="0"/>
              </a:spcBef>
              <a:spcAft>
                <a:spcPts val="0"/>
              </a:spcAft>
              <a:defRPr sz="1800" b="0">
                <a:solidFill>
                  <a:srgbClr val="22272D"/>
                </a:solidFill>
                <a:latin typeface="Arial"/>
              </a:defRPr>
            </a:pPr>
            <a:r>
              <a:t>2.  When do controllers get disposed?</a:t>
            </a:r>
          </a:p>
        </p:txBody>
      </p:sp>
      <p:sp>
        <p:nvSpPr>
          <p:cNvPr id="7" name="TextBox 6"/>
          <p:cNvSpPr txBox="1"/>
          <p:nvPr/>
        </p:nvSpPr>
        <p:spPr>
          <a:xfrm>
            <a:off x="1005840" y="3401568"/>
            <a:ext cx="4937760" cy="640080"/>
          </a:xfrm>
          <a:prstGeom prst="rect">
            <a:avLst/>
          </a:prstGeom>
          <a:noFill/>
        </p:spPr>
        <p:txBody>
          <a:bodyPr wrap="square" lIns="36576" tIns="27432" rIns="36576" bIns="27432" anchor="ctr">
            <a:spAutoFit/>
          </a:bodyPr>
          <a:lstStyle/>
          <a:p>
            <a:pPr>
              <a:lnSpc>
                <a:spcPct val="112000"/>
              </a:lnSpc>
              <a:spcBef>
                <a:spcPts val="0"/>
              </a:spcBef>
              <a:spcAft>
                <a:spcPts val="0"/>
              </a:spcAft>
              <a:defRPr sz="1800" b="0">
                <a:solidFill>
                  <a:srgbClr val="22272D"/>
                </a:solidFill>
                <a:latin typeface="Arial"/>
              </a:defRPr>
            </a:pPr>
            <a:r>
              <a:t>3.  How do vehicles and services connect?</a:t>
            </a:r>
          </a:p>
        </p:txBody>
      </p:sp>
      <p:sp>
        <p:nvSpPr>
          <p:cNvPr id="8" name="TextBox 7"/>
          <p:cNvSpPr txBox="1"/>
          <p:nvPr/>
        </p:nvSpPr>
        <p:spPr>
          <a:xfrm>
            <a:off x="1005840" y="4151376"/>
            <a:ext cx="4937760" cy="640080"/>
          </a:xfrm>
          <a:prstGeom prst="rect">
            <a:avLst/>
          </a:prstGeom>
          <a:noFill/>
        </p:spPr>
        <p:txBody>
          <a:bodyPr wrap="square" lIns="36576" tIns="27432" rIns="36576" bIns="27432" anchor="ctr">
            <a:spAutoFit/>
          </a:bodyPr>
          <a:lstStyle/>
          <a:p>
            <a:pPr>
              <a:lnSpc>
                <a:spcPct val="112000"/>
              </a:lnSpc>
              <a:spcBef>
                <a:spcPts val="0"/>
              </a:spcBef>
              <a:spcAft>
                <a:spcPts val="0"/>
              </a:spcAft>
              <a:defRPr sz="1800" b="0">
                <a:solidFill>
                  <a:srgbClr val="22272D"/>
                </a:solidFill>
                <a:latin typeface="Arial"/>
              </a:defRPr>
            </a:pPr>
            <a:r>
              <a:t>4.  How is invalid input rejected?</a:t>
            </a:r>
          </a:p>
        </p:txBody>
      </p:sp>
      <p:sp>
        <p:nvSpPr>
          <p:cNvPr id="9" name="TextBox 8"/>
          <p:cNvSpPr txBox="1"/>
          <p:nvPr/>
        </p:nvSpPr>
        <p:spPr>
          <a:xfrm>
            <a:off x="6254496" y="1901952"/>
            <a:ext cx="4937760" cy="640080"/>
          </a:xfrm>
          <a:prstGeom prst="rect">
            <a:avLst/>
          </a:prstGeom>
          <a:noFill/>
        </p:spPr>
        <p:txBody>
          <a:bodyPr wrap="square" lIns="36576" tIns="27432" rIns="36576" bIns="27432" anchor="ctr">
            <a:spAutoFit/>
          </a:bodyPr>
          <a:lstStyle/>
          <a:p>
            <a:pPr>
              <a:lnSpc>
                <a:spcPct val="112000"/>
              </a:lnSpc>
              <a:spcBef>
                <a:spcPts val="0"/>
              </a:spcBef>
              <a:spcAft>
                <a:spcPts val="0"/>
              </a:spcAft>
              <a:defRPr sz="1800" b="0">
                <a:solidFill>
                  <a:srgbClr val="22272D"/>
                </a:solidFill>
                <a:latin typeface="Arial"/>
              </a:defRPr>
            </a:pPr>
            <a:r>
              <a:t>5.  How is the next service calculated?</a:t>
            </a:r>
          </a:p>
        </p:txBody>
      </p:sp>
      <p:sp>
        <p:nvSpPr>
          <p:cNvPr id="10" name="TextBox 9"/>
          <p:cNvSpPr txBox="1"/>
          <p:nvPr/>
        </p:nvSpPr>
        <p:spPr>
          <a:xfrm>
            <a:off x="6254496" y="2651760"/>
            <a:ext cx="4937760" cy="640080"/>
          </a:xfrm>
          <a:prstGeom prst="rect">
            <a:avLst/>
          </a:prstGeom>
          <a:noFill/>
        </p:spPr>
        <p:txBody>
          <a:bodyPr wrap="square" lIns="36576" tIns="27432" rIns="36576" bIns="27432" anchor="ctr">
            <a:spAutoFit/>
          </a:bodyPr>
          <a:lstStyle/>
          <a:p>
            <a:pPr>
              <a:lnSpc>
                <a:spcPct val="112000"/>
              </a:lnSpc>
              <a:spcBef>
                <a:spcPts val="0"/>
              </a:spcBef>
              <a:spcAft>
                <a:spcPts val="0"/>
              </a:spcAft>
              <a:defRPr sz="1800" b="0">
                <a:solidFill>
                  <a:srgbClr val="22272D"/>
                </a:solidFill>
                <a:latin typeface="Arial"/>
              </a:defRPr>
            </a:pPr>
            <a:r>
              <a:t>6.  How does the baseline compare to the helper?</a:t>
            </a:r>
          </a:p>
        </p:txBody>
      </p:sp>
      <p:sp>
        <p:nvSpPr>
          <p:cNvPr id="11" name="TextBox 10"/>
          <p:cNvSpPr txBox="1"/>
          <p:nvPr/>
        </p:nvSpPr>
        <p:spPr>
          <a:xfrm>
            <a:off x="6254496" y="3401568"/>
            <a:ext cx="4937760" cy="640080"/>
          </a:xfrm>
          <a:prstGeom prst="rect">
            <a:avLst/>
          </a:prstGeom>
          <a:noFill/>
        </p:spPr>
        <p:txBody>
          <a:bodyPr wrap="square" lIns="36576" tIns="27432" rIns="36576" bIns="27432" anchor="ctr">
            <a:spAutoFit/>
          </a:bodyPr>
          <a:lstStyle/>
          <a:p>
            <a:pPr>
              <a:lnSpc>
                <a:spcPct val="112000"/>
              </a:lnSpc>
              <a:spcBef>
                <a:spcPts val="0"/>
              </a:spcBef>
              <a:spcAft>
                <a:spcPts val="0"/>
              </a:spcAft>
              <a:defRPr sz="1800" b="0">
                <a:solidFill>
                  <a:srgbClr val="22272D"/>
                </a:solidFill>
                <a:latin typeface="Arial"/>
              </a:defRPr>
            </a:pPr>
            <a:r>
              <a:t>7.  What happens with missing history?</a:t>
            </a:r>
          </a:p>
        </p:txBody>
      </p:sp>
      <p:sp>
        <p:nvSpPr>
          <p:cNvPr id="12" name="TextBox 11"/>
          <p:cNvSpPr txBox="1"/>
          <p:nvPr/>
        </p:nvSpPr>
        <p:spPr>
          <a:xfrm>
            <a:off x="6254496" y="4151376"/>
            <a:ext cx="4937760" cy="640080"/>
          </a:xfrm>
          <a:prstGeom prst="rect">
            <a:avLst/>
          </a:prstGeom>
          <a:noFill/>
        </p:spPr>
        <p:txBody>
          <a:bodyPr wrap="square" lIns="36576" tIns="27432" rIns="36576" bIns="27432" anchor="ctr">
            <a:spAutoFit/>
          </a:bodyPr>
          <a:lstStyle/>
          <a:p>
            <a:pPr>
              <a:lnSpc>
                <a:spcPct val="112000"/>
              </a:lnSpc>
              <a:spcBef>
                <a:spcPts val="0"/>
              </a:spcBef>
              <a:spcAft>
                <a:spcPts val="0"/>
              </a:spcAft>
              <a:defRPr sz="1800" b="0">
                <a:solidFill>
                  <a:srgbClr val="22272D"/>
                </a:solidFill>
                <a:latin typeface="Arial"/>
              </a:defRPr>
            </a:pPr>
            <a:r>
              <a:t>8.  What test failed or revealed a limitation?</a:t>
            </a:r>
          </a:p>
        </p:txBody>
      </p:sp>
    </p:spTree>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AFBFC"/>
        </a:solidFill>
        <a:effectLst/>
      </p:bgPr>
    </p:bg>
    <p:spTree>
      <p:nvGrpSpPr>
        <p:cNvPr id="1" name=""/>
        <p:cNvGrpSpPr/>
        <p:nvPr/>
      </p:nvGrpSpPr>
      <p:grpSpPr>
        <a:xfrm>
          <a:off x="0" y="0"/>
          <a:ext cx="0" cy="0"/>
          <a:chOff x="0" y="0"/>
          <a:chExt cx="0" cy="0"/>
        </a:xfrm>
      </p:grpSpPr>
      <p:sp>
        <p:nvSpPr>
          <p:cNvPr id="2" name="TextBox 1"/>
          <p:cNvSpPr txBox="1"/>
          <p:nvPr/>
        </p:nvSpPr>
        <p:spPr>
          <a:xfrm>
            <a:off x="667512" y="365760"/>
            <a:ext cx="10972800" cy="548640"/>
          </a:xfrm>
          <a:prstGeom prst="rect">
            <a:avLst/>
          </a:prstGeom>
          <a:noFill/>
        </p:spPr>
        <p:txBody>
          <a:bodyPr wrap="square" lIns="36576" tIns="27432" rIns="36576" bIns="27432" anchor="ctr">
            <a:spAutoFit/>
          </a:bodyPr>
          <a:lstStyle/>
          <a:p>
            <a:pPr>
              <a:lnSpc>
                <a:spcPct val="112000"/>
              </a:lnSpc>
              <a:spcBef>
                <a:spcPts val="0"/>
              </a:spcBef>
              <a:spcAft>
                <a:spcPts val="0"/>
              </a:spcAft>
              <a:defRPr sz="3000" b="1">
                <a:solidFill>
                  <a:srgbClr val="1A3048"/>
                </a:solidFill>
                <a:latin typeface="Arial"/>
              </a:defRPr>
            </a:pPr>
            <a:r>
              <a:t>Demo and final submission</a:t>
            </a:r>
          </a:p>
        </p:txBody>
      </p:sp>
      <p:cxnSp>
        <p:nvCxnSpPr>
          <p:cNvPr id="3" name="Connector 2"/>
          <p:cNvCxnSpPr/>
          <p:nvPr/>
        </p:nvCxnSpPr>
        <p:spPr>
          <a:xfrm>
            <a:off x="694944" y="1069848"/>
            <a:ext cx="10799064" cy="0"/>
          </a:xfrm>
          <a:prstGeom prst="line">
            <a:avLst/>
          </a:prstGeom>
          <a:ln w="12700">
            <a:solidFill>
              <a:srgbClr val="D5DDE6"/>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905256" y="1609344"/>
            <a:ext cx="6949440" cy="649224"/>
          </a:xfrm>
          <a:prstGeom prst="rect">
            <a:avLst/>
          </a:prstGeom>
          <a:noFill/>
        </p:spPr>
        <p:txBody>
          <a:bodyPr wrap="square" lIns="36576" tIns="27432" rIns="36576" bIns="27432" anchor="ctr">
            <a:spAutoFit/>
          </a:bodyPr>
          <a:lstStyle/>
          <a:p>
            <a:pPr>
              <a:lnSpc>
                <a:spcPct val="112000"/>
              </a:lnSpc>
              <a:spcBef>
                <a:spcPts val="0"/>
              </a:spcBef>
              <a:spcAft>
                <a:spcPts val="0"/>
              </a:spcAft>
              <a:defRPr sz="1900" b="0">
                <a:solidFill>
                  <a:srgbClr val="22272D"/>
                </a:solidFill>
                <a:latin typeface="Arial"/>
              </a:defRPr>
            </a:pPr>
            <a:r>
              <a:t>•  Run through all five screens</a:t>
            </a:r>
          </a:p>
        </p:txBody>
      </p:sp>
      <p:sp>
        <p:nvSpPr>
          <p:cNvPr id="5" name="TextBox 4"/>
          <p:cNvSpPr txBox="1"/>
          <p:nvPr/>
        </p:nvSpPr>
        <p:spPr>
          <a:xfrm>
            <a:off x="905256" y="2313432"/>
            <a:ext cx="6949440" cy="649224"/>
          </a:xfrm>
          <a:prstGeom prst="rect">
            <a:avLst/>
          </a:prstGeom>
          <a:noFill/>
        </p:spPr>
        <p:txBody>
          <a:bodyPr wrap="square" lIns="36576" tIns="27432" rIns="36576" bIns="27432" anchor="ctr">
            <a:spAutoFit/>
          </a:bodyPr>
          <a:lstStyle/>
          <a:p>
            <a:pPr>
              <a:lnSpc>
                <a:spcPct val="112000"/>
              </a:lnSpc>
              <a:spcBef>
                <a:spcPts val="0"/>
              </a:spcBef>
              <a:spcAft>
                <a:spcPts val="0"/>
              </a:spcAft>
              <a:defRPr sz="1900" b="0">
                <a:solidFill>
                  <a:srgbClr val="22272D"/>
                </a:solidFill>
                <a:latin typeface="Arial"/>
              </a:defRPr>
            </a:pPr>
            <a:r>
              <a:t>•  Add/edit a vehicle and a service</a:t>
            </a:r>
          </a:p>
        </p:txBody>
      </p:sp>
      <p:sp>
        <p:nvSpPr>
          <p:cNvPr id="6" name="TextBox 5"/>
          <p:cNvSpPr txBox="1"/>
          <p:nvPr/>
        </p:nvSpPr>
        <p:spPr>
          <a:xfrm>
            <a:off x="905256" y="3017520"/>
            <a:ext cx="6949440" cy="649224"/>
          </a:xfrm>
          <a:prstGeom prst="rect">
            <a:avLst/>
          </a:prstGeom>
          <a:noFill/>
        </p:spPr>
        <p:txBody>
          <a:bodyPr wrap="square" lIns="36576" tIns="27432" rIns="36576" bIns="27432" anchor="ctr">
            <a:spAutoFit/>
          </a:bodyPr>
          <a:lstStyle/>
          <a:p>
            <a:pPr>
              <a:lnSpc>
                <a:spcPct val="112000"/>
              </a:lnSpc>
              <a:spcBef>
                <a:spcPts val="0"/>
              </a:spcBef>
              <a:spcAft>
                <a:spcPts val="0"/>
              </a:spcAft>
              <a:defRPr sz="1900" b="0">
                <a:solidFill>
                  <a:srgbClr val="22272D"/>
                </a:solidFill>
                <a:latin typeface="Arial"/>
              </a:defRPr>
            </a:pPr>
            <a:r>
              <a:t>•  Show the planner and its helper</a:t>
            </a:r>
          </a:p>
        </p:txBody>
      </p:sp>
      <p:sp>
        <p:nvSpPr>
          <p:cNvPr id="7" name="TextBox 6"/>
          <p:cNvSpPr txBox="1"/>
          <p:nvPr/>
        </p:nvSpPr>
        <p:spPr>
          <a:xfrm>
            <a:off x="905256" y="3721608"/>
            <a:ext cx="6949440" cy="649224"/>
          </a:xfrm>
          <a:prstGeom prst="rect">
            <a:avLst/>
          </a:prstGeom>
          <a:noFill/>
        </p:spPr>
        <p:txBody>
          <a:bodyPr wrap="square" lIns="36576" tIns="27432" rIns="36576" bIns="27432" anchor="ctr">
            <a:spAutoFit/>
          </a:bodyPr>
          <a:lstStyle/>
          <a:p>
            <a:pPr>
              <a:lnSpc>
                <a:spcPct val="112000"/>
              </a:lnSpc>
              <a:spcBef>
                <a:spcPts val="0"/>
              </a:spcBef>
              <a:spcAft>
                <a:spcPts val="0"/>
              </a:spcAft>
              <a:defRPr sz="1900" b="0">
                <a:solidFill>
                  <a:srgbClr val="22272D"/>
                </a:solidFill>
                <a:latin typeface="Arial"/>
              </a:defRPr>
            </a:pPr>
            <a:r>
              <a:t>•  Change settings and confirm local persistence</a:t>
            </a:r>
          </a:p>
        </p:txBody>
      </p:sp>
      <p:sp>
        <p:nvSpPr>
          <p:cNvPr id="8" name="TextBox 7"/>
          <p:cNvSpPr txBox="1"/>
          <p:nvPr/>
        </p:nvSpPr>
        <p:spPr>
          <a:xfrm>
            <a:off x="905256" y="4425696"/>
            <a:ext cx="6949440" cy="649224"/>
          </a:xfrm>
          <a:prstGeom prst="rect">
            <a:avLst/>
          </a:prstGeom>
          <a:noFill/>
        </p:spPr>
        <p:txBody>
          <a:bodyPr wrap="square" lIns="36576" tIns="27432" rIns="36576" bIns="27432" anchor="ctr">
            <a:spAutoFit/>
          </a:bodyPr>
          <a:lstStyle/>
          <a:p>
            <a:pPr>
              <a:lnSpc>
                <a:spcPct val="112000"/>
              </a:lnSpc>
              <a:spcBef>
                <a:spcPts val="0"/>
              </a:spcBef>
              <a:spcAft>
                <a:spcPts val="0"/>
              </a:spcAft>
              <a:defRPr sz="1900" b="0">
                <a:solidFill>
                  <a:srgbClr val="22272D"/>
                </a:solidFill>
                <a:latin typeface="Arial"/>
              </a:defRPr>
            </a:pPr>
            <a:r>
              <a:t>•  Show code, testing evidence and ClickUp trace</a:t>
            </a:r>
          </a:p>
        </p:txBody>
      </p:sp>
      <p:sp>
        <p:nvSpPr>
          <p:cNvPr id="9" name="Rounded Rectangle 8"/>
          <p:cNvSpPr/>
          <p:nvPr/>
        </p:nvSpPr>
        <p:spPr>
          <a:xfrm>
            <a:off x="8092440" y="1627632"/>
            <a:ext cx="3090672" cy="3941063"/>
          </a:xfrm>
          <a:prstGeom prst="roundRect">
            <a:avLst>
              <a:gd name="adj" fmla="val 9000"/>
            </a:avLst>
          </a:prstGeom>
          <a:solidFill>
            <a:srgbClr val="E7EE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394192" y="1883664"/>
            <a:ext cx="2542032" cy="493776"/>
          </a:xfrm>
          <a:prstGeom prst="rect">
            <a:avLst/>
          </a:prstGeom>
          <a:noFill/>
        </p:spPr>
        <p:txBody>
          <a:bodyPr wrap="square" lIns="36576" tIns="27432" rIns="36576" bIns="27432" anchor="ctr">
            <a:spAutoFit/>
          </a:bodyPr>
          <a:lstStyle/>
          <a:p>
            <a:pPr>
              <a:lnSpc>
                <a:spcPct val="112000"/>
              </a:lnSpc>
              <a:spcBef>
                <a:spcPts val="0"/>
              </a:spcBef>
              <a:spcAft>
                <a:spcPts val="0"/>
              </a:spcAft>
              <a:defRPr sz="2300" b="1">
                <a:solidFill>
                  <a:srgbClr val="1A3048"/>
                </a:solidFill>
                <a:latin typeface="Arial"/>
              </a:defRPr>
            </a:pPr>
            <a:r>
              <a:t>Submit</a:t>
            </a:r>
          </a:p>
        </p:txBody>
      </p:sp>
      <p:sp>
        <p:nvSpPr>
          <p:cNvPr id="11" name="TextBox 10"/>
          <p:cNvSpPr txBox="1"/>
          <p:nvPr/>
        </p:nvSpPr>
        <p:spPr>
          <a:xfrm>
            <a:off x="8385048" y="2615184"/>
            <a:ext cx="2560320" cy="2386584"/>
          </a:xfrm>
          <a:prstGeom prst="rect">
            <a:avLst/>
          </a:prstGeom>
          <a:noFill/>
        </p:spPr>
        <p:txBody>
          <a:bodyPr wrap="square" lIns="36576" tIns="27432" rIns="36576" bIns="27432" anchor="ctr">
            <a:spAutoFit/>
          </a:bodyPr>
          <a:lstStyle/>
          <a:p>
            <a:pPr>
              <a:lnSpc>
                <a:spcPct val="112000"/>
              </a:lnSpc>
              <a:spcBef>
                <a:spcPts val="0"/>
              </a:spcBef>
              <a:spcAft>
                <a:spcPts val="0"/>
              </a:spcAft>
              <a:defRPr sz="1800" b="0">
                <a:solidFill>
                  <a:srgbClr val="22272D"/>
                </a:solidFill>
                <a:latin typeface="Arial"/>
              </a:defRPr>
            </a:pPr>
            <a:r>
              <a:t>•  GitHub link</a:t>
            </a:r>
          </a:p>
          <a:p>
            <a:pPr>
              <a:lnSpc>
                <a:spcPct val="112000"/>
              </a:lnSpc>
              <a:spcBef>
                <a:spcPts val="0"/>
              </a:spcBef>
              <a:spcAft>
                <a:spcPts val="0"/>
              </a:spcAft>
              <a:defRPr sz="1800" b="0">
                <a:solidFill>
                  <a:srgbClr val="22272D"/>
                </a:solidFill>
                <a:latin typeface="Arial"/>
              </a:defRPr>
            </a:pPr>
            <a:r>
              <a:t>•  YouTube link</a:t>
            </a:r>
          </a:p>
          <a:p>
            <a:pPr>
              <a:lnSpc>
                <a:spcPct val="112000"/>
              </a:lnSpc>
              <a:spcBef>
                <a:spcPts val="0"/>
              </a:spcBef>
              <a:spcAft>
                <a:spcPts val="0"/>
              </a:spcAft>
              <a:defRPr sz="1800" b="0">
                <a:solidFill>
                  <a:srgbClr val="22272D"/>
                </a:solidFill>
                <a:latin typeface="Arial"/>
              </a:defRPr>
            </a:pPr>
            <a:r>
              <a:t>•  Release APK</a:t>
            </a:r>
          </a:p>
          <a:p>
            <a:pPr>
              <a:lnSpc>
                <a:spcPct val="112000"/>
              </a:lnSpc>
              <a:spcBef>
                <a:spcPts val="0"/>
              </a:spcBef>
              <a:spcAft>
                <a:spcPts val="0"/>
              </a:spcAft>
              <a:defRPr sz="1800" b="0">
                <a:solidFill>
                  <a:srgbClr val="22272D"/>
                </a:solidFill>
                <a:latin typeface="Arial"/>
              </a:defRPr>
            </a:pPr>
            <a:r>
              <a:t>•  Project ZIP</a:t>
            </a:r>
          </a:p>
          <a:p>
            <a:pPr>
              <a:lnSpc>
                <a:spcPct val="112000"/>
              </a:lnSpc>
              <a:spcBef>
                <a:spcPts val="0"/>
              </a:spcBef>
              <a:spcAft>
                <a:spcPts val="0"/>
              </a:spcAft>
              <a:defRPr sz="1800" b="0">
                <a:solidFill>
                  <a:srgbClr val="22272D"/>
                </a:solidFill>
                <a:latin typeface="Arial"/>
              </a:defRPr>
            </a:pPr>
            <a:r>
              <a:t>•  PowerPoint</a:t>
            </a:r>
          </a:p>
          <a:p>
            <a:pPr>
              <a:lnSpc>
                <a:spcPct val="112000"/>
              </a:lnSpc>
              <a:spcBef>
                <a:spcPts val="0"/>
              </a:spcBef>
              <a:spcAft>
                <a:spcPts val="0"/>
              </a:spcAft>
              <a:defRPr sz="1800" b="0">
                <a:solidFill>
                  <a:srgbClr val="22272D"/>
                </a:solidFill>
                <a:latin typeface="Arial"/>
              </a:defRPr>
            </a:pPr>
            <a:r>
              <a:t>•  Signed statement</a:t>
            </a:r>
          </a:p>
          <a:p>
            <a:pPr>
              <a:lnSpc>
                <a:spcPct val="112000"/>
              </a:lnSpc>
              <a:spcBef>
                <a:spcPts val="0"/>
              </a:spcBef>
              <a:spcAft>
                <a:spcPts val="0"/>
              </a:spcAft>
              <a:defRPr sz="1800" b="0">
                <a:solidFill>
                  <a:srgbClr val="22272D"/>
                </a:solidFill>
                <a:latin typeface="Arial"/>
              </a:defRPr>
            </a:pPr>
            <a:r>
              <a:t>•  Docs + evidence</a:t>
            </a:r>
          </a:p>
        </p:txBody>
      </p:sp>
    </p:spTree>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118</TotalTime>
  <Words>2681</Words>
  <Application>Microsoft Macintosh PowerPoint</Application>
  <PresentationFormat>Widescreen</PresentationFormat>
  <Paragraphs>316</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Will Davis</cp:lastModifiedBy>
  <cp:revision>2</cp:revision>
  <dcterms:created xsi:type="dcterms:W3CDTF">2013-01-27T09:14:16Z</dcterms:created>
  <dcterms:modified xsi:type="dcterms:W3CDTF">2026-11-01T01:37:15Z</dcterms:modified>
  <cp:category/>
</cp:coreProperties>
</file>